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60" r:id="rId2"/>
    <p:sldId id="261" r:id="rId8"/>
    <p:sldId id="262" r:id="rId9"/>
    <p:sldId id="263" r:id="rId10"/>
    <p:sldId id="264" r:id="rId1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58" d="100"/>
          <a:sy n="58" d="100"/>
        </p:scale>
        <p:origin x="1520" y="6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000">
                <a:solidFill>
                  <a:srgbClr val="4A4A4A"/>
                </a:solidFill>
              </a:rPr>
              <a:t>Score for every shelter (out of 100)</a:t>
            </a:r>
          </a:p>
        </c:rich>
      </c:tx>
      <c:layout/>
      <c:overlay val="0"/>
    </c:title>
    <c:autoTitleDeleted val="0"/>
    <c:plotArea>
      <c:barChart>
        <c:barDir val="bar"/>
        <c:grouping val="clustered"/>
        <c:ser>
          <c:idx val="0"/>
          <c:order val="0"/>
          <c:tx>
            <c:strRef>
              <c:f>Sheet1!$B$1</c:f>
              <c:strCache>
                <c:ptCount val="1"/>
                <c:pt idx="0">
                  <c:v>Score</c:v>
                </c:pt>
              </c:strCache>
            </c:strRef>
          </c:tx>
          <c:dPt>
            <c:idx val="0"/>
            <c:spPr>
              <a:solidFill>
                <a:srgbClr val="A6A6A6"/>
              </a:solidFill>
            </c:spPr>
          </c:dPt>
          <c:dPt>
            <c:idx val="1"/>
            <c:spPr>
              <a:solidFill>
                <a:srgbClr val="A6A6A6"/>
              </a:solidFill>
            </c:spPr>
          </c:dPt>
          <c:dPt>
            <c:idx val="2"/>
            <c:spPr>
              <a:solidFill>
                <a:srgbClr val="A6A6A6"/>
              </a:solidFill>
            </c:spPr>
          </c:dPt>
          <c:dPt>
            <c:idx val="3"/>
            <c:spPr>
              <a:solidFill>
                <a:srgbClr val="A6A6A6"/>
              </a:solidFill>
            </c:spPr>
          </c:dPt>
          <c:dPt>
            <c:idx val="4"/>
            <c:spPr>
              <a:solidFill>
                <a:srgbClr val="C00000"/>
              </a:solidFill>
            </c:spPr>
          </c:dPt>
          <c:cat>
            <c:strRef>
              <c:f>Sheet1!$A$2:$A$6</c:f>
              <c:strCache>
                <c:ptCount val="5"/>
                <c:pt idx="0">
                  <c:v>Prakash (Chembur)</c:v>
                </c:pt>
                <c:pt idx="1">
                  <c:v>Seva Sadan (Kurla)</c:v>
                </c:pt>
                <c:pt idx="2">
                  <c:v>Kripa (BKC)</c:v>
                </c:pt>
                <c:pt idx="3">
                  <c:v>Asha Deep (Bandra)</c:v>
                </c:pt>
                <c:pt idx="4">
                  <c:v>Sneh Sadan (Dadar)</c:v>
                </c:pt>
              </c:strCache>
            </c:strRef>
          </c:cat>
          <c:val>
            <c:numRef>
              <c:f>Sheet1!$B$2:$B$6</c:f>
              <c:numCache>
                <c:formatCode>General</c:formatCode>
                <c:ptCount val="5"/>
                <c:pt idx="0">
                  <c:v>0</c:v>
                </c:pt>
                <c:pt idx="1">
                  <c:v>50</c:v>
                </c:pt>
                <c:pt idx="2">
                  <c:v>51</c:v>
                </c:pt>
                <c:pt idx="3">
                  <c:v>60</c:v>
                </c:pt>
                <c:pt idx="4">
                  <c:v>77</c:v>
                </c:pt>
              </c:numCache>
            </c:numRef>
          </c:val>
        </c:ser>
        <c:dLbls>
          <c:numFmt formatCode="0" sourceLinked="0"/>
          <c:txPr>
            <a:bodyPr/>
            <a:lstStyle/>
            <a:p>
              <a:pPr>
                <a:defRPr sz="1000"/>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l"/>
        <c:majorTickMark val="out"/>
        <c:minorTickMark val="none"/>
        <c:tickLblPos val="nextTo"/>
        <c:spPr>
          <a:ln>
            <a:noFill/>
          </a:ln>
        </c:spPr>
        <c:txPr>
          <a:bodyPr/>
          <a:lstStyle/>
          <a:p>
            <a:pPr>
              <a:defRPr sz="1000"/>
            </a:pPr>
          </a:p>
        </c:txPr>
        <c:crossAx val="-2113994440"/>
        <c:crosses val="autoZero"/>
        <c:auto val="1"/>
        <c:lblAlgn val="ctr"/>
        <c:lblOffset val="100"/>
        <c:noMultiLvlLbl val="0"/>
      </c:catAx>
      <c:valAx>
        <c:axId val="-2113994440"/>
        <c:scaling>
          <c:max val="100.0"/>
          <c:min val="0.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12B5401-FB5E-4027-9C67-BD971DDE06A3}" type="datetimeFigureOut">
              <a:rPr lang="en-US" smtClean="0"/>
              <a:t>9/29/2026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03C7C11-B9CE-4EB9-BD73-BAAE86E750D6}" type="slidenum">
              <a:rPr lang="en-US" smtClean="0"/>
              <a:t>‹#›</a:t>
            </a:fld>
            <a:endParaRPr lang="en-US"/>
          </a:p>
        </p:txBody>
      </p:sp>
    </p:spTree>
    <p:extLst>
      <p:ext uri="{BB962C8B-B14F-4D97-AF65-F5344CB8AC3E}">
        <p14:creationId xmlns:p14="http://schemas.microsoft.com/office/powerpoint/2010/main" val="40545724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Our project is FoodLoop. Every night, restaurants, canteens and banquet halls in Mumbai end up with food that is still good, and shelters a few kilometres away need it. The problem is getting it there in time. FoodLoop lets a kitchen post its leftover food with a pickup deadline, and offers it to the shelter that can actually collect it before then. The shelter sends its own staff, so we don't need delivery riders.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typical evening without FoodLoop. Nobody is unwilling to help; the food just can't find the right people in time, and by 11:40 it goes in the bin. So we set four objectives. Offer food only to shelters that can reach it before the deadline. Send one ranked offer instead of messaging everyone. Let the shelter collect it with a handover code. And always show why a shelter was picked, so the score is never a black box.</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actors: the donor kitchen and the recipient shelter. Both register, and registering includes validating the form. When a donor posts food, the system finds the best shelter, which includes scoring and ranking shelters, which includes calculating distance and drive time. If a recipient passes, the offer is extended to the next shelter. There is no admin in this version; that comes when we add the backend.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how matching works. First we filter: a shelter that can't reach the kitchen in time, has no room, or doesn't take that kind of food is dropped. Then we score the rest out of 100. Time counts most, 35 percent, because cooked food doesn't wait. The best shelter gets the offer first, and if they pass it moves to the next one. On the right is a real result from our donor page: 40 veg meals with two hours to collect. Sneh Sadan scores 77 and is asked first. Prakash scores zero because it only has room for 25 meals. We also tested all six pages in a browser, and all 35 checks pass.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built six pages using only what we were taught: HTML, one CSS file and plain JavaScript. On the donor page you post food, and after two seconds a Promise returns the top three shelters; the countdown runs on setInterval and food that isn't collected is marked expired. On the recipient page, accepting an offer updates the room left and turns off offers that won't fit, and the Why? link shows the score factor by factor. The map is a Google Maps iframe; we change its src to show the route. Next, we'll add a Node.js, Express and MongoDB backend so the pages share real data.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85800" y="2130425"/>
            <a:ext cx="7772400" cy="1470025"/>
          </a:xfrm>
        </p:spPr>
        <p:txBody>
          <a:bodyPr/>
          <a:lstStyle>
            <a:lvl1pPr>
              <a:defRPr sz="4400"/>
            </a:lvl1pPr>
          </a:lstStyle>
          <a:p>
            <a:r>
              <a:rPr lang="en-US" sz="3200" dirty="0">
                <a:solidFill>
                  <a:srgbClr val="C00000"/>
                </a:solidFill>
                <a:latin typeface="Marcellus" panose="020E0602050203020307" pitchFamily="34" charset="0"/>
              </a:rPr>
              <a:t>Title in Marcellus Font Size 32 in Red</a:t>
            </a:r>
            <a:endParaRPr lang="en-US"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r>
              <a:rPr lang="en-US"/>
              <a:t>Dr. Rachana Desai</a:t>
            </a:r>
            <a:endParaRPr lang="en-US" dirty="0"/>
          </a:p>
        </p:txBody>
      </p:sp>
      <p:sp>
        <p:nvSpPr>
          <p:cNvPr id="5" name="Footer Placeholder 4"/>
          <p:cNvSpPr>
            <a:spLocks noGrp="1"/>
          </p:cNvSpPr>
          <p:nvPr>
            <p:ph type="ftr" sz="quarter" idx="11"/>
          </p:nvPr>
        </p:nvSpPr>
        <p:spPr/>
        <p:txBody>
          <a:bodyPr/>
          <a:lstStyle/>
          <a:p>
            <a:r>
              <a:rPr lang="en-US"/>
              <a:t>AM-I   Module 3</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762000"/>
            <a:ext cx="8229600" cy="655638"/>
          </a:xfrm>
        </p:spPr>
        <p:txBody>
          <a:bodyPr/>
          <a:lstStyle>
            <a:lvl1pPr>
              <a:defRPr sz="4400">
                <a:solidFill>
                  <a:srgbClr val="FF0000"/>
                </a:solidFill>
              </a:defRPr>
            </a:lvl1pPr>
          </a:lstStyle>
          <a:p>
            <a:r>
              <a:rPr lang="en-US" sz="3200" dirty="0">
                <a:solidFill>
                  <a:srgbClr val="C00000"/>
                </a:solidFill>
                <a:latin typeface="Marcellus" panose="020E0602050203020307" pitchFamily="34" charset="0"/>
              </a:rPr>
              <a:t>Title in Marcellus Font Size 32 in Red</a:t>
            </a:r>
            <a:endParaRPr lang="en-US" dirty="0"/>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a:defRPr/>
            </a:lvl1pPr>
          </a:lstStyle>
          <a:p>
            <a:r>
              <a:rPr lang="en-US"/>
              <a:t>Dr. Rachana Desai</a:t>
            </a:r>
            <a:endParaRPr lang="en-US" dirty="0"/>
          </a:p>
        </p:txBody>
      </p:sp>
      <p:sp>
        <p:nvSpPr>
          <p:cNvPr id="5" name="Footer Placeholder 4"/>
          <p:cNvSpPr>
            <a:spLocks noGrp="1"/>
          </p:cNvSpPr>
          <p:nvPr>
            <p:ph type="ftr" sz="quarter" idx="11"/>
          </p:nvPr>
        </p:nvSpPr>
        <p:spPr/>
        <p:txBody>
          <a:bodyPr/>
          <a:lstStyle/>
          <a:p>
            <a:r>
              <a:rPr lang="en-US" dirty="0"/>
              <a:t>AM-I   Module 3</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tmplLst>
          <p:tmpl lvl="1">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2">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3">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4">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5">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Lst>
      </p:bldP>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2313" y="4406900"/>
            <a:ext cx="7772400" cy="1362075"/>
          </a:xfrm>
        </p:spPr>
        <p:txBody>
          <a:bodyPr anchor="t">
            <a:normAutofit/>
          </a:bodyPr>
          <a:lstStyle>
            <a:lvl1pPr algn="l">
              <a:defRPr sz="4000" b="1" cap="all"/>
            </a:lvl1pPr>
          </a:lstStyle>
          <a:p>
            <a:r>
              <a:rPr lang="en-US" sz="3200" dirty="0">
                <a:solidFill>
                  <a:srgbClr val="C00000"/>
                </a:solidFill>
                <a:latin typeface="Marcellus" panose="020E0602050203020307" pitchFamily="34" charset="0"/>
              </a:rPr>
              <a:t>Title in Marcellus Font Size 32 in Red</a:t>
            </a:r>
            <a:endParaRPr lang="en-US" dirty="0"/>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r>
              <a:rPr lang="en-US"/>
              <a:t>Dr. Rachana Desai</a:t>
            </a:r>
            <a:endParaRPr lang="en-US" dirty="0"/>
          </a:p>
        </p:txBody>
      </p:sp>
      <p:sp>
        <p:nvSpPr>
          <p:cNvPr id="5" name="Footer Placeholder 4"/>
          <p:cNvSpPr>
            <a:spLocks noGrp="1"/>
          </p:cNvSpPr>
          <p:nvPr>
            <p:ph type="ftr" sz="quarter" idx="11"/>
          </p:nvPr>
        </p:nvSpPr>
        <p:spPr/>
        <p:txBody>
          <a:bodyPr/>
          <a:lstStyle/>
          <a:p>
            <a:r>
              <a:rPr lang="en-US"/>
              <a:t>AM-I   Module 3</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sz="4400"/>
            </a:lvl1pPr>
          </a:lstStyle>
          <a:p>
            <a:r>
              <a:rPr lang="en-US" sz="3200" dirty="0">
                <a:solidFill>
                  <a:srgbClr val="C00000"/>
                </a:solidFill>
                <a:latin typeface="Marcellus" panose="020E0602050203020307" pitchFamily="34" charset="0"/>
              </a:rPr>
              <a:t>Title in Marcellus Font Size 32 in Red</a:t>
            </a:r>
            <a:endParaRPr lang="en-US" dirty="0"/>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r>
              <a:rPr lang="en-US"/>
              <a:t>Dr. Rachana Desai</a:t>
            </a:r>
            <a:endParaRPr lang="en-US" dirty="0"/>
          </a:p>
        </p:txBody>
      </p:sp>
      <p:sp>
        <p:nvSpPr>
          <p:cNvPr id="6" name="Footer Placeholder 5"/>
          <p:cNvSpPr>
            <a:spLocks noGrp="1"/>
          </p:cNvSpPr>
          <p:nvPr>
            <p:ph type="ftr" sz="quarter" idx="11"/>
          </p:nvPr>
        </p:nvSpPr>
        <p:spPr/>
        <p:txBody>
          <a:bodyPr/>
          <a:lstStyle/>
          <a:p>
            <a:r>
              <a:rPr lang="en-US"/>
              <a:t>AM-I   Module 3</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sz="4400"/>
            </a:lvl1pPr>
          </a:lstStyle>
          <a:p>
            <a:r>
              <a:rPr lang="en-US" sz="3200" dirty="0">
                <a:solidFill>
                  <a:srgbClr val="C00000"/>
                </a:solidFill>
                <a:latin typeface="Marcellus" panose="020E0602050203020307" pitchFamily="34" charset="0"/>
              </a:rPr>
              <a:t>Title in Marcellus Font Size 32 in Red</a:t>
            </a:r>
            <a:endParaRPr lang="en-US" dirty="0"/>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r>
              <a:rPr lang="en-US"/>
              <a:t>Dr. Rachana Desai</a:t>
            </a:r>
            <a:endParaRPr lang="en-US" dirty="0"/>
          </a:p>
        </p:txBody>
      </p:sp>
      <p:sp>
        <p:nvSpPr>
          <p:cNvPr id="8" name="Footer Placeholder 7"/>
          <p:cNvSpPr>
            <a:spLocks noGrp="1"/>
          </p:cNvSpPr>
          <p:nvPr>
            <p:ph type="ftr" sz="quarter" idx="11"/>
          </p:nvPr>
        </p:nvSpPr>
        <p:spPr/>
        <p:txBody>
          <a:bodyPr/>
          <a:lstStyle/>
          <a:p>
            <a:r>
              <a:rPr lang="en-US"/>
              <a:t>AM-I   Module 3</a:t>
            </a:r>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sz="4400"/>
            </a:lvl1pPr>
          </a:lstStyle>
          <a:p>
            <a:r>
              <a:rPr lang="en-US" sz="3200" dirty="0">
                <a:solidFill>
                  <a:srgbClr val="C00000"/>
                </a:solidFill>
                <a:latin typeface="Marcellus" panose="020E0602050203020307" pitchFamily="34" charset="0"/>
              </a:rPr>
              <a:t>Title in Marcellus Font Size 32 in Red</a:t>
            </a:r>
            <a:endParaRPr lang="en-US" dirty="0"/>
          </a:p>
        </p:txBody>
      </p:sp>
      <p:sp>
        <p:nvSpPr>
          <p:cNvPr id="3" name="Date Placeholder 2"/>
          <p:cNvSpPr>
            <a:spLocks noGrp="1"/>
          </p:cNvSpPr>
          <p:nvPr>
            <p:ph type="dt" sz="half" idx="10"/>
          </p:nvPr>
        </p:nvSpPr>
        <p:spPr/>
        <p:txBody>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r>
              <a:rPr lang="en-US"/>
              <a:t>Dr. Rachana Desai</a:t>
            </a:r>
            <a:endParaRPr lang="en-US" dirty="0"/>
          </a:p>
        </p:txBody>
      </p:sp>
      <p:sp>
        <p:nvSpPr>
          <p:cNvPr id="4" name="Footer Placeholder 3"/>
          <p:cNvSpPr>
            <a:spLocks noGrp="1"/>
          </p:cNvSpPr>
          <p:nvPr>
            <p:ph type="ftr" sz="quarter" idx="11"/>
          </p:nvPr>
        </p:nvSpPr>
        <p:spPr/>
        <p:txBody>
          <a:bodyPr/>
          <a:lstStyle/>
          <a:p>
            <a:r>
              <a:rPr lang="en-US"/>
              <a:t>AM-I   Module 3</a:t>
            </a:r>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r>
              <a:rPr lang="en-US"/>
              <a:t>Dr. Rachana Desai</a:t>
            </a:r>
            <a:endParaRPr lang="en-US" dirty="0"/>
          </a:p>
        </p:txBody>
      </p:sp>
      <p:sp>
        <p:nvSpPr>
          <p:cNvPr id="3" name="Footer Placeholder 2"/>
          <p:cNvSpPr>
            <a:spLocks noGrp="1"/>
          </p:cNvSpPr>
          <p:nvPr>
            <p:ph type="ftr" sz="quarter" idx="11"/>
          </p:nvPr>
        </p:nvSpPr>
        <p:spPr/>
        <p:txBody>
          <a:bodyPr/>
          <a:lstStyle/>
          <a:p>
            <a:r>
              <a:rPr lang="en-US"/>
              <a:t>AM-I   Module 3</a:t>
            </a:r>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dirty="0"/>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r>
              <a:rPr lang="en-US"/>
              <a:t>Dr. Rachana Desai</a:t>
            </a:r>
            <a:endParaRPr lang="en-US" dirty="0"/>
          </a:p>
        </p:txBody>
      </p:sp>
      <p:sp>
        <p:nvSpPr>
          <p:cNvPr id="6" name="Footer Placeholder 5"/>
          <p:cNvSpPr>
            <a:spLocks noGrp="1"/>
          </p:cNvSpPr>
          <p:nvPr>
            <p:ph type="ftr" sz="quarter" idx="11"/>
          </p:nvPr>
        </p:nvSpPr>
        <p:spPr/>
        <p:txBody>
          <a:bodyPr/>
          <a:lstStyle/>
          <a:p>
            <a:r>
              <a:rPr lang="en-US"/>
              <a:t>AM-I   Module 3</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r>
              <a:rPr lang="en-US"/>
              <a:t>Dr. Rachana Desai</a:t>
            </a:r>
            <a:endParaRPr lang="en-US" dirty="0"/>
          </a:p>
        </p:txBody>
      </p:sp>
      <p:sp>
        <p:nvSpPr>
          <p:cNvPr id="6" name="Footer Placeholder 5"/>
          <p:cNvSpPr>
            <a:spLocks noGrp="1"/>
          </p:cNvSpPr>
          <p:nvPr>
            <p:ph type="ftr" sz="quarter" idx="11"/>
          </p:nvPr>
        </p:nvSpPr>
        <p:spPr/>
        <p:txBody>
          <a:bodyPr/>
          <a:lstStyle/>
          <a:p>
            <a:r>
              <a:rPr lang="en-US"/>
              <a:t>AM-I   Module 3</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sz="4400"/>
            </a:lvl1pPr>
          </a:lstStyle>
          <a:p>
            <a:r>
              <a:rPr lang="en-US" sz="3200" dirty="0">
                <a:solidFill>
                  <a:srgbClr val="C00000"/>
                </a:solidFill>
                <a:latin typeface="Marcellus" panose="020E0602050203020307" pitchFamily="34" charset="0"/>
              </a:rPr>
              <a:t>Title in Marcellus Font Size 32 in Red</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r>
              <a:rPr lang="en-US"/>
              <a:t>Dr. Rachana Desai</a:t>
            </a:r>
            <a:endParaRPr lang="en-US" dirty="0"/>
          </a:p>
        </p:txBody>
      </p:sp>
      <p:sp>
        <p:nvSpPr>
          <p:cNvPr id="5" name="Footer Placeholder 4"/>
          <p:cNvSpPr>
            <a:spLocks noGrp="1"/>
          </p:cNvSpPr>
          <p:nvPr>
            <p:ph type="ftr" sz="quarter" idx="11"/>
          </p:nvPr>
        </p:nvSpPr>
        <p:spPr/>
        <p:txBody>
          <a:bodyPr/>
          <a:lstStyle/>
          <a:p>
            <a:r>
              <a:rPr lang="en-US"/>
              <a:t>AM-I   Module 3</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hasCustomPrompt="1"/>
          </p:nvPr>
        </p:nvSpPr>
        <p:spPr>
          <a:xfrm>
            <a:off x="6629400" y="274638"/>
            <a:ext cx="2057400" cy="5851525"/>
          </a:xfrm>
        </p:spPr>
        <p:txBody>
          <a:bodyPr vert="eaVert"/>
          <a:lstStyle>
            <a:lvl1pPr>
              <a:defRPr sz="4400"/>
            </a:lvl1pPr>
          </a:lstStyle>
          <a:p>
            <a:r>
              <a:rPr lang="en-US" sz="3200" dirty="0">
                <a:solidFill>
                  <a:srgbClr val="C00000"/>
                </a:solidFill>
                <a:latin typeface="Marcellus" panose="020E0602050203020307" pitchFamily="34" charset="0"/>
              </a:rPr>
              <a:t>Title in Marcellus Font Size 32 in Red</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r>
              <a:rPr lang="en-US"/>
              <a:t>Dr. Rachana Desai</a:t>
            </a:r>
            <a:endParaRPr lang="en-US" dirty="0"/>
          </a:p>
        </p:txBody>
      </p:sp>
      <p:sp>
        <p:nvSpPr>
          <p:cNvPr id="5" name="Footer Placeholder 4"/>
          <p:cNvSpPr>
            <a:spLocks noGrp="1"/>
          </p:cNvSpPr>
          <p:nvPr>
            <p:ph type="ftr" sz="quarter" idx="11"/>
          </p:nvPr>
        </p:nvSpPr>
        <p:spPr/>
        <p:txBody>
          <a:bodyPr/>
          <a:lstStyle/>
          <a:p>
            <a:r>
              <a:rPr lang="en-US"/>
              <a:t>AM-I   Module 3</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Dr. Rachana Desai</a:t>
            </a: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AM-I   Module 3</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pic>
        <p:nvPicPr>
          <p:cNvPr id="9" name="Picture 8">
            <a:extLst>
              <a:ext uri="{FF2B5EF4-FFF2-40B4-BE49-F238E27FC236}">
                <a16:creationId xmlns:a16="http://schemas.microsoft.com/office/drawing/2014/main" id="{1547C2F5-D0C4-4329-8DC2-48B66EE4F515}"/>
              </a:ext>
            </a:extLst>
          </p:cNvPr>
          <p:cNvPicPr>
            <a:picLocks noChangeAspect="1"/>
          </p:cNvPicPr>
          <p:nvPr userDrawn="1"/>
        </p:nvPicPr>
        <p:blipFill>
          <a:blip r:embed="rId13"/>
          <a:stretch>
            <a:fillRect/>
          </a:stretch>
        </p:blipFill>
        <p:spPr>
          <a:xfrm rot="5400000">
            <a:off x="4198458" y="1933318"/>
            <a:ext cx="702416" cy="9188666"/>
          </a:xfrm>
          <a:prstGeom prst="rect">
            <a:avLst/>
          </a:prstGeom>
        </p:spPr>
      </p:pic>
      <p:pic>
        <p:nvPicPr>
          <p:cNvPr id="10" name="Picture 9">
            <a:extLst>
              <a:ext uri="{FF2B5EF4-FFF2-40B4-BE49-F238E27FC236}">
                <a16:creationId xmlns:a16="http://schemas.microsoft.com/office/drawing/2014/main" id="{B15A553C-6E56-4E14-9B40-3D70033DB61F}"/>
              </a:ext>
            </a:extLst>
          </p:cNvPr>
          <p:cNvPicPr>
            <a:picLocks noChangeAspect="1"/>
          </p:cNvPicPr>
          <p:nvPr userDrawn="1"/>
        </p:nvPicPr>
        <p:blipFill>
          <a:blip r:embed="rId14"/>
          <a:stretch>
            <a:fillRect/>
          </a:stretch>
        </p:blipFill>
        <p:spPr>
          <a:xfrm rot="5400000">
            <a:off x="5533989" y="2568564"/>
            <a:ext cx="207492" cy="7008270"/>
          </a:xfrm>
          <a:prstGeom prst="rect">
            <a:avLst/>
          </a:prstGeom>
        </p:spPr>
      </p:pic>
      <p:sp>
        <p:nvSpPr>
          <p:cNvPr id="2" name="Title Placeholder 1"/>
          <p:cNvSpPr>
            <a:spLocks noGrp="1"/>
          </p:cNvSpPr>
          <p:nvPr>
            <p:ph type="title"/>
          </p:nvPr>
        </p:nvSpPr>
        <p:spPr>
          <a:xfrm>
            <a:off x="457200" y="721920"/>
            <a:ext cx="8229600" cy="695718"/>
          </a:xfrm>
          <a:prstGeom prst="rect">
            <a:avLst/>
          </a:prstGeom>
        </p:spPr>
        <p:txBody>
          <a:bodyPr vert="horz" lIns="91440" tIns="45720" rIns="91440" bIns="45720" rtlCol="0" anchor="ctr">
            <a:normAutofit/>
          </a:bodyPr>
          <a:lstStyle/>
          <a:p>
            <a:r>
              <a:rPr lang="en-US" sz="3200" dirty="0">
                <a:solidFill>
                  <a:srgbClr val="C00000"/>
                </a:solidFill>
                <a:latin typeface="Marcellus" panose="020E0602050203020307" pitchFamily="34" charset="0"/>
              </a:rPr>
              <a:t>Title in Marcellus Font Size 32 in Red</a:t>
            </a:r>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rgbClr val="C00000"/>
          </a:solidFill>
          <a:latin typeface="+mj-lt"/>
          <a:ea typeface="+mj-ea"/>
          <a:cs typeface="+mj-cs"/>
        </a:defRPr>
      </a:lvl1pPr>
    </p:titleStyle>
    <p:bodyStyle>
      <a:lvl1pPr marL="342900" indent="-342900" algn="l" defTabSz="914400" rtl="0" eaLnBrk="1" latinLnBrk="0" hangingPunct="1">
        <a:spcBef>
          <a:spcPct val="20000"/>
        </a:spcBef>
        <a:buFont typeface="Wingdings" pitchFamily="2" charset="2"/>
        <a:buChar char="v"/>
        <a:defRPr sz="2800" kern="1200">
          <a:solidFill>
            <a:schemeClr val="tx1"/>
          </a:solidFill>
          <a:latin typeface="+mn-lt"/>
          <a:ea typeface="+mn-ea"/>
          <a:cs typeface="+mn-cs"/>
        </a:defRPr>
      </a:lvl1pPr>
      <a:lvl2pPr marL="742950" indent="-285750" algn="l" defTabSz="914400" rtl="0" eaLnBrk="1" latinLnBrk="0" hangingPunct="1">
        <a:spcBef>
          <a:spcPct val="20000"/>
        </a:spcBef>
        <a:buFont typeface="Wingdings" pitchFamily="2" charset="2"/>
        <a:buChar char="Ø"/>
        <a:defRPr sz="26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jpeg"/><Relationship Id="rId5" Type="http://schemas.openxmlformats.org/officeDocument/2006/relationships/image" Target="../media/image6.jpg"/><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jpeg"/><Relationship Id="rId5" Type="http://schemas.openxmlformats.org/officeDocument/2006/relationships/image" Target="../media/image7.jpg"/><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jpeg"/><Relationship Id="rId5" Type="http://schemas.openxmlformats.org/officeDocument/2006/relationships/image" Target="../media/image8.png"/><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jpeg"/><Relationship Id="rId5" Type="http://schemas.openxmlformats.org/officeDocument/2006/relationships/chart" Target="../charts/char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jpeg"/><Relationship Id="rId5" Type="http://schemas.openxmlformats.org/officeDocument/2006/relationships/image" Target="../media/image9.jpg"/><Relationship Id="rId6" Type="http://schemas.openxmlformats.org/officeDocument/2006/relationships/image" Target="../media/image10.jpg"/><Relationship Id="rId7" Type="http://schemas.openxmlformats.org/officeDocument/2006/relationships/image" Target="../media/image11.jpg"/><Relationship Id="rId8"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endParaRPr lang="en-US" dirty="0"/>
          </a:p>
        </p:txBody>
      </p:sp>
      <p:sp>
        <p:nvSpPr>
          <p:cNvPr id="5" name="Date Placeholder 4"/>
          <p:cNvSpPr>
            <a:spLocks noGrp="1"/>
          </p:cNvSpPr>
          <p:nvPr>
            <p:ph type="dt" sz="half" idx="10"/>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a:t>
            </a:fld>
            <a:endParaRPr lang="en-US" dirty="0"/>
          </a:p>
        </p:txBody>
      </p:sp>
      <p:sp>
        <p:nvSpPr>
          <p:cNvPr id="15" name="Title 1">
            <a:extLst>
              <a:ext uri="{FF2B5EF4-FFF2-40B4-BE49-F238E27FC236}">
                <a16:creationId xmlns:a16="http://schemas.microsoft.com/office/drawing/2014/main" id="{FC0AE158-2DA7-42D2-AAC5-BE89365BA6FF}"/>
              </a:ext>
            </a:extLst>
          </p:cNvPr>
          <p:cNvSpPr txBox="1">
            <a:spLocks/>
          </p:cNvSpPr>
          <p:nvPr/>
        </p:nvSpPr>
        <p:spPr>
          <a:xfrm>
            <a:off x="2743200" y="109728"/>
            <a:ext cx="5486400" cy="566928"/>
          </a:xfrm>
          <a:prstGeom prst="rect">
            <a:avLst/>
          </a:prstGeom>
        </p:spPr>
        <p:txBody>
          <a:bodyPr vert="horz" lIns="91440" tIns="45720" rIns="91440" bIns="45720" rtlCol="0" anchor="ctr">
            <a:noAutofit/>
          </a:bodyPr>
          <a:lstStyle>
            <a:lvl1pPr algn="l" defTabSz="1280160" rtl="0" eaLnBrk="1" latinLnBrk="0" hangingPunct="1">
              <a:lnSpc>
                <a:spcPct val="90000"/>
              </a:lnSpc>
              <a:spcBef>
                <a:spcPct val="0"/>
              </a:spcBef>
              <a:buNone/>
              <a:defRPr sz="5880" b="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algn="ctr">
              <a:spcBef>
                <a:spcPts val="0"/>
              </a:spcBef>
            </a:pPr>
            <a:r>
              <a:rPr sz="2800" b="1">
                <a:solidFill>
                  <a:srgbClr val="C00000"/>
                </a:solidFill>
                <a:latin typeface="Calibri"/>
              </a:rPr>
              <a:t>FoodLoop</a:t>
            </a:r>
            <a:endParaRPr lang="en-US" sz="1050" dirty="0"/>
          </a:p>
        </p:txBody>
      </p:sp>
      <p:pic>
        <p:nvPicPr>
          <p:cNvPr id="18"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05800" y="0"/>
            <a:ext cx="838200" cy="624765"/>
          </a:xfrm>
          <a:prstGeom prst="rect">
            <a:avLst/>
          </a:prstGeom>
        </p:spPr>
      </p:pic>
      <p:pic>
        <p:nvPicPr>
          <p:cNvPr id="19" name="Picture 18" descr="A picture containing drawing&#10;&#10;Description automatically generated">
            <a:extLst>
              <a:ext uri="{FF2B5EF4-FFF2-40B4-BE49-F238E27FC236}">
                <a16:creationId xmlns:a16="http://schemas.microsoft.com/office/drawing/2014/main" id="{C9DDECDA-AC01-47B8-B70B-458DA247878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2667000" cy="666750"/>
          </a:xfrm>
          <a:prstGeom prst="rect">
            <a:avLst/>
          </a:prstGeom>
        </p:spPr>
      </p:pic>
      <p:sp>
        <p:nvSpPr>
          <p:cNvPr id="2" name="Rectangle 1"/>
          <p:cNvSpPr/>
          <p:nvPr/>
        </p:nvSpPr>
        <p:spPr>
          <a:xfrm>
            <a:off x="685800" y="481663"/>
            <a:ext cx="1828800" cy="12793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0" name="Picture 19" descr="packing.jpg"/>
          <p:cNvPicPr>
            <a:picLocks noChangeAspect="1"/>
          </p:cNvPicPr>
          <p:nvPr/>
        </p:nvPicPr>
        <p:blipFill>
          <a:blip r:embed="rId5"/>
          <a:stretch>
            <a:fillRect/>
          </a:stretch>
        </p:blipFill>
        <p:spPr>
          <a:xfrm>
            <a:off x="5094743" y="914400"/>
            <a:ext cx="3683496" cy="4572000"/>
          </a:xfrm>
          <a:prstGeom prst="rect">
            <a:avLst/>
          </a:prstGeom>
        </p:spPr>
      </p:pic>
      <p:sp>
        <p:nvSpPr>
          <p:cNvPr id="21" name="TextBox 20"/>
          <p:cNvSpPr txBox="1"/>
          <p:nvPr/>
        </p:nvSpPr>
        <p:spPr>
          <a:xfrm>
            <a:off x="457200" y="1143000"/>
            <a:ext cx="4389120" cy="228600"/>
          </a:xfrm>
          <a:prstGeom prst="rect">
            <a:avLst/>
          </a:prstGeom>
          <a:noFill/>
        </p:spPr>
        <p:txBody>
          <a:bodyPr wrap="square" lIns="0" rIns="0" tIns="0" bIns="0" anchor="t">
            <a:spAutoFit/>
          </a:bodyPr>
          <a:lstStyle/>
          <a:p>
            <a:pPr algn="l"/>
            <a:r>
              <a:rPr sz="1000" b="1" i="0">
                <a:solidFill>
                  <a:srgbClr val="B7202E"/>
                </a:solidFill>
                <a:latin typeface="Calibri"/>
              </a:rPr>
              <a:t>FULL STACK DEVELOPMENT LAB · MINI PROJECT</a:t>
            </a:r>
          </a:p>
        </p:txBody>
      </p:sp>
      <p:sp>
        <p:nvSpPr>
          <p:cNvPr id="22" name="TextBox 21"/>
          <p:cNvSpPr txBox="1"/>
          <p:nvPr/>
        </p:nvSpPr>
        <p:spPr>
          <a:xfrm>
            <a:off x="457200" y="1463040"/>
            <a:ext cx="4389120" cy="1737360"/>
          </a:xfrm>
          <a:prstGeom prst="rect">
            <a:avLst/>
          </a:prstGeom>
          <a:noFill/>
        </p:spPr>
        <p:txBody>
          <a:bodyPr wrap="square" lIns="0" rIns="0" tIns="0" bIns="0" anchor="t">
            <a:spAutoFit/>
          </a:bodyPr>
          <a:lstStyle/>
          <a:p>
            <a:pPr algn="l"/>
            <a:r>
              <a:rPr sz="3000" b="1" i="0">
                <a:solidFill>
                  <a:srgbClr val="1F1F1F"/>
                </a:solidFill>
                <a:latin typeface="Calibri"/>
              </a:rPr>
              <a:t>Surplus food, matched </a:t>
            </a:r>
            <a:r>
              <a:rPr sz="3000" b="1" i="1">
                <a:solidFill>
                  <a:srgbClr val="C00000"/>
                </a:solidFill>
                <a:latin typeface="Calibri"/>
              </a:rPr>
              <a:t>before the clock runs out.</a:t>
            </a:r>
          </a:p>
        </p:txBody>
      </p:sp>
      <p:sp>
        <p:nvSpPr>
          <p:cNvPr id="23" name="TextBox 22"/>
          <p:cNvSpPr txBox="1"/>
          <p:nvPr/>
        </p:nvSpPr>
        <p:spPr>
          <a:xfrm>
            <a:off x="457200" y="3154680"/>
            <a:ext cx="4297680" cy="1005840"/>
          </a:xfrm>
          <a:prstGeom prst="rect">
            <a:avLst/>
          </a:prstGeom>
          <a:noFill/>
        </p:spPr>
        <p:txBody>
          <a:bodyPr wrap="square" lIns="0" rIns="0" tIns="0" bIns="0" anchor="t">
            <a:spAutoFit/>
          </a:bodyPr>
          <a:lstStyle/>
          <a:p>
            <a:pPr algn="l"/>
            <a:r>
              <a:rPr sz="1300" b="0" i="0">
                <a:solidFill>
                  <a:srgbClr val="4A4A4A"/>
                </a:solidFill>
                <a:latin typeface="Calibri"/>
              </a:rPr>
              <a:t>Every night, Mumbai's kitchens throw out good food while shelters a few kilometres away go short. FoodLoop offers that food to the nearby shelter that can collect it before its deadline.</a:t>
            </a:r>
          </a:p>
        </p:txBody>
      </p:sp>
      <p:sp>
        <p:nvSpPr>
          <p:cNvPr id="24" name="Rectangle 23"/>
          <p:cNvSpPr/>
          <p:nvPr/>
        </p:nvSpPr>
        <p:spPr>
          <a:xfrm>
            <a:off x="457200" y="4315968"/>
            <a:ext cx="4297680" cy="1828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4480560"/>
            <a:ext cx="5486400" cy="228600"/>
          </a:xfrm>
          <a:prstGeom prst="rect">
            <a:avLst/>
          </a:prstGeom>
          <a:noFill/>
        </p:spPr>
        <p:txBody>
          <a:bodyPr wrap="square" lIns="0" rIns="0" tIns="0" bIns="0" anchor="t">
            <a:spAutoFit/>
          </a:bodyPr>
          <a:lstStyle/>
          <a:p>
            <a:pPr algn="l"/>
            <a:r>
              <a:rPr sz="1000" b="1" i="0">
                <a:solidFill>
                  <a:srgbClr val="7A7A7A"/>
                </a:solidFill>
                <a:latin typeface="Calibri"/>
              </a:rPr>
              <a:t>PRESENTED BY</a:t>
            </a:r>
          </a:p>
        </p:txBody>
      </p:sp>
      <p:sp>
        <p:nvSpPr>
          <p:cNvPr id="26" name="TextBox 25"/>
          <p:cNvSpPr txBox="1"/>
          <p:nvPr/>
        </p:nvSpPr>
        <p:spPr>
          <a:xfrm>
            <a:off x="457200" y="4754880"/>
            <a:ext cx="2103120" cy="640080"/>
          </a:xfrm>
          <a:prstGeom prst="rect">
            <a:avLst/>
          </a:prstGeom>
          <a:noFill/>
        </p:spPr>
        <p:txBody>
          <a:bodyPr wrap="square" lIns="0" rIns="0" tIns="0" bIns="0" anchor="t">
            <a:spAutoFit/>
          </a:bodyPr>
          <a:lstStyle/>
          <a:p>
            <a:pPr algn="l"/>
            <a:r>
              <a:rPr sz="1600" b="1" i="0">
                <a:solidFill>
                  <a:srgbClr val="1F1F1F"/>
                </a:solidFill>
                <a:latin typeface="Calibri"/>
              </a:rPr>
              <a:t>Rohan Surana</a:t>
            </a:r>
          </a:p>
          <a:p>
            <a:pPr algn="l"/>
            <a:r>
              <a:rPr sz="1200" b="0" i="0">
                <a:solidFill>
                  <a:srgbClr val="7A7A7A"/>
                </a:solidFill>
                <a:latin typeface="Calibri"/>
              </a:rPr>
              <a:t>16015024073</a:t>
            </a:r>
          </a:p>
        </p:txBody>
      </p:sp>
      <p:sp>
        <p:nvSpPr>
          <p:cNvPr id="27" name="TextBox 26"/>
          <p:cNvSpPr txBox="1"/>
          <p:nvPr/>
        </p:nvSpPr>
        <p:spPr>
          <a:xfrm>
            <a:off x="2606040" y="4754880"/>
            <a:ext cx="2103120" cy="640080"/>
          </a:xfrm>
          <a:prstGeom prst="rect">
            <a:avLst/>
          </a:prstGeom>
          <a:noFill/>
        </p:spPr>
        <p:txBody>
          <a:bodyPr wrap="square" lIns="0" rIns="0" tIns="0" bIns="0" anchor="t">
            <a:spAutoFit/>
          </a:bodyPr>
          <a:lstStyle/>
          <a:p>
            <a:pPr algn="l"/>
            <a:r>
              <a:rPr sz="1600" b="1" i="0">
                <a:solidFill>
                  <a:srgbClr val="1F1F1F"/>
                </a:solidFill>
                <a:latin typeface="Calibri"/>
              </a:rPr>
              <a:t>Ayman Shaikh</a:t>
            </a:r>
          </a:p>
          <a:p>
            <a:pPr algn="l"/>
            <a:r>
              <a:rPr sz="1200" b="0" i="0">
                <a:solidFill>
                  <a:srgbClr val="7A7A7A"/>
                </a:solidFill>
                <a:latin typeface="Calibri"/>
              </a:rPr>
              <a:t>16015024070</a:t>
            </a:r>
          </a:p>
        </p:txBody>
      </p:sp>
      <p:sp>
        <p:nvSpPr>
          <p:cNvPr id="28" name="TextBox 27"/>
          <p:cNvSpPr txBox="1"/>
          <p:nvPr/>
        </p:nvSpPr>
        <p:spPr>
          <a:xfrm>
            <a:off x="457200" y="5440680"/>
            <a:ext cx="1417320" cy="502920"/>
          </a:xfrm>
          <a:prstGeom prst="rect">
            <a:avLst/>
          </a:prstGeom>
          <a:noFill/>
        </p:spPr>
        <p:txBody>
          <a:bodyPr wrap="square" lIns="0" rIns="0" tIns="0" bIns="0" anchor="t">
            <a:spAutoFit/>
          </a:bodyPr>
          <a:lstStyle/>
          <a:p>
            <a:pPr algn="l"/>
            <a:r>
              <a:rPr sz="1800" b="1" i="0">
                <a:solidFill>
                  <a:srgbClr val="C00000"/>
                </a:solidFill>
                <a:latin typeface="Calibri"/>
              </a:rPr>
              <a:t>6</a:t>
            </a:r>
          </a:p>
          <a:p>
            <a:pPr algn="l"/>
            <a:r>
              <a:rPr sz="1000" b="0" i="0">
                <a:solidFill>
                  <a:srgbClr val="7A7A7A"/>
                </a:solidFill>
                <a:latin typeface="Calibri"/>
              </a:rPr>
              <a:t>pages built</a:t>
            </a:r>
          </a:p>
        </p:txBody>
      </p:sp>
      <p:sp>
        <p:nvSpPr>
          <p:cNvPr id="29" name="TextBox 28"/>
          <p:cNvSpPr txBox="1"/>
          <p:nvPr/>
        </p:nvSpPr>
        <p:spPr>
          <a:xfrm>
            <a:off x="1920240" y="5440680"/>
            <a:ext cx="1417320" cy="502920"/>
          </a:xfrm>
          <a:prstGeom prst="rect">
            <a:avLst/>
          </a:prstGeom>
          <a:noFill/>
        </p:spPr>
        <p:txBody>
          <a:bodyPr wrap="square" lIns="0" rIns="0" tIns="0" bIns="0" anchor="t">
            <a:spAutoFit/>
          </a:bodyPr>
          <a:lstStyle/>
          <a:p>
            <a:pPr algn="l"/>
            <a:r>
              <a:rPr sz="1800" b="1" i="0">
                <a:solidFill>
                  <a:srgbClr val="C00000"/>
                </a:solidFill>
                <a:latin typeface="Calibri"/>
              </a:rPr>
              <a:t>5</a:t>
            </a:r>
          </a:p>
          <a:p>
            <a:pPr algn="l"/>
            <a:r>
              <a:rPr sz="1000" b="0" i="0">
                <a:solidFill>
                  <a:srgbClr val="7A7A7A"/>
                </a:solidFill>
                <a:latin typeface="Calibri"/>
              </a:rPr>
              <a:t>factors in the score</a:t>
            </a:r>
          </a:p>
        </p:txBody>
      </p:sp>
      <p:sp>
        <p:nvSpPr>
          <p:cNvPr id="30" name="TextBox 29"/>
          <p:cNvSpPr txBox="1"/>
          <p:nvPr/>
        </p:nvSpPr>
        <p:spPr>
          <a:xfrm>
            <a:off x="3383280" y="5440680"/>
            <a:ext cx="1417320" cy="502920"/>
          </a:xfrm>
          <a:prstGeom prst="rect">
            <a:avLst/>
          </a:prstGeom>
          <a:noFill/>
        </p:spPr>
        <p:txBody>
          <a:bodyPr wrap="square" lIns="0" rIns="0" tIns="0" bIns="0" anchor="t">
            <a:spAutoFit/>
          </a:bodyPr>
          <a:lstStyle/>
          <a:p>
            <a:pPr algn="l"/>
            <a:r>
              <a:rPr sz="1800" b="1" i="0">
                <a:solidFill>
                  <a:srgbClr val="C00000"/>
                </a:solidFill>
                <a:latin typeface="Calibri"/>
              </a:rPr>
              <a:t>0</a:t>
            </a:r>
          </a:p>
          <a:p>
            <a:pPr algn="l"/>
            <a:r>
              <a:rPr sz="1000" b="0" i="0">
                <a:solidFill>
                  <a:srgbClr val="7A7A7A"/>
                </a:solidFill>
                <a:latin typeface="Calibri"/>
              </a:rPr>
              <a:t>delivery riders</a:t>
            </a:r>
          </a:p>
        </p:txBody>
      </p:sp>
    </p:spTree>
    <p:extLst>
      <p:ext uri="{BB962C8B-B14F-4D97-AF65-F5344CB8AC3E}">
        <p14:creationId xmlns:p14="http://schemas.microsoft.com/office/powerpoint/2010/main" val="25628335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endParaRPr lang="en-US" dirty="0"/>
          </a:p>
        </p:txBody>
      </p:sp>
      <p:sp>
        <p:nvSpPr>
          <p:cNvPr id="5" name="Date Placeholder 4"/>
          <p:cNvSpPr>
            <a:spLocks noGrp="1"/>
          </p:cNvSpPr>
          <p:nvPr>
            <p:ph type="dt" sz="half" idx="10"/>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a:t>
            </a:fld>
            <a:endParaRPr lang="en-US" dirty="0"/>
          </a:p>
        </p:txBody>
      </p:sp>
      <p:sp>
        <p:nvSpPr>
          <p:cNvPr id="15" name="Title 1">
            <a:extLst>
              <a:ext uri="{FF2B5EF4-FFF2-40B4-BE49-F238E27FC236}">
                <a16:creationId xmlns:a16="http://schemas.microsoft.com/office/drawing/2014/main" id="{FC0AE158-2DA7-42D2-AAC5-BE89365BA6FF}"/>
              </a:ext>
            </a:extLst>
          </p:cNvPr>
          <p:cNvSpPr txBox="1">
            <a:spLocks/>
          </p:cNvSpPr>
          <p:nvPr/>
        </p:nvSpPr>
        <p:spPr>
          <a:xfrm>
            <a:off x="2743200" y="109728"/>
            <a:ext cx="5486400" cy="566928"/>
          </a:xfrm>
          <a:prstGeom prst="rect">
            <a:avLst/>
          </a:prstGeom>
        </p:spPr>
        <p:txBody>
          <a:bodyPr vert="horz" lIns="91440" tIns="45720" rIns="91440" bIns="45720" rtlCol="0" anchor="ctr">
            <a:noAutofit/>
          </a:bodyPr>
          <a:lstStyle>
            <a:lvl1pPr algn="l" defTabSz="1280160" rtl="0" eaLnBrk="1" latinLnBrk="0" hangingPunct="1">
              <a:lnSpc>
                <a:spcPct val="90000"/>
              </a:lnSpc>
              <a:spcBef>
                <a:spcPct val="0"/>
              </a:spcBef>
              <a:buNone/>
              <a:defRPr sz="5880" b="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algn="ctr">
              <a:spcBef>
                <a:spcPts val="0"/>
              </a:spcBef>
            </a:pPr>
            <a:r>
              <a:rPr sz="2800" b="1">
                <a:solidFill>
                  <a:srgbClr val="C00000"/>
                </a:solidFill>
                <a:latin typeface="Calibri"/>
              </a:rPr>
              <a:t>Problem &amp; Objectives</a:t>
            </a:r>
            <a:endParaRPr lang="en-US" sz="1050" dirty="0"/>
          </a:p>
        </p:txBody>
      </p:sp>
      <p:pic>
        <p:nvPicPr>
          <p:cNvPr id="18"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05800" y="0"/>
            <a:ext cx="838200" cy="624765"/>
          </a:xfrm>
          <a:prstGeom prst="rect">
            <a:avLst/>
          </a:prstGeom>
        </p:spPr>
      </p:pic>
      <p:pic>
        <p:nvPicPr>
          <p:cNvPr id="19" name="Picture 18" descr="A picture containing drawing&#10;&#10;Description automatically generated">
            <a:extLst>
              <a:ext uri="{FF2B5EF4-FFF2-40B4-BE49-F238E27FC236}">
                <a16:creationId xmlns:a16="http://schemas.microsoft.com/office/drawing/2014/main" id="{C9DDECDA-AC01-47B8-B70B-458DA247878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2667000" cy="666750"/>
          </a:xfrm>
          <a:prstGeom prst="rect">
            <a:avLst/>
          </a:prstGeom>
        </p:spPr>
      </p:pic>
      <p:sp>
        <p:nvSpPr>
          <p:cNvPr id="2" name="Rectangle 1"/>
          <p:cNvSpPr/>
          <p:nvPr/>
        </p:nvSpPr>
        <p:spPr>
          <a:xfrm>
            <a:off x="685800" y="481663"/>
            <a:ext cx="1828800" cy="12793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extBox 19"/>
          <p:cNvSpPr txBox="1"/>
          <p:nvPr/>
        </p:nvSpPr>
        <p:spPr>
          <a:xfrm>
            <a:off x="457200" y="868680"/>
            <a:ext cx="4389120" cy="822960"/>
          </a:xfrm>
          <a:prstGeom prst="rect">
            <a:avLst/>
          </a:prstGeom>
          <a:noFill/>
        </p:spPr>
        <p:txBody>
          <a:bodyPr wrap="square" lIns="0" rIns="0" tIns="0" bIns="0" anchor="t">
            <a:spAutoFit/>
          </a:bodyPr>
          <a:lstStyle/>
          <a:p>
            <a:pPr algn="l"/>
            <a:r>
              <a:rPr sz="1900" b="1" i="0">
                <a:solidFill>
                  <a:srgbClr val="1F1F1F"/>
                </a:solidFill>
                <a:latin typeface="Calibri"/>
              </a:rPr>
              <a:t>It was never a shortage of generosity.</a:t>
            </a:r>
          </a:p>
          <a:p>
            <a:pPr algn="l"/>
            <a:r>
              <a:rPr sz="1900" b="1" i="1">
                <a:solidFill>
                  <a:srgbClr val="C00000"/>
                </a:solidFill>
                <a:latin typeface="Calibri"/>
              </a:rPr>
              <a:t>It was timing.</a:t>
            </a:r>
          </a:p>
        </p:txBody>
      </p:sp>
      <p:cxnSp>
        <p:nvCxnSpPr>
          <p:cNvPr id="21" name="Connector 20"/>
          <p:cNvCxnSpPr/>
          <p:nvPr/>
        </p:nvCxnSpPr>
        <p:spPr>
          <a:xfrm>
            <a:off x="548640" y="1920240"/>
            <a:ext cx="0" cy="2706624"/>
          </a:xfrm>
          <a:prstGeom prst="line">
            <a:avLst/>
          </a:prstGeom>
          <a:ln w="19050">
            <a:solidFill>
              <a:srgbClr val="D9D9D9"/>
            </a:solidFill>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475488" y="1856231"/>
            <a:ext cx="146304" cy="146304"/>
          </a:xfrm>
          <a:prstGeom prst="ellipse">
            <a:avLst/>
          </a:prstGeom>
          <a:solidFill>
            <a:srgbClr val="FFFFFF"/>
          </a:solidFill>
          <a:ln w="19050">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1828800"/>
            <a:ext cx="868680" cy="274320"/>
          </a:xfrm>
          <a:prstGeom prst="rect">
            <a:avLst/>
          </a:prstGeom>
          <a:noFill/>
        </p:spPr>
        <p:txBody>
          <a:bodyPr wrap="square" lIns="0" rIns="0" tIns="0" bIns="0" anchor="t">
            <a:spAutoFit/>
          </a:bodyPr>
          <a:lstStyle/>
          <a:p>
            <a:pPr algn="l"/>
            <a:r>
              <a:rPr sz="1200" b="1" i="0">
                <a:solidFill>
                  <a:srgbClr val="1F1F1F"/>
                </a:solidFill>
                <a:latin typeface="Calibri"/>
              </a:rPr>
              <a:t>9:40 pm</a:t>
            </a:r>
          </a:p>
        </p:txBody>
      </p:sp>
      <p:sp>
        <p:nvSpPr>
          <p:cNvPr id="24" name="TextBox 23"/>
          <p:cNvSpPr txBox="1"/>
          <p:nvPr/>
        </p:nvSpPr>
        <p:spPr>
          <a:xfrm>
            <a:off x="1645920" y="1828800"/>
            <a:ext cx="3017520" cy="603504"/>
          </a:xfrm>
          <a:prstGeom prst="rect">
            <a:avLst/>
          </a:prstGeom>
          <a:noFill/>
        </p:spPr>
        <p:txBody>
          <a:bodyPr wrap="square" lIns="0" rIns="0" tIns="0" bIns="0" anchor="t">
            <a:spAutoFit/>
          </a:bodyPr>
          <a:lstStyle/>
          <a:p>
            <a:pPr algn="l"/>
            <a:r>
              <a:rPr sz="1200" b="0" i="0">
                <a:solidFill>
                  <a:srgbClr val="4A4A4A"/>
                </a:solidFill>
                <a:latin typeface="Calibri"/>
              </a:rPr>
              <a:t>A wedding ends at an Andheri banquet hall. Sixty thalis untouched.</a:t>
            </a:r>
          </a:p>
        </p:txBody>
      </p:sp>
      <p:sp>
        <p:nvSpPr>
          <p:cNvPr id="25" name="Oval 24"/>
          <p:cNvSpPr/>
          <p:nvPr/>
        </p:nvSpPr>
        <p:spPr>
          <a:xfrm>
            <a:off x="475488" y="2532888"/>
            <a:ext cx="146304" cy="146304"/>
          </a:xfrm>
          <a:prstGeom prst="ellipse">
            <a:avLst/>
          </a:prstGeom>
          <a:solidFill>
            <a:srgbClr val="FFFFFF"/>
          </a:solidFill>
          <a:ln w="19050">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2505456"/>
            <a:ext cx="868680" cy="274320"/>
          </a:xfrm>
          <a:prstGeom prst="rect">
            <a:avLst/>
          </a:prstGeom>
          <a:noFill/>
        </p:spPr>
        <p:txBody>
          <a:bodyPr wrap="square" lIns="0" rIns="0" tIns="0" bIns="0" anchor="t">
            <a:spAutoFit/>
          </a:bodyPr>
          <a:lstStyle/>
          <a:p>
            <a:pPr algn="l"/>
            <a:r>
              <a:rPr sz="1200" b="1" i="0">
                <a:solidFill>
                  <a:srgbClr val="1F1F1F"/>
                </a:solidFill>
                <a:latin typeface="Calibri"/>
              </a:rPr>
              <a:t>9:55 pm</a:t>
            </a:r>
          </a:p>
        </p:txBody>
      </p:sp>
      <p:sp>
        <p:nvSpPr>
          <p:cNvPr id="27" name="TextBox 26"/>
          <p:cNvSpPr txBox="1"/>
          <p:nvPr/>
        </p:nvSpPr>
        <p:spPr>
          <a:xfrm>
            <a:off x="1645920" y="2505456"/>
            <a:ext cx="3017520" cy="603504"/>
          </a:xfrm>
          <a:prstGeom prst="rect">
            <a:avLst/>
          </a:prstGeom>
          <a:noFill/>
        </p:spPr>
        <p:txBody>
          <a:bodyPr wrap="square" lIns="0" rIns="0" tIns="0" bIns="0" anchor="t">
            <a:spAutoFit/>
          </a:bodyPr>
          <a:lstStyle/>
          <a:p>
            <a:pPr algn="l"/>
            <a:r>
              <a:rPr sz="1200" b="0" i="0">
                <a:solidFill>
                  <a:srgbClr val="4A4A4A"/>
                </a:solidFill>
                <a:latin typeface="Calibri"/>
              </a:rPr>
              <a:t>The manager calls two NGOs he knows. One is closed, one doesn't pick up.</a:t>
            </a:r>
          </a:p>
        </p:txBody>
      </p:sp>
      <p:sp>
        <p:nvSpPr>
          <p:cNvPr id="28" name="Oval 27"/>
          <p:cNvSpPr/>
          <p:nvPr/>
        </p:nvSpPr>
        <p:spPr>
          <a:xfrm>
            <a:off x="475488" y="3209544"/>
            <a:ext cx="146304" cy="146304"/>
          </a:xfrm>
          <a:prstGeom prst="ellipse">
            <a:avLst/>
          </a:prstGeom>
          <a:solidFill>
            <a:srgbClr val="FFFFFF"/>
          </a:solidFill>
          <a:ln w="19050">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 y="3182112"/>
            <a:ext cx="868680" cy="274320"/>
          </a:xfrm>
          <a:prstGeom prst="rect">
            <a:avLst/>
          </a:prstGeom>
          <a:noFill/>
        </p:spPr>
        <p:txBody>
          <a:bodyPr wrap="square" lIns="0" rIns="0" tIns="0" bIns="0" anchor="t">
            <a:spAutoFit/>
          </a:bodyPr>
          <a:lstStyle/>
          <a:p>
            <a:pPr algn="l"/>
            <a:r>
              <a:rPr sz="1200" b="1" i="0">
                <a:solidFill>
                  <a:srgbClr val="1F1F1F"/>
                </a:solidFill>
                <a:latin typeface="Calibri"/>
              </a:rPr>
              <a:t>10:30 pm</a:t>
            </a:r>
          </a:p>
        </p:txBody>
      </p:sp>
      <p:sp>
        <p:nvSpPr>
          <p:cNvPr id="30" name="TextBox 29"/>
          <p:cNvSpPr txBox="1"/>
          <p:nvPr/>
        </p:nvSpPr>
        <p:spPr>
          <a:xfrm>
            <a:off x="1645920" y="3182112"/>
            <a:ext cx="3017520" cy="603504"/>
          </a:xfrm>
          <a:prstGeom prst="rect">
            <a:avLst/>
          </a:prstGeom>
          <a:noFill/>
        </p:spPr>
        <p:txBody>
          <a:bodyPr wrap="square" lIns="0" rIns="0" tIns="0" bIns="0" anchor="t">
            <a:spAutoFit/>
          </a:bodyPr>
          <a:lstStyle/>
          <a:p>
            <a:pPr algn="l"/>
            <a:r>
              <a:rPr sz="1200" b="0" i="0">
                <a:solidFill>
                  <a:srgbClr val="4A4A4A"/>
                </a:solidFill>
                <a:latin typeface="Calibri"/>
              </a:rPr>
              <a:t>A volunteer group replies on WhatsApp. Their van is in Thane.</a:t>
            </a:r>
          </a:p>
        </p:txBody>
      </p:sp>
      <p:sp>
        <p:nvSpPr>
          <p:cNvPr id="31" name="Oval 30"/>
          <p:cNvSpPr/>
          <p:nvPr/>
        </p:nvSpPr>
        <p:spPr>
          <a:xfrm>
            <a:off x="475488" y="3886200"/>
            <a:ext cx="146304" cy="146304"/>
          </a:xfrm>
          <a:prstGeom prst="ellipse">
            <a:avLst/>
          </a:prstGeom>
          <a:solidFill>
            <a:srgbClr val="FFFFFF"/>
          </a:solidFill>
          <a:ln w="19050">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77240" y="3858768"/>
            <a:ext cx="868680" cy="274320"/>
          </a:xfrm>
          <a:prstGeom prst="rect">
            <a:avLst/>
          </a:prstGeom>
          <a:noFill/>
        </p:spPr>
        <p:txBody>
          <a:bodyPr wrap="square" lIns="0" rIns="0" tIns="0" bIns="0" anchor="t">
            <a:spAutoFit/>
          </a:bodyPr>
          <a:lstStyle/>
          <a:p>
            <a:pPr algn="l"/>
            <a:r>
              <a:rPr sz="1200" b="1" i="0">
                <a:solidFill>
                  <a:srgbClr val="1F1F1F"/>
                </a:solidFill>
                <a:latin typeface="Calibri"/>
              </a:rPr>
              <a:t>11:15 pm</a:t>
            </a:r>
          </a:p>
        </p:txBody>
      </p:sp>
      <p:sp>
        <p:nvSpPr>
          <p:cNvPr id="33" name="TextBox 32"/>
          <p:cNvSpPr txBox="1"/>
          <p:nvPr/>
        </p:nvSpPr>
        <p:spPr>
          <a:xfrm>
            <a:off x="1645920" y="3858768"/>
            <a:ext cx="3017520" cy="603504"/>
          </a:xfrm>
          <a:prstGeom prst="rect">
            <a:avLst/>
          </a:prstGeom>
          <a:noFill/>
        </p:spPr>
        <p:txBody>
          <a:bodyPr wrap="square" lIns="0" rIns="0" tIns="0" bIns="0" anchor="t">
            <a:spAutoFit/>
          </a:bodyPr>
          <a:lstStyle/>
          <a:p>
            <a:pPr algn="l"/>
            <a:r>
              <a:rPr sz="1200" b="0" i="0">
                <a:solidFill>
                  <a:srgbClr val="4A4A4A"/>
                </a:solidFill>
                <a:latin typeface="Calibri"/>
              </a:rPr>
              <a:t>The kitchen has to close. The trays are still sitting out.</a:t>
            </a:r>
          </a:p>
        </p:txBody>
      </p:sp>
      <p:sp>
        <p:nvSpPr>
          <p:cNvPr id="34" name="Oval 33"/>
          <p:cNvSpPr/>
          <p:nvPr/>
        </p:nvSpPr>
        <p:spPr>
          <a:xfrm>
            <a:off x="475488" y="4562856"/>
            <a:ext cx="146304" cy="146304"/>
          </a:xfrm>
          <a:prstGeom prst="ellipse">
            <a:avLst/>
          </a:prstGeom>
          <a:solidFill>
            <a:srgbClr val="C00000"/>
          </a:solid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77240" y="4535424"/>
            <a:ext cx="868680" cy="274320"/>
          </a:xfrm>
          <a:prstGeom prst="rect">
            <a:avLst/>
          </a:prstGeom>
          <a:noFill/>
        </p:spPr>
        <p:txBody>
          <a:bodyPr wrap="square" lIns="0" rIns="0" tIns="0" bIns="0" anchor="t">
            <a:spAutoFit/>
          </a:bodyPr>
          <a:lstStyle/>
          <a:p>
            <a:pPr algn="l"/>
            <a:r>
              <a:rPr sz="1200" b="1" i="0">
                <a:solidFill>
                  <a:srgbClr val="C00000"/>
                </a:solidFill>
                <a:latin typeface="Calibri"/>
              </a:rPr>
              <a:t>11:40 pm</a:t>
            </a:r>
          </a:p>
        </p:txBody>
      </p:sp>
      <p:sp>
        <p:nvSpPr>
          <p:cNvPr id="36" name="TextBox 35"/>
          <p:cNvSpPr txBox="1"/>
          <p:nvPr/>
        </p:nvSpPr>
        <p:spPr>
          <a:xfrm>
            <a:off x="1645920" y="4535424"/>
            <a:ext cx="3017520" cy="603504"/>
          </a:xfrm>
          <a:prstGeom prst="rect">
            <a:avLst/>
          </a:prstGeom>
          <a:noFill/>
        </p:spPr>
        <p:txBody>
          <a:bodyPr wrap="square" lIns="0" rIns="0" tIns="0" bIns="0" anchor="t">
            <a:spAutoFit/>
          </a:bodyPr>
          <a:lstStyle/>
          <a:p>
            <a:pPr algn="l"/>
            <a:r>
              <a:rPr sz="1200" b="1" i="0">
                <a:solidFill>
                  <a:srgbClr val="C00000"/>
                </a:solidFill>
                <a:latin typeface="Calibri"/>
              </a:rPr>
              <a:t>Before locking up, the staff throw the food away.</a:t>
            </a:r>
          </a:p>
        </p:txBody>
      </p:sp>
      <p:sp>
        <p:nvSpPr>
          <p:cNvPr id="37" name="TextBox 36"/>
          <p:cNvSpPr txBox="1"/>
          <p:nvPr/>
        </p:nvSpPr>
        <p:spPr>
          <a:xfrm>
            <a:off x="777240" y="5166360"/>
            <a:ext cx="3657600" cy="228600"/>
          </a:xfrm>
          <a:prstGeom prst="rect">
            <a:avLst/>
          </a:prstGeom>
          <a:noFill/>
        </p:spPr>
        <p:txBody>
          <a:bodyPr wrap="square" lIns="0" rIns="0" tIns="0" bIns="0" anchor="t">
            <a:spAutoFit/>
          </a:bodyPr>
          <a:lstStyle/>
          <a:p>
            <a:pPr algn="l"/>
            <a:r>
              <a:rPr sz="1000" b="0" i="1">
                <a:solidFill>
                  <a:srgbClr val="7A7A7A"/>
                </a:solidFill>
                <a:latin typeface="Calibri"/>
              </a:rPr>
              <a:t>An illustrative Saturday, without FoodLoop.</a:t>
            </a:r>
          </a:p>
        </p:txBody>
      </p:sp>
      <p:pic>
        <p:nvPicPr>
          <p:cNvPr id="38" name="Picture 37" descr="hero.jpg"/>
          <p:cNvPicPr>
            <a:picLocks noChangeAspect="1"/>
          </p:cNvPicPr>
          <p:nvPr/>
        </p:nvPicPr>
        <p:blipFill>
          <a:blip r:embed="rId5"/>
          <a:stretch>
            <a:fillRect/>
          </a:stretch>
        </p:blipFill>
        <p:spPr>
          <a:xfrm>
            <a:off x="4983480" y="914400"/>
            <a:ext cx="3017520" cy="1346686"/>
          </a:xfrm>
          <a:prstGeom prst="rect">
            <a:avLst/>
          </a:prstGeom>
        </p:spPr>
      </p:pic>
      <p:sp>
        <p:nvSpPr>
          <p:cNvPr id="39" name="TextBox 38"/>
          <p:cNvSpPr txBox="1"/>
          <p:nvPr/>
        </p:nvSpPr>
        <p:spPr>
          <a:xfrm>
            <a:off x="4983480" y="2331720"/>
            <a:ext cx="3749039" cy="228600"/>
          </a:xfrm>
          <a:prstGeom prst="rect">
            <a:avLst/>
          </a:prstGeom>
          <a:noFill/>
        </p:spPr>
        <p:txBody>
          <a:bodyPr wrap="square" lIns="0" rIns="0" tIns="0" bIns="0" anchor="t">
            <a:spAutoFit/>
          </a:bodyPr>
          <a:lstStyle/>
          <a:p>
            <a:pPr algn="l"/>
            <a:r>
              <a:rPr sz="1000" b="0" i="0">
                <a:solidFill>
                  <a:srgbClr val="7A7A7A"/>
                </a:solidFill>
                <a:latin typeface="Calibri"/>
              </a:rPr>
              <a:t>Closing time: good food, nowhere to send it.</a:t>
            </a:r>
          </a:p>
        </p:txBody>
      </p:sp>
      <p:sp>
        <p:nvSpPr>
          <p:cNvPr id="40" name="TextBox 39"/>
          <p:cNvSpPr txBox="1"/>
          <p:nvPr/>
        </p:nvSpPr>
        <p:spPr>
          <a:xfrm>
            <a:off x="4983480" y="2651760"/>
            <a:ext cx="3749039" cy="365760"/>
          </a:xfrm>
          <a:prstGeom prst="rect">
            <a:avLst/>
          </a:prstGeom>
          <a:noFill/>
        </p:spPr>
        <p:txBody>
          <a:bodyPr wrap="square" lIns="0" rIns="0" tIns="0" bIns="0" anchor="t">
            <a:spAutoFit/>
          </a:bodyPr>
          <a:lstStyle/>
          <a:p>
            <a:pPr algn="l"/>
            <a:r>
              <a:rPr sz="1800" b="1" i="0">
                <a:solidFill>
                  <a:srgbClr val="C00000"/>
                </a:solidFill>
                <a:latin typeface="Calibri"/>
              </a:rPr>
              <a:t>Objectives</a:t>
            </a:r>
          </a:p>
        </p:txBody>
      </p:sp>
      <p:sp>
        <p:nvSpPr>
          <p:cNvPr id="41" name="Oval 40"/>
          <p:cNvSpPr/>
          <p:nvPr/>
        </p:nvSpPr>
        <p:spPr>
          <a:xfrm>
            <a:off x="4983480" y="3108960"/>
            <a:ext cx="310896" cy="310896"/>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983480" y="3108960"/>
            <a:ext cx="310896" cy="310896"/>
          </a:xfrm>
          <a:prstGeom prst="rect">
            <a:avLst/>
          </a:prstGeom>
          <a:noFill/>
        </p:spPr>
        <p:txBody>
          <a:bodyPr wrap="square" lIns="0" rIns="0" tIns="0" bIns="0" anchor="ctr">
            <a:spAutoFit/>
          </a:bodyPr>
          <a:lstStyle/>
          <a:p>
            <a:pPr algn="ctr"/>
            <a:r>
              <a:rPr sz="1200" b="1" i="0">
                <a:solidFill>
                  <a:srgbClr val="FFFFFF"/>
                </a:solidFill>
                <a:latin typeface="Calibri"/>
              </a:rPr>
              <a:t>1</a:t>
            </a:r>
          </a:p>
        </p:txBody>
      </p:sp>
      <p:sp>
        <p:nvSpPr>
          <p:cNvPr id="43" name="TextBox 42"/>
          <p:cNvSpPr txBox="1"/>
          <p:nvPr/>
        </p:nvSpPr>
        <p:spPr>
          <a:xfrm>
            <a:off x="5422392" y="3072384"/>
            <a:ext cx="3337560" cy="640080"/>
          </a:xfrm>
          <a:prstGeom prst="rect">
            <a:avLst/>
          </a:prstGeom>
          <a:noFill/>
        </p:spPr>
        <p:txBody>
          <a:bodyPr wrap="square" lIns="0" rIns="0" tIns="0" bIns="0" anchor="t">
            <a:spAutoFit/>
          </a:bodyPr>
          <a:lstStyle/>
          <a:p>
            <a:pPr algn="l"/>
            <a:r>
              <a:rPr sz="1200" b="1" i="0">
                <a:solidFill>
                  <a:srgbClr val="1F1F1F"/>
                </a:solidFill>
                <a:latin typeface="Calibri"/>
              </a:rPr>
              <a:t>Match food before its deadline</a:t>
            </a:r>
          </a:p>
          <a:p>
            <a:pPr algn="l"/>
            <a:r>
              <a:rPr sz="1000" b="0" i="0">
                <a:solidFill>
                  <a:srgbClr val="4A4A4A"/>
                </a:solidFill>
                <a:latin typeface="Calibri"/>
              </a:rPr>
              <a:t>Offer surplus only to recipients who can collect it in time.</a:t>
            </a:r>
          </a:p>
        </p:txBody>
      </p:sp>
      <p:sp>
        <p:nvSpPr>
          <p:cNvPr id="44" name="Oval 43"/>
          <p:cNvSpPr/>
          <p:nvPr/>
        </p:nvSpPr>
        <p:spPr>
          <a:xfrm>
            <a:off x="4983480" y="3785615"/>
            <a:ext cx="310896" cy="310896"/>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983480" y="3785615"/>
            <a:ext cx="310896" cy="310896"/>
          </a:xfrm>
          <a:prstGeom prst="rect">
            <a:avLst/>
          </a:prstGeom>
          <a:noFill/>
        </p:spPr>
        <p:txBody>
          <a:bodyPr wrap="square" lIns="0" rIns="0" tIns="0" bIns="0" anchor="ctr">
            <a:spAutoFit/>
          </a:bodyPr>
          <a:lstStyle/>
          <a:p>
            <a:pPr algn="ctr"/>
            <a:r>
              <a:rPr sz="1200" b="1" i="0">
                <a:solidFill>
                  <a:srgbClr val="FFFFFF"/>
                </a:solidFill>
                <a:latin typeface="Calibri"/>
              </a:rPr>
              <a:t>2</a:t>
            </a:r>
          </a:p>
        </p:txBody>
      </p:sp>
      <p:sp>
        <p:nvSpPr>
          <p:cNvPr id="46" name="TextBox 45"/>
          <p:cNvSpPr txBox="1"/>
          <p:nvPr/>
        </p:nvSpPr>
        <p:spPr>
          <a:xfrm>
            <a:off x="5422392" y="3749039"/>
            <a:ext cx="3337560" cy="640080"/>
          </a:xfrm>
          <a:prstGeom prst="rect">
            <a:avLst/>
          </a:prstGeom>
          <a:noFill/>
        </p:spPr>
        <p:txBody>
          <a:bodyPr wrap="square" lIns="0" rIns="0" tIns="0" bIns="0" anchor="t">
            <a:spAutoFit/>
          </a:bodyPr>
          <a:lstStyle/>
          <a:p>
            <a:pPr algn="l"/>
            <a:r>
              <a:rPr sz="1200" b="1" i="0">
                <a:solidFill>
                  <a:srgbClr val="1F1F1F"/>
                </a:solidFill>
                <a:latin typeface="Calibri"/>
              </a:rPr>
              <a:t>One ranked offer, not a broadcast</a:t>
            </a:r>
          </a:p>
          <a:p>
            <a:pPr algn="l"/>
            <a:r>
              <a:rPr sz="1000" b="0" i="0">
                <a:solidFill>
                  <a:srgbClr val="4A4A4A"/>
                </a:solidFill>
                <a:latin typeface="Calibri"/>
              </a:rPr>
              <a:t>Score every nearby shelter; ask the best fit first.</a:t>
            </a:r>
          </a:p>
        </p:txBody>
      </p:sp>
      <p:sp>
        <p:nvSpPr>
          <p:cNvPr id="47" name="Oval 46"/>
          <p:cNvSpPr/>
          <p:nvPr/>
        </p:nvSpPr>
        <p:spPr>
          <a:xfrm>
            <a:off x="4983480" y="4462272"/>
            <a:ext cx="310896" cy="310896"/>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983480" y="4462272"/>
            <a:ext cx="310896" cy="310896"/>
          </a:xfrm>
          <a:prstGeom prst="rect">
            <a:avLst/>
          </a:prstGeom>
          <a:noFill/>
        </p:spPr>
        <p:txBody>
          <a:bodyPr wrap="square" lIns="0" rIns="0" tIns="0" bIns="0" anchor="ctr">
            <a:spAutoFit/>
          </a:bodyPr>
          <a:lstStyle/>
          <a:p>
            <a:pPr algn="ctr"/>
            <a:r>
              <a:rPr sz="1200" b="1" i="0">
                <a:solidFill>
                  <a:srgbClr val="FFFFFF"/>
                </a:solidFill>
                <a:latin typeface="Calibri"/>
              </a:rPr>
              <a:t>3</a:t>
            </a:r>
          </a:p>
        </p:txBody>
      </p:sp>
      <p:sp>
        <p:nvSpPr>
          <p:cNvPr id="49" name="TextBox 48"/>
          <p:cNvSpPr txBox="1"/>
          <p:nvPr/>
        </p:nvSpPr>
        <p:spPr>
          <a:xfrm>
            <a:off x="5422392" y="4425696"/>
            <a:ext cx="3337560" cy="640080"/>
          </a:xfrm>
          <a:prstGeom prst="rect">
            <a:avLst/>
          </a:prstGeom>
          <a:noFill/>
        </p:spPr>
        <p:txBody>
          <a:bodyPr wrap="square" lIns="0" rIns="0" tIns="0" bIns="0" anchor="t">
            <a:spAutoFit/>
          </a:bodyPr>
          <a:lstStyle/>
          <a:p>
            <a:pPr algn="l"/>
            <a:r>
              <a:rPr sz="1200" b="1" i="0">
                <a:solidFill>
                  <a:srgbClr val="1F1F1F"/>
                </a:solidFill>
                <a:latin typeface="Calibri"/>
              </a:rPr>
              <a:t>Recipients collect it themselves</a:t>
            </a:r>
          </a:p>
          <a:p>
            <a:pPr algn="l"/>
            <a:r>
              <a:rPr sz="1000" b="0" i="0">
                <a:solidFill>
                  <a:srgbClr val="4A4A4A"/>
                </a:solidFill>
                <a:latin typeface="Calibri"/>
              </a:rPr>
              <a:t>No riders; a handover code confirms the right people came.</a:t>
            </a:r>
          </a:p>
        </p:txBody>
      </p:sp>
      <p:sp>
        <p:nvSpPr>
          <p:cNvPr id="50" name="Oval 49"/>
          <p:cNvSpPr/>
          <p:nvPr/>
        </p:nvSpPr>
        <p:spPr>
          <a:xfrm>
            <a:off x="4983480" y="5138927"/>
            <a:ext cx="310896" cy="310896"/>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983480" y="5138927"/>
            <a:ext cx="310896" cy="310896"/>
          </a:xfrm>
          <a:prstGeom prst="rect">
            <a:avLst/>
          </a:prstGeom>
          <a:noFill/>
        </p:spPr>
        <p:txBody>
          <a:bodyPr wrap="square" lIns="0" rIns="0" tIns="0" bIns="0" anchor="ctr">
            <a:spAutoFit/>
          </a:bodyPr>
          <a:lstStyle/>
          <a:p>
            <a:pPr algn="ctr"/>
            <a:r>
              <a:rPr sz="1200" b="1" i="0">
                <a:solidFill>
                  <a:srgbClr val="FFFFFF"/>
                </a:solidFill>
                <a:latin typeface="Calibri"/>
              </a:rPr>
              <a:t>4</a:t>
            </a:r>
          </a:p>
        </p:txBody>
      </p:sp>
      <p:sp>
        <p:nvSpPr>
          <p:cNvPr id="52" name="TextBox 51"/>
          <p:cNvSpPr txBox="1"/>
          <p:nvPr/>
        </p:nvSpPr>
        <p:spPr>
          <a:xfrm>
            <a:off x="5422392" y="5102351"/>
            <a:ext cx="3337560" cy="640080"/>
          </a:xfrm>
          <a:prstGeom prst="rect">
            <a:avLst/>
          </a:prstGeom>
          <a:noFill/>
        </p:spPr>
        <p:txBody>
          <a:bodyPr wrap="square" lIns="0" rIns="0" tIns="0" bIns="0" anchor="t">
            <a:spAutoFit/>
          </a:bodyPr>
          <a:lstStyle/>
          <a:p>
            <a:pPr algn="l"/>
            <a:r>
              <a:rPr sz="1200" b="1" i="0">
                <a:solidFill>
                  <a:srgbClr val="1F1F1F"/>
                </a:solidFill>
                <a:latin typeface="Calibri"/>
              </a:rPr>
              <a:t>Show why each match was made</a:t>
            </a:r>
          </a:p>
          <a:p>
            <a:pPr algn="l"/>
            <a:r>
              <a:rPr sz="1000" b="0" i="0">
                <a:solidFill>
                  <a:srgbClr val="4A4A4A"/>
                </a:solidFill>
                <a:latin typeface="Calibri"/>
              </a:rPr>
              <a:t>Every score can be opened up, factor by factor.</a:t>
            </a:r>
          </a:p>
        </p:txBody>
      </p:sp>
    </p:spTree>
    <p:extLst>
      <p:ext uri="{BB962C8B-B14F-4D97-AF65-F5344CB8AC3E}">
        <p14:creationId xmlns:p14="http://schemas.microsoft.com/office/powerpoint/2010/main" val="25628335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endParaRPr lang="en-US" dirty="0"/>
          </a:p>
        </p:txBody>
      </p:sp>
      <p:sp>
        <p:nvSpPr>
          <p:cNvPr id="5" name="Date Placeholder 4"/>
          <p:cNvSpPr>
            <a:spLocks noGrp="1"/>
          </p:cNvSpPr>
          <p:nvPr>
            <p:ph type="dt" sz="half" idx="10"/>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a:t>
            </a:fld>
            <a:endParaRPr lang="en-US" dirty="0"/>
          </a:p>
        </p:txBody>
      </p:sp>
      <p:sp>
        <p:nvSpPr>
          <p:cNvPr id="15" name="Title 1">
            <a:extLst>
              <a:ext uri="{FF2B5EF4-FFF2-40B4-BE49-F238E27FC236}">
                <a16:creationId xmlns:a16="http://schemas.microsoft.com/office/drawing/2014/main" id="{FC0AE158-2DA7-42D2-AAC5-BE89365BA6FF}"/>
              </a:ext>
            </a:extLst>
          </p:cNvPr>
          <p:cNvSpPr txBox="1">
            <a:spLocks/>
          </p:cNvSpPr>
          <p:nvPr/>
        </p:nvSpPr>
        <p:spPr>
          <a:xfrm>
            <a:off x="2743200" y="109728"/>
            <a:ext cx="5486400" cy="566928"/>
          </a:xfrm>
          <a:prstGeom prst="rect">
            <a:avLst/>
          </a:prstGeom>
        </p:spPr>
        <p:txBody>
          <a:bodyPr vert="horz" lIns="91440" tIns="45720" rIns="91440" bIns="45720" rtlCol="0" anchor="ctr">
            <a:noAutofit/>
          </a:bodyPr>
          <a:lstStyle>
            <a:lvl1pPr algn="l" defTabSz="1280160" rtl="0" eaLnBrk="1" latinLnBrk="0" hangingPunct="1">
              <a:lnSpc>
                <a:spcPct val="90000"/>
              </a:lnSpc>
              <a:spcBef>
                <a:spcPct val="0"/>
              </a:spcBef>
              <a:buNone/>
              <a:defRPr sz="5880" b="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algn="ctr">
              <a:spcBef>
                <a:spcPts val="0"/>
              </a:spcBef>
            </a:pPr>
            <a:r>
              <a:rPr sz="2800" b="1">
                <a:solidFill>
                  <a:srgbClr val="C00000"/>
                </a:solidFill>
                <a:latin typeface="Calibri"/>
              </a:rPr>
              <a:t>Use-Case Diagram</a:t>
            </a:r>
            <a:endParaRPr lang="en-US" sz="1050" dirty="0"/>
          </a:p>
        </p:txBody>
      </p:sp>
      <p:pic>
        <p:nvPicPr>
          <p:cNvPr id="18"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05800" y="0"/>
            <a:ext cx="838200" cy="624765"/>
          </a:xfrm>
          <a:prstGeom prst="rect">
            <a:avLst/>
          </a:prstGeom>
        </p:spPr>
      </p:pic>
      <p:pic>
        <p:nvPicPr>
          <p:cNvPr id="19" name="Picture 18" descr="A picture containing drawing&#10;&#10;Description automatically generated">
            <a:extLst>
              <a:ext uri="{FF2B5EF4-FFF2-40B4-BE49-F238E27FC236}">
                <a16:creationId xmlns:a16="http://schemas.microsoft.com/office/drawing/2014/main" id="{C9DDECDA-AC01-47B8-B70B-458DA247878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2667000" cy="666750"/>
          </a:xfrm>
          <a:prstGeom prst="rect">
            <a:avLst/>
          </a:prstGeom>
        </p:spPr>
      </p:pic>
      <p:sp>
        <p:nvSpPr>
          <p:cNvPr id="2" name="Rectangle 1"/>
          <p:cNvSpPr/>
          <p:nvPr/>
        </p:nvSpPr>
        <p:spPr>
          <a:xfrm>
            <a:off x="685800" y="481663"/>
            <a:ext cx="1828800" cy="12793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0" name="Picture 19" descr="usecase_basic.png"/>
          <p:cNvPicPr>
            <a:picLocks noChangeAspect="1"/>
          </p:cNvPicPr>
          <p:nvPr/>
        </p:nvPicPr>
        <p:blipFill>
          <a:blip r:embed="rId5"/>
          <a:stretch>
            <a:fillRect/>
          </a:stretch>
        </p:blipFill>
        <p:spPr>
          <a:xfrm>
            <a:off x="320040" y="914400"/>
            <a:ext cx="6608477" cy="4754880"/>
          </a:xfrm>
          <a:prstGeom prst="rect">
            <a:avLst/>
          </a:prstGeom>
        </p:spPr>
      </p:pic>
      <p:sp>
        <p:nvSpPr>
          <p:cNvPr id="21" name="TextBox 20"/>
          <p:cNvSpPr txBox="1"/>
          <p:nvPr/>
        </p:nvSpPr>
        <p:spPr>
          <a:xfrm>
            <a:off x="7059168" y="1051560"/>
            <a:ext cx="1783080" cy="1097280"/>
          </a:xfrm>
          <a:prstGeom prst="rect">
            <a:avLst/>
          </a:prstGeom>
          <a:noFill/>
        </p:spPr>
        <p:txBody>
          <a:bodyPr wrap="square" lIns="0" rIns="0" tIns="0" bIns="0" anchor="t">
            <a:spAutoFit/>
          </a:bodyPr>
          <a:lstStyle/>
          <a:p>
            <a:pPr algn="l"/>
            <a:r>
              <a:rPr sz="1200" b="1" i="0">
                <a:solidFill>
                  <a:srgbClr val="C00000"/>
                </a:solidFill>
                <a:latin typeface="Calibri"/>
              </a:rPr>
              <a:t>Donor kitchen</a:t>
            </a:r>
          </a:p>
          <a:p>
            <a:pPr algn="l"/>
            <a:r>
              <a:rPr sz="1000" b="0" i="0">
                <a:solidFill>
                  <a:srgbClr val="4A4A4A"/>
                </a:solidFill>
                <a:latin typeface="Calibri"/>
              </a:rPr>
              <a:t>Registers, posts food with a deadline, watches the countdown, cancels a listing, finds shelters on the map.</a:t>
            </a:r>
          </a:p>
        </p:txBody>
      </p:sp>
      <p:sp>
        <p:nvSpPr>
          <p:cNvPr id="22" name="TextBox 21"/>
          <p:cNvSpPr txBox="1"/>
          <p:nvPr/>
        </p:nvSpPr>
        <p:spPr>
          <a:xfrm>
            <a:off x="7059168" y="2221991"/>
            <a:ext cx="1783080" cy="1097280"/>
          </a:xfrm>
          <a:prstGeom prst="rect">
            <a:avLst/>
          </a:prstGeom>
          <a:noFill/>
        </p:spPr>
        <p:txBody>
          <a:bodyPr wrap="square" lIns="0" rIns="0" tIns="0" bIns="0" anchor="t">
            <a:spAutoFit/>
          </a:bodyPr>
          <a:lstStyle/>
          <a:p>
            <a:pPr algn="l"/>
            <a:r>
              <a:rPr sz="1200" b="1" i="0">
                <a:solidFill>
                  <a:srgbClr val="C00000"/>
                </a:solidFill>
                <a:latin typeface="Calibri"/>
              </a:rPr>
              <a:t>Recipient</a:t>
            </a:r>
          </a:p>
          <a:p>
            <a:pPr algn="l"/>
            <a:r>
              <a:rPr sz="1000" b="0" i="0">
                <a:solidFill>
                  <a:srgbClr val="4A4A4A"/>
                </a:solidFill>
                <a:latin typeface="Calibri"/>
              </a:rPr>
              <a:t>Sees offers sorted by score, accepts or passes, gets the pickup details and handover code.</a:t>
            </a:r>
          </a:p>
        </p:txBody>
      </p:sp>
      <p:sp>
        <p:nvSpPr>
          <p:cNvPr id="23" name="TextBox 22"/>
          <p:cNvSpPr txBox="1"/>
          <p:nvPr/>
        </p:nvSpPr>
        <p:spPr>
          <a:xfrm>
            <a:off x="7059168" y="3392424"/>
            <a:ext cx="1783080" cy="1097280"/>
          </a:xfrm>
          <a:prstGeom prst="rect">
            <a:avLst/>
          </a:prstGeom>
          <a:noFill/>
        </p:spPr>
        <p:txBody>
          <a:bodyPr wrap="square" lIns="0" rIns="0" tIns="0" bIns="0" anchor="t">
            <a:spAutoFit/>
          </a:bodyPr>
          <a:lstStyle/>
          <a:p>
            <a:pPr algn="l"/>
            <a:r>
              <a:rPr sz="1200" b="1" i="0">
                <a:solidFill>
                  <a:srgbClr val="C00000"/>
                </a:solidFill>
                <a:latin typeface="Calibri"/>
              </a:rPr>
              <a:t>System</a:t>
            </a:r>
          </a:p>
          <a:p>
            <a:pPr algn="l"/>
            <a:r>
              <a:rPr sz="1000" b="0" i="0">
                <a:solidFill>
                  <a:srgbClr val="4A4A4A"/>
                </a:solidFill>
                <a:latin typeface="Calibri"/>
              </a:rPr>
              <a:t>Checks the form, works out distance and drive time, scores the shelters and picks the best one.</a:t>
            </a:r>
          </a:p>
        </p:txBody>
      </p:sp>
      <p:sp>
        <p:nvSpPr>
          <p:cNvPr id="24" name="TextBox 23"/>
          <p:cNvSpPr txBox="1"/>
          <p:nvPr/>
        </p:nvSpPr>
        <p:spPr>
          <a:xfrm>
            <a:off x="7059168" y="4562856"/>
            <a:ext cx="1783080" cy="1097280"/>
          </a:xfrm>
          <a:prstGeom prst="rect">
            <a:avLst/>
          </a:prstGeom>
          <a:noFill/>
        </p:spPr>
        <p:txBody>
          <a:bodyPr wrap="square" lIns="0" rIns="0" tIns="0" bIns="0" anchor="t">
            <a:spAutoFit/>
          </a:bodyPr>
          <a:lstStyle/>
          <a:p>
            <a:pPr algn="l"/>
            <a:r>
              <a:rPr sz="1200" b="1" i="0">
                <a:solidFill>
                  <a:srgbClr val="C00000"/>
                </a:solidFill>
                <a:latin typeface="Calibri"/>
              </a:rPr>
              <a:t>Not in this version</a:t>
            </a:r>
          </a:p>
          <a:p>
            <a:pPr algn="l"/>
            <a:r>
              <a:rPr sz="1000" b="0" i="0">
                <a:solidFill>
                  <a:srgbClr val="4A4A4A"/>
                </a:solidFill>
                <a:latin typeface="Calibri"/>
              </a:rPr>
              <a:t>No admin yet. Verifying organisations comes with the backend (Node.js + MongoDB).</a:t>
            </a:r>
          </a:p>
        </p:txBody>
      </p:sp>
    </p:spTree>
    <p:extLst>
      <p:ext uri="{BB962C8B-B14F-4D97-AF65-F5344CB8AC3E}">
        <p14:creationId xmlns:p14="http://schemas.microsoft.com/office/powerpoint/2010/main" val="25628335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endParaRPr lang="en-US" dirty="0"/>
          </a:p>
        </p:txBody>
      </p:sp>
      <p:sp>
        <p:nvSpPr>
          <p:cNvPr id="5" name="Date Placeholder 4"/>
          <p:cNvSpPr>
            <a:spLocks noGrp="1"/>
          </p:cNvSpPr>
          <p:nvPr>
            <p:ph type="dt" sz="half" idx="10"/>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a:t>
            </a:fld>
            <a:endParaRPr lang="en-US" dirty="0"/>
          </a:p>
        </p:txBody>
      </p:sp>
      <p:sp>
        <p:nvSpPr>
          <p:cNvPr id="15" name="Title 1">
            <a:extLst>
              <a:ext uri="{FF2B5EF4-FFF2-40B4-BE49-F238E27FC236}">
                <a16:creationId xmlns:a16="http://schemas.microsoft.com/office/drawing/2014/main" id="{FC0AE158-2DA7-42D2-AAC5-BE89365BA6FF}"/>
              </a:ext>
            </a:extLst>
          </p:cNvPr>
          <p:cNvSpPr txBox="1">
            <a:spLocks/>
          </p:cNvSpPr>
          <p:nvPr/>
        </p:nvSpPr>
        <p:spPr>
          <a:xfrm>
            <a:off x="2743200" y="109728"/>
            <a:ext cx="5486400" cy="566928"/>
          </a:xfrm>
          <a:prstGeom prst="rect">
            <a:avLst/>
          </a:prstGeom>
        </p:spPr>
        <p:txBody>
          <a:bodyPr vert="horz" lIns="91440" tIns="45720" rIns="91440" bIns="45720" rtlCol="0" anchor="ctr">
            <a:noAutofit/>
          </a:bodyPr>
          <a:lstStyle>
            <a:lvl1pPr algn="l" defTabSz="1280160" rtl="0" eaLnBrk="1" latinLnBrk="0" hangingPunct="1">
              <a:lnSpc>
                <a:spcPct val="90000"/>
              </a:lnSpc>
              <a:spcBef>
                <a:spcPct val="0"/>
              </a:spcBef>
              <a:buNone/>
              <a:defRPr sz="5880" b="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algn="ctr">
              <a:spcBef>
                <a:spcPts val="0"/>
              </a:spcBef>
            </a:pPr>
            <a:r>
              <a:rPr sz="2800" b="1">
                <a:solidFill>
                  <a:srgbClr val="C00000"/>
                </a:solidFill>
                <a:latin typeface="Calibri"/>
              </a:rPr>
              <a:t>Methodology &amp; Results</a:t>
            </a:r>
            <a:endParaRPr lang="en-US" sz="1050" dirty="0"/>
          </a:p>
        </p:txBody>
      </p:sp>
      <p:pic>
        <p:nvPicPr>
          <p:cNvPr id="18"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05800" y="0"/>
            <a:ext cx="838200" cy="624765"/>
          </a:xfrm>
          <a:prstGeom prst="rect">
            <a:avLst/>
          </a:prstGeom>
        </p:spPr>
      </p:pic>
      <p:pic>
        <p:nvPicPr>
          <p:cNvPr id="19" name="Picture 18" descr="A picture containing drawing&#10;&#10;Description automatically generated">
            <a:extLst>
              <a:ext uri="{FF2B5EF4-FFF2-40B4-BE49-F238E27FC236}">
                <a16:creationId xmlns:a16="http://schemas.microsoft.com/office/drawing/2014/main" id="{C9DDECDA-AC01-47B8-B70B-458DA247878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2667000" cy="666750"/>
          </a:xfrm>
          <a:prstGeom prst="rect">
            <a:avLst/>
          </a:prstGeom>
        </p:spPr>
      </p:pic>
      <p:sp>
        <p:nvSpPr>
          <p:cNvPr id="2" name="Rectangle 1"/>
          <p:cNvSpPr/>
          <p:nvPr/>
        </p:nvSpPr>
        <p:spPr>
          <a:xfrm>
            <a:off x="685800" y="481663"/>
            <a:ext cx="1828800" cy="12793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extBox 19"/>
          <p:cNvSpPr txBox="1"/>
          <p:nvPr/>
        </p:nvSpPr>
        <p:spPr>
          <a:xfrm>
            <a:off x="457200" y="868680"/>
            <a:ext cx="4206240" cy="320040"/>
          </a:xfrm>
          <a:prstGeom prst="rect">
            <a:avLst/>
          </a:prstGeom>
          <a:noFill/>
        </p:spPr>
        <p:txBody>
          <a:bodyPr wrap="square" lIns="0" rIns="0" tIns="0" bIns="0" anchor="t">
            <a:spAutoFit/>
          </a:bodyPr>
          <a:lstStyle/>
          <a:p>
            <a:pPr algn="l"/>
            <a:r>
              <a:rPr sz="1600" b="1" i="0">
                <a:solidFill>
                  <a:srgbClr val="1F1F1F"/>
                </a:solidFill>
                <a:latin typeface="Calibri"/>
              </a:rPr>
              <a:t>How a listing is matched</a:t>
            </a:r>
          </a:p>
        </p:txBody>
      </p:sp>
      <p:sp>
        <p:nvSpPr>
          <p:cNvPr id="21" name="Rounded Rectangle 20"/>
          <p:cNvSpPr/>
          <p:nvPr/>
        </p:nvSpPr>
        <p:spPr>
          <a:xfrm>
            <a:off x="457200" y="1280160"/>
            <a:ext cx="978408" cy="1005840"/>
          </a:xfrm>
          <a:prstGeom prst="roundRect">
            <a:avLst>
              <a:gd name="adj" fmla="val 10000"/>
            </a:avLst>
          </a:prstGeom>
          <a:solidFill>
            <a:srgbClr val="F6F3F3"/>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 y="1344168"/>
            <a:ext cx="978408" cy="274320"/>
          </a:xfrm>
          <a:prstGeom prst="rect">
            <a:avLst/>
          </a:prstGeom>
          <a:noFill/>
        </p:spPr>
        <p:txBody>
          <a:bodyPr wrap="square" lIns="0" rIns="0" tIns="0" bIns="0" anchor="t">
            <a:spAutoFit/>
          </a:bodyPr>
          <a:lstStyle/>
          <a:p>
            <a:pPr algn="ctr"/>
            <a:r>
              <a:rPr sz="1200" b="1" i="0">
                <a:solidFill>
                  <a:srgbClr val="C00000"/>
                </a:solidFill>
                <a:latin typeface="Calibri"/>
              </a:rPr>
              <a:t>1. Filter</a:t>
            </a:r>
          </a:p>
        </p:txBody>
      </p:sp>
      <p:sp>
        <p:nvSpPr>
          <p:cNvPr id="23" name="TextBox 22"/>
          <p:cNvSpPr txBox="1"/>
          <p:nvPr/>
        </p:nvSpPr>
        <p:spPr>
          <a:xfrm>
            <a:off x="502920" y="1645920"/>
            <a:ext cx="886968" cy="594360"/>
          </a:xfrm>
          <a:prstGeom prst="rect">
            <a:avLst/>
          </a:prstGeom>
          <a:noFill/>
        </p:spPr>
        <p:txBody>
          <a:bodyPr wrap="square" lIns="0" rIns="0" tIns="0" bIns="0" anchor="t">
            <a:spAutoFit/>
          </a:bodyPr>
          <a:lstStyle/>
          <a:p>
            <a:pPr algn="ctr"/>
            <a:r>
              <a:rPr sz="900" b="0" i="0">
                <a:solidFill>
                  <a:srgbClr val="4A4A4A"/>
                </a:solidFill>
                <a:latin typeface="Calibri"/>
              </a:rPr>
              <a:t>too far, no room
or wrong food</a:t>
            </a:r>
          </a:p>
        </p:txBody>
      </p:sp>
      <p:sp>
        <p:nvSpPr>
          <p:cNvPr id="24" name="TextBox 23"/>
          <p:cNvSpPr txBox="1"/>
          <p:nvPr/>
        </p:nvSpPr>
        <p:spPr>
          <a:xfrm>
            <a:off x="1417320" y="1627632"/>
            <a:ext cx="128016" cy="274320"/>
          </a:xfrm>
          <a:prstGeom prst="rect">
            <a:avLst/>
          </a:prstGeom>
          <a:noFill/>
        </p:spPr>
        <p:txBody>
          <a:bodyPr wrap="square" lIns="0" rIns="0" tIns="0" bIns="0" anchor="t">
            <a:spAutoFit/>
          </a:bodyPr>
          <a:lstStyle/>
          <a:p>
            <a:pPr algn="ctr"/>
            <a:r>
              <a:rPr sz="1400" b="1" i="0">
                <a:solidFill>
                  <a:srgbClr val="7A7A7A"/>
                </a:solidFill>
                <a:latin typeface="Calibri"/>
              </a:rPr>
              <a:t>›</a:t>
            </a:r>
          </a:p>
        </p:txBody>
      </p:sp>
      <p:sp>
        <p:nvSpPr>
          <p:cNvPr id="25" name="Rounded Rectangle 24"/>
          <p:cNvSpPr/>
          <p:nvPr/>
        </p:nvSpPr>
        <p:spPr>
          <a:xfrm>
            <a:off x="1527048" y="1280160"/>
            <a:ext cx="978408" cy="1005840"/>
          </a:xfrm>
          <a:prstGeom prst="roundRect">
            <a:avLst>
              <a:gd name="adj" fmla="val 10000"/>
            </a:avLst>
          </a:prstGeom>
          <a:solidFill>
            <a:srgbClr val="F6F3F3"/>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527048" y="1344168"/>
            <a:ext cx="978408" cy="274320"/>
          </a:xfrm>
          <a:prstGeom prst="rect">
            <a:avLst/>
          </a:prstGeom>
          <a:noFill/>
        </p:spPr>
        <p:txBody>
          <a:bodyPr wrap="square" lIns="0" rIns="0" tIns="0" bIns="0" anchor="t">
            <a:spAutoFit/>
          </a:bodyPr>
          <a:lstStyle/>
          <a:p>
            <a:pPr algn="ctr"/>
            <a:r>
              <a:rPr sz="1200" b="1" i="0">
                <a:solidFill>
                  <a:srgbClr val="C00000"/>
                </a:solidFill>
                <a:latin typeface="Calibri"/>
              </a:rPr>
              <a:t>2. Score</a:t>
            </a:r>
          </a:p>
        </p:txBody>
      </p:sp>
      <p:sp>
        <p:nvSpPr>
          <p:cNvPr id="27" name="TextBox 26"/>
          <p:cNvSpPr txBox="1"/>
          <p:nvPr/>
        </p:nvSpPr>
        <p:spPr>
          <a:xfrm>
            <a:off x="1572768" y="1645920"/>
            <a:ext cx="886968" cy="594360"/>
          </a:xfrm>
          <a:prstGeom prst="rect">
            <a:avLst/>
          </a:prstGeom>
          <a:noFill/>
        </p:spPr>
        <p:txBody>
          <a:bodyPr wrap="square" lIns="0" rIns="0" tIns="0" bIns="0" anchor="t">
            <a:spAutoFit/>
          </a:bodyPr>
          <a:lstStyle/>
          <a:p>
            <a:pPr algn="ctr"/>
            <a:r>
              <a:rPr sz="900" b="0" i="0">
                <a:solidFill>
                  <a:srgbClr val="4A4A4A"/>
                </a:solidFill>
                <a:latin typeface="Calibri"/>
              </a:rPr>
              <a:t>5 weighted
factors, out of 100</a:t>
            </a:r>
          </a:p>
        </p:txBody>
      </p:sp>
      <p:sp>
        <p:nvSpPr>
          <p:cNvPr id="28" name="TextBox 27"/>
          <p:cNvSpPr txBox="1"/>
          <p:nvPr/>
        </p:nvSpPr>
        <p:spPr>
          <a:xfrm>
            <a:off x="2487168" y="1627632"/>
            <a:ext cx="128016" cy="274320"/>
          </a:xfrm>
          <a:prstGeom prst="rect">
            <a:avLst/>
          </a:prstGeom>
          <a:noFill/>
        </p:spPr>
        <p:txBody>
          <a:bodyPr wrap="square" lIns="0" rIns="0" tIns="0" bIns="0" anchor="t">
            <a:spAutoFit/>
          </a:bodyPr>
          <a:lstStyle/>
          <a:p>
            <a:pPr algn="ctr"/>
            <a:r>
              <a:rPr sz="1400" b="1" i="0">
                <a:solidFill>
                  <a:srgbClr val="7A7A7A"/>
                </a:solidFill>
                <a:latin typeface="Calibri"/>
              </a:rPr>
              <a:t>›</a:t>
            </a:r>
          </a:p>
        </p:txBody>
      </p:sp>
      <p:sp>
        <p:nvSpPr>
          <p:cNvPr id="29" name="Rounded Rectangle 28"/>
          <p:cNvSpPr/>
          <p:nvPr/>
        </p:nvSpPr>
        <p:spPr>
          <a:xfrm>
            <a:off x="2596896" y="1280160"/>
            <a:ext cx="978408" cy="1005840"/>
          </a:xfrm>
          <a:prstGeom prst="roundRect">
            <a:avLst>
              <a:gd name="adj" fmla="val 10000"/>
            </a:avLst>
          </a:prstGeom>
          <a:solidFill>
            <a:srgbClr val="F6F3F3"/>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596896" y="1344168"/>
            <a:ext cx="978408" cy="274320"/>
          </a:xfrm>
          <a:prstGeom prst="rect">
            <a:avLst/>
          </a:prstGeom>
          <a:noFill/>
        </p:spPr>
        <p:txBody>
          <a:bodyPr wrap="square" lIns="0" rIns="0" tIns="0" bIns="0" anchor="t">
            <a:spAutoFit/>
          </a:bodyPr>
          <a:lstStyle/>
          <a:p>
            <a:pPr algn="ctr"/>
            <a:r>
              <a:rPr sz="1200" b="1" i="0">
                <a:solidFill>
                  <a:srgbClr val="C00000"/>
                </a:solidFill>
                <a:latin typeface="Calibri"/>
              </a:rPr>
              <a:t>3. Offer</a:t>
            </a:r>
          </a:p>
        </p:txBody>
      </p:sp>
      <p:sp>
        <p:nvSpPr>
          <p:cNvPr id="31" name="TextBox 30"/>
          <p:cNvSpPr txBox="1"/>
          <p:nvPr/>
        </p:nvSpPr>
        <p:spPr>
          <a:xfrm>
            <a:off x="2642615" y="1645920"/>
            <a:ext cx="886968" cy="594360"/>
          </a:xfrm>
          <a:prstGeom prst="rect">
            <a:avLst/>
          </a:prstGeom>
          <a:noFill/>
        </p:spPr>
        <p:txBody>
          <a:bodyPr wrap="square" lIns="0" rIns="0" tIns="0" bIns="0" anchor="t">
            <a:spAutoFit/>
          </a:bodyPr>
          <a:lstStyle/>
          <a:p>
            <a:pPr algn="ctr"/>
            <a:r>
              <a:rPr sz="900" b="0" i="0">
                <a:solidFill>
                  <a:srgbClr val="4A4A4A"/>
                </a:solidFill>
                <a:latin typeface="Calibri"/>
              </a:rPr>
              <a:t>to the best
recipient first</a:t>
            </a:r>
          </a:p>
        </p:txBody>
      </p:sp>
      <p:sp>
        <p:nvSpPr>
          <p:cNvPr id="32" name="TextBox 31"/>
          <p:cNvSpPr txBox="1"/>
          <p:nvPr/>
        </p:nvSpPr>
        <p:spPr>
          <a:xfrm>
            <a:off x="3557015" y="1627632"/>
            <a:ext cx="128016" cy="274320"/>
          </a:xfrm>
          <a:prstGeom prst="rect">
            <a:avLst/>
          </a:prstGeom>
          <a:noFill/>
        </p:spPr>
        <p:txBody>
          <a:bodyPr wrap="square" lIns="0" rIns="0" tIns="0" bIns="0" anchor="t">
            <a:spAutoFit/>
          </a:bodyPr>
          <a:lstStyle/>
          <a:p>
            <a:pPr algn="ctr"/>
            <a:r>
              <a:rPr sz="1400" b="1" i="0">
                <a:solidFill>
                  <a:srgbClr val="7A7A7A"/>
                </a:solidFill>
                <a:latin typeface="Calibri"/>
              </a:rPr>
              <a:t>›</a:t>
            </a:r>
          </a:p>
        </p:txBody>
      </p:sp>
      <p:sp>
        <p:nvSpPr>
          <p:cNvPr id="33" name="Rounded Rectangle 32"/>
          <p:cNvSpPr/>
          <p:nvPr/>
        </p:nvSpPr>
        <p:spPr>
          <a:xfrm>
            <a:off x="3666744" y="1280160"/>
            <a:ext cx="978408" cy="1005840"/>
          </a:xfrm>
          <a:prstGeom prst="roundRect">
            <a:avLst>
              <a:gd name="adj" fmla="val 10000"/>
            </a:avLst>
          </a:prstGeom>
          <a:solidFill>
            <a:srgbClr val="F6F3F3"/>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66744" y="1344168"/>
            <a:ext cx="978408" cy="274320"/>
          </a:xfrm>
          <a:prstGeom prst="rect">
            <a:avLst/>
          </a:prstGeom>
          <a:noFill/>
        </p:spPr>
        <p:txBody>
          <a:bodyPr wrap="square" lIns="0" rIns="0" tIns="0" bIns="0" anchor="t">
            <a:spAutoFit/>
          </a:bodyPr>
          <a:lstStyle/>
          <a:p>
            <a:pPr algn="ctr"/>
            <a:r>
              <a:rPr sz="1200" b="1" i="0">
                <a:solidFill>
                  <a:srgbClr val="C00000"/>
                </a:solidFill>
                <a:latin typeface="Calibri"/>
              </a:rPr>
              <a:t>4. Cascade</a:t>
            </a:r>
          </a:p>
        </p:txBody>
      </p:sp>
      <p:sp>
        <p:nvSpPr>
          <p:cNvPr id="35" name="TextBox 34"/>
          <p:cNvSpPr txBox="1"/>
          <p:nvPr/>
        </p:nvSpPr>
        <p:spPr>
          <a:xfrm>
            <a:off x="3712463" y="1645920"/>
            <a:ext cx="886968" cy="594360"/>
          </a:xfrm>
          <a:prstGeom prst="rect">
            <a:avLst/>
          </a:prstGeom>
          <a:noFill/>
        </p:spPr>
        <p:txBody>
          <a:bodyPr wrap="square" lIns="0" rIns="0" tIns="0" bIns="0" anchor="t">
            <a:spAutoFit/>
          </a:bodyPr>
          <a:lstStyle/>
          <a:p>
            <a:pPr algn="ctr"/>
            <a:r>
              <a:rPr sz="900" b="0" i="0">
                <a:solidFill>
                  <a:srgbClr val="4A4A4A"/>
                </a:solidFill>
                <a:latin typeface="Calibri"/>
              </a:rPr>
              <a:t>a pass moves it
to the next</a:t>
            </a:r>
          </a:p>
        </p:txBody>
      </p:sp>
      <p:sp>
        <p:nvSpPr>
          <p:cNvPr id="36" name="TextBox 35"/>
          <p:cNvSpPr txBox="1"/>
          <p:nvPr/>
        </p:nvSpPr>
        <p:spPr>
          <a:xfrm>
            <a:off x="457200" y="2450592"/>
            <a:ext cx="4206240" cy="274320"/>
          </a:xfrm>
          <a:prstGeom prst="rect">
            <a:avLst/>
          </a:prstGeom>
          <a:noFill/>
        </p:spPr>
        <p:txBody>
          <a:bodyPr wrap="square" lIns="0" rIns="0" tIns="0" bIns="0" anchor="t">
            <a:spAutoFit/>
          </a:bodyPr>
          <a:lstStyle/>
          <a:p>
            <a:pPr algn="l"/>
            <a:r>
              <a:rPr sz="1200" b="1" i="0">
                <a:solidFill>
                  <a:srgbClr val="1F1F1F"/>
                </a:solidFill>
                <a:latin typeface="Calibri"/>
              </a:rPr>
              <a:t>Score weights</a:t>
            </a:r>
          </a:p>
        </p:txBody>
      </p:sp>
      <p:sp>
        <p:nvSpPr>
          <p:cNvPr id="37" name="TextBox 36"/>
          <p:cNvSpPr txBox="1"/>
          <p:nvPr/>
        </p:nvSpPr>
        <p:spPr>
          <a:xfrm>
            <a:off x="457200" y="2743200"/>
            <a:ext cx="1463040" cy="237744"/>
          </a:xfrm>
          <a:prstGeom prst="rect">
            <a:avLst/>
          </a:prstGeom>
          <a:noFill/>
        </p:spPr>
        <p:txBody>
          <a:bodyPr wrap="square" lIns="0" rIns="0" tIns="0" bIns="0" anchor="t">
            <a:spAutoFit/>
          </a:bodyPr>
          <a:lstStyle/>
          <a:p>
            <a:pPr algn="l"/>
            <a:r>
              <a:rPr sz="1100" b="0" i="0">
                <a:solidFill>
                  <a:srgbClr val="1F1F1F"/>
                </a:solidFill>
                <a:latin typeface="Calibri"/>
              </a:rPr>
              <a:t>Time feasibility</a:t>
            </a:r>
          </a:p>
        </p:txBody>
      </p:sp>
      <p:sp>
        <p:nvSpPr>
          <p:cNvPr id="38" name="Rounded Rectangle 37"/>
          <p:cNvSpPr/>
          <p:nvPr/>
        </p:nvSpPr>
        <p:spPr>
          <a:xfrm>
            <a:off x="1920240" y="2807208"/>
            <a:ext cx="2148840" cy="109728"/>
          </a:xfrm>
          <a:prstGeom prst="roundRect">
            <a:avLst>
              <a:gd name="adj" fmla="val 50000"/>
            </a:avLst>
          </a:prstGeom>
          <a:solidFill>
            <a:srgbClr val="EE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1920240" y="2807208"/>
            <a:ext cx="2148840" cy="109728"/>
          </a:xfrm>
          <a:prstGeom prst="roundRect">
            <a:avLst>
              <a:gd name="adj" fmla="val 50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114800" y="2743200"/>
            <a:ext cx="548640" cy="237744"/>
          </a:xfrm>
          <a:prstGeom prst="rect">
            <a:avLst/>
          </a:prstGeom>
          <a:noFill/>
        </p:spPr>
        <p:txBody>
          <a:bodyPr wrap="square" lIns="0" rIns="0" tIns="0" bIns="0" anchor="t">
            <a:spAutoFit/>
          </a:bodyPr>
          <a:lstStyle/>
          <a:p>
            <a:pPr algn="r"/>
            <a:r>
              <a:rPr sz="1100" b="1" i="0">
                <a:solidFill>
                  <a:srgbClr val="1F1F1F"/>
                </a:solidFill>
                <a:latin typeface="Calibri"/>
              </a:rPr>
              <a:t>35%</a:t>
            </a:r>
          </a:p>
        </p:txBody>
      </p:sp>
      <p:sp>
        <p:nvSpPr>
          <p:cNvPr id="41" name="TextBox 40"/>
          <p:cNvSpPr txBox="1"/>
          <p:nvPr/>
        </p:nvSpPr>
        <p:spPr>
          <a:xfrm>
            <a:off x="457200" y="3017520"/>
            <a:ext cx="1463040" cy="237744"/>
          </a:xfrm>
          <a:prstGeom prst="rect">
            <a:avLst/>
          </a:prstGeom>
          <a:noFill/>
        </p:spPr>
        <p:txBody>
          <a:bodyPr wrap="square" lIns="0" rIns="0" tIns="0" bIns="0" anchor="t">
            <a:spAutoFit/>
          </a:bodyPr>
          <a:lstStyle/>
          <a:p>
            <a:pPr algn="l"/>
            <a:r>
              <a:rPr sz="1100" b="0" i="0">
                <a:solidFill>
                  <a:srgbClr val="1F1F1F"/>
                </a:solidFill>
                <a:latin typeface="Calibri"/>
              </a:rPr>
              <a:t>Proximity</a:t>
            </a:r>
          </a:p>
        </p:txBody>
      </p:sp>
      <p:sp>
        <p:nvSpPr>
          <p:cNvPr id="42" name="Rounded Rectangle 41"/>
          <p:cNvSpPr/>
          <p:nvPr/>
        </p:nvSpPr>
        <p:spPr>
          <a:xfrm>
            <a:off x="1920240" y="3081527"/>
            <a:ext cx="2148840" cy="109728"/>
          </a:xfrm>
          <a:prstGeom prst="roundRect">
            <a:avLst>
              <a:gd name="adj" fmla="val 50000"/>
            </a:avLst>
          </a:prstGeom>
          <a:solidFill>
            <a:srgbClr val="EE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1920240" y="3081527"/>
            <a:ext cx="1534885" cy="109728"/>
          </a:xfrm>
          <a:prstGeom prst="roundRect">
            <a:avLst>
              <a:gd name="adj" fmla="val 50000"/>
            </a:avLst>
          </a:prstGeom>
          <a:solidFill>
            <a:srgbClr val="B72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114800" y="3017520"/>
            <a:ext cx="548640" cy="237744"/>
          </a:xfrm>
          <a:prstGeom prst="rect">
            <a:avLst/>
          </a:prstGeom>
          <a:noFill/>
        </p:spPr>
        <p:txBody>
          <a:bodyPr wrap="square" lIns="0" rIns="0" tIns="0" bIns="0" anchor="t">
            <a:spAutoFit/>
          </a:bodyPr>
          <a:lstStyle/>
          <a:p>
            <a:pPr algn="r"/>
            <a:r>
              <a:rPr sz="1100" b="1" i="0">
                <a:solidFill>
                  <a:srgbClr val="1F1F1F"/>
                </a:solidFill>
                <a:latin typeface="Calibri"/>
              </a:rPr>
              <a:t>25%</a:t>
            </a:r>
          </a:p>
        </p:txBody>
      </p:sp>
      <p:sp>
        <p:nvSpPr>
          <p:cNvPr id="45" name="TextBox 44"/>
          <p:cNvSpPr txBox="1"/>
          <p:nvPr/>
        </p:nvSpPr>
        <p:spPr>
          <a:xfrm>
            <a:off x="457200" y="3291840"/>
            <a:ext cx="1463040" cy="237744"/>
          </a:xfrm>
          <a:prstGeom prst="rect">
            <a:avLst/>
          </a:prstGeom>
          <a:noFill/>
        </p:spPr>
        <p:txBody>
          <a:bodyPr wrap="square" lIns="0" rIns="0" tIns="0" bIns="0" anchor="t">
            <a:spAutoFit/>
          </a:bodyPr>
          <a:lstStyle/>
          <a:p>
            <a:pPr algn="l"/>
            <a:r>
              <a:rPr sz="1100" b="0" i="0">
                <a:solidFill>
                  <a:srgbClr val="1F1F1F"/>
                </a:solidFill>
                <a:latin typeface="Calibri"/>
              </a:rPr>
              <a:t>Capacity fit</a:t>
            </a:r>
          </a:p>
        </p:txBody>
      </p:sp>
      <p:sp>
        <p:nvSpPr>
          <p:cNvPr id="46" name="Rounded Rectangle 45"/>
          <p:cNvSpPr/>
          <p:nvPr/>
        </p:nvSpPr>
        <p:spPr>
          <a:xfrm>
            <a:off x="1920240" y="3355848"/>
            <a:ext cx="2148840" cy="109728"/>
          </a:xfrm>
          <a:prstGeom prst="roundRect">
            <a:avLst>
              <a:gd name="adj" fmla="val 50000"/>
            </a:avLst>
          </a:prstGeom>
          <a:solidFill>
            <a:srgbClr val="EE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1920240" y="3355848"/>
            <a:ext cx="1227908" cy="109728"/>
          </a:xfrm>
          <a:prstGeom prst="roundRect">
            <a:avLst>
              <a:gd name="adj" fmla="val 50000"/>
            </a:avLst>
          </a:prstGeom>
          <a:solidFill>
            <a:srgbClr val="B72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114800" y="3291840"/>
            <a:ext cx="548640" cy="237744"/>
          </a:xfrm>
          <a:prstGeom prst="rect">
            <a:avLst/>
          </a:prstGeom>
          <a:noFill/>
        </p:spPr>
        <p:txBody>
          <a:bodyPr wrap="square" lIns="0" rIns="0" tIns="0" bIns="0" anchor="t">
            <a:spAutoFit/>
          </a:bodyPr>
          <a:lstStyle/>
          <a:p>
            <a:pPr algn="r"/>
            <a:r>
              <a:rPr sz="1100" b="1" i="0">
                <a:solidFill>
                  <a:srgbClr val="1F1F1F"/>
                </a:solidFill>
                <a:latin typeface="Calibri"/>
              </a:rPr>
              <a:t>20%</a:t>
            </a:r>
          </a:p>
        </p:txBody>
      </p:sp>
      <p:sp>
        <p:nvSpPr>
          <p:cNvPr id="49" name="TextBox 48"/>
          <p:cNvSpPr txBox="1"/>
          <p:nvPr/>
        </p:nvSpPr>
        <p:spPr>
          <a:xfrm>
            <a:off x="457200" y="3566160"/>
            <a:ext cx="1463040" cy="237744"/>
          </a:xfrm>
          <a:prstGeom prst="rect">
            <a:avLst/>
          </a:prstGeom>
          <a:noFill/>
        </p:spPr>
        <p:txBody>
          <a:bodyPr wrap="square" lIns="0" rIns="0" tIns="0" bIns="0" anchor="t">
            <a:spAutoFit/>
          </a:bodyPr>
          <a:lstStyle/>
          <a:p>
            <a:pPr algn="l"/>
            <a:r>
              <a:rPr sz="1100" b="0" i="0">
                <a:solidFill>
                  <a:srgbClr val="1F1F1F"/>
                </a:solidFill>
                <a:latin typeface="Calibri"/>
              </a:rPr>
              <a:t>Food type</a:t>
            </a:r>
          </a:p>
        </p:txBody>
      </p:sp>
      <p:sp>
        <p:nvSpPr>
          <p:cNvPr id="50" name="Rounded Rectangle 49"/>
          <p:cNvSpPr/>
          <p:nvPr/>
        </p:nvSpPr>
        <p:spPr>
          <a:xfrm>
            <a:off x="1920240" y="3630168"/>
            <a:ext cx="2148840" cy="109728"/>
          </a:xfrm>
          <a:prstGeom prst="roundRect">
            <a:avLst>
              <a:gd name="adj" fmla="val 50000"/>
            </a:avLst>
          </a:prstGeom>
          <a:solidFill>
            <a:srgbClr val="EE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1920240" y="3630168"/>
            <a:ext cx="613954" cy="109728"/>
          </a:xfrm>
          <a:prstGeom prst="roundRect">
            <a:avLst>
              <a:gd name="adj" fmla="val 50000"/>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114800" y="3566160"/>
            <a:ext cx="548640" cy="237744"/>
          </a:xfrm>
          <a:prstGeom prst="rect">
            <a:avLst/>
          </a:prstGeom>
          <a:noFill/>
        </p:spPr>
        <p:txBody>
          <a:bodyPr wrap="square" lIns="0" rIns="0" tIns="0" bIns="0" anchor="t">
            <a:spAutoFit/>
          </a:bodyPr>
          <a:lstStyle/>
          <a:p>
            <a:pPr algn="r"/>
            <a:r>
              <a:rPr sz="1100" b="1" i="0">
                <a:solidFill>
                  <a:srgbClr val="1F1F1F"/>
                </a:solidFill>
                <a:latin typeface="Calibri"/>
              </a:rPr>
              <a:t>10%</a:t>
            </a:r>
          </a:p>
        </p:txBody>
      </p:sp>
      <p:sp>
        <p:nvSpPr>
          <p:cNvPr id="53" name="TextBox 52"/>
          <p:cNvSpPr txBox="1"/>
          <p:nvPr/>
        </p:nvSpPr>
        <p:spPr>
          <a:xfrm>
            <a:off x="457200" y="3840480"/>
            <a:ext cx="1463040" cy="237744"/>
          </a:xfrm>
          <a:prstGeom prst="rect">
            <a:avLst/>
          </a:prstGeom>
          <a:noFill/>
        </p:spPr>
        <p:txBody>
          <a:bodyPr wrap="square" lIns="0" rIns="0" tIns="0" bIns="0" anchor="t">
            <a:spAutoFit/>
          </a:bodyPr>
          <a:lstStyle/>
          <a:p>
            <a:pPr algn="l"/>
            <a:r>
              <a:rPr sz="1100" b="0" i="0">
                <a:solidFill>
                  <a:srgbClr val="1F1F1F"/>
                </a:solidFill>
                <a:latin typeface="Calibri"/>
              </a:rPr>
              <a:t>Reliability</a:t>
            </a:r>
          </a:p>
        </p:txBody>
      </p:sp>
      <p:sp>
        <p:nvSpPr>
          <p:cNvPr id="54" name="Rounded Rectangle 53"/>
          <p:cNvSpPr/>
          <p:nvPr/>
        </p:nvSpPr>
        <p:spPr>
          <a:xfrm>
            <a:off x="1920240" y="3904488"/>
            <a:ext cx="2148840" cy="109728"/>
          </a:xfrm>
          <a:prstGeom prst="roundRect">
            <a:avLst>
              <a:gd name="adj" fmla="val 50000"/>
            </a:avLst>
          </a:prstGeom>
          <a:solidFill>
            <a:srgbClr val="EE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ounded Rectangle 54"/>
          <p:cNvSpPr/>
          <p:nvPr/>
        </p:nvSpPr>
        <p:spPr>
          <a:xfrm>
            <a:off x="1920240" y="3904488"/>
            <a:ext cx="613954" cy="109728"/>
          </a:xfrm>
          <a:prstGeom prst="roundRect">
            <a:avLst>
              <a:gd name="adj" fmla="val 50000"/>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114800" y="3840480"/>
            <a:ext cx="548640" cy="237744"/>
          </a:xfrm>
          <a:prstGeom prst="rect">
            <a:avLst/>
          </a:prstGeom>
          <a:noFill/>
        </p:spPr>
        <p:txBody>
          <a:bodyPr wrap="square" lIns="0" rIns="0" tIns="0" bIns="0" anchor="t">
            <a:spAutoFit/>
          </a:bodyPr>
          <a:lstStyle/>
          <a:p>
            <a:pPr algn="r"/>
            <a:r>
              <a:rPr sz="1100" b="1" i="0">
                <a:solidFill>
                  <a:srgbClr val="1F1F1F"/>
                </a:solidFill>
                <a:latin typeface="Calibri"/>
              </a:rPr>
              <a:t>10%</a:t>
            </a:r>
          </a:p>
        </p:txBody>
      </p:sp>
      <p:sp>
        <p:nvSpPr>
          <p:cNvPr id="57" name="Rounded Rectangle 56"/>
          <p:cNvSpPr/>
          <p:nvPr/>
        </p:nvSpPr>
        <p:spPr>
          <a:xfrm>
            <a:off x="457200" y="4251960"/>
            <a:ext cx="4206240" cy="1463040"/>
          </a:xfrm>
          <a:prstGeom prst="roundRect">
            <a:avLst>
              <a:gd name="adj" fmla="val 6000"/>
            </a:avLst>
          </a:prstGeom>
          <a:solidFill>
            <a:srgbClr val="F6F3F3"/>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40080" y="4352544"/>
            <a:ext cx="3108960" cy="274320"/>
          </a:xfrm>
          <a:prstGeom prst="rect">
            <a:avLst/>
          </a:prstGeom>
          <a:noFill/>
        </p:spPr>
        <p:txBody>
          <a:bodyPr wrap="square" lIns="0" rIns="0" tIns="0" bIns="0" anchor="t">
            <a:spAutoFit/>
          </a:bodyPr>
          <a:lstStyle/>
          <a:p>
            <a:pPr algn="l"/>
            <a:r>
              <a:rPr sz="1100" b="1" i="0">
                <a:solidFill>
                  <a:srgbClr val="1F1F1F"/>
                </a:solidFill>
                <a:latin typeface="Calibri"/>
              </a:rPr>
              <a:t>Worked example: St. Xavier's biryani → Sneh Sadan</a:t>
            </a:r>
          </a:p>
        </p:txBody>
      </p:sp>
      <p:sp>
        <p:nvSpPr>
          <p:cNvPr id="59" name="TextBox 58"/>
          <p:cNvSpPr txBox="1"/>
          <p:nvPr/>
        </p:nvSpPr>
        <p:spPr>
          <a:xfrm>
            <a:off x="640080" y="4681728"/>
            <a:ext cx="3017520" cy="548640"/>
          </a:xfrm>
          <a:prstGeom prst="rect">
            <a:avLst/>
          </a:prstGeom>
          <a:noFill/>
        </p:spPr>
        <p:txBody>
          <a:bodyPr wrap="square" lIns="0" rIns="0" tIns="0" bIns="0" anchor="t">
            <a:spAutoFit/>
          </a:bodyPr>
          <a:lstStyle/>
          <a:p>
            <a:pPr algn="l"/>
            <a:r>
              <a:rPr sz="1100" b="0" i="0">
                <a:solidFill>
                  <a:srgbClr val="4A4A4A"/>
                </a:solidFill>
                <a:latin typeface="Calibri"/>
              </a:rPr>
              <a:t>0.35×0.82 + 0.25×0.77 + 0.20×0.95</a:t>
            </a:r>
          </a:p>
          <a:p>
            <a:pPr algn="l"/>
            <a:r>
              <a:rPr sz="1100" b="0" i="0">
                <a:solidFill>
                  <a:srgbClr val="4A4A4A"/>
                </a:solidFill>
                <a:latin typeface="Calibri"/>
              </a:rPr>
              <a:t>+ 0.10×1.00 + 0.10×0.71 = 0.84</a:t>
            </a:r>
          </a:p>
        </p:txBody>
      </p:sp>
      <p:sp>
        <p:nvSpPr>
          <p:cNvPr id="60" name="TextBox 59"/>
          <p:cNvSpPr txBox="1"/>
          <p:nvPr/>
        </p:nvSpPr>
        <p:spPr>
          <a:xfrm>
            <a:off x="640080" y="5303520"/>
            <a:ext cx="2743200" cy="274320"/>
          </a:xfrm>
          <a:prstGeom prst="rect">
            <a:avLst/>
          </a:prstGeom>
          <a:noFill/>
        </p:spPr>
        <p:txBody>
          <a:bodyPr wrap="square" lIns="0" rIns="0" tIns="0" bIns="0" anchor="t">
            <a:spAutoFit/>
          </a:bodyPr>
          <a:lstStyle/>
          <a:p>
            <a:pPr algn="l"/>
            <a:r>
              <a:rPr sz="1100" b="0" i="1">
                <a:solidFill>
                  <a:srgbClr val="7A7A7A"/>
                </a:solidFill>
                <a:latin typeface="Calibri"/>
              </a:rPr>
              <a:t>Sneh Sadan is asked first.</a:t>
            </a:r>
          </a:p>
        </p:txBody>
      </p:sp>
      <p:sp>
        <p:nvSpPr>
          <p:cNvPr id="61" name="TextBox 60"/>
          <p:cNvSpPr txBox="1"/>
          <p:nvPr/>
        </p:nvSpPr>
        <p:spPr>
          <a:xfrm>
            <a:off x="3474720" y="4663440"/>
            <a:ext cx="1051560" cy="731520"/>
          </a:xfrm>
          <a:prstGeom prst="rect">
            <a:avLst/>
          </a:prstGeom>
          <a:noFill/>
        </p:spPr>
        <p:txBody>
          <a:bodyPr wrap="square" lIns="0" rIns="0" tIns="0" bIns="0" anchor="t">
            <a:spAutoFit/>
          </a:bodyPr>
          <a:lstStyle/>
          <a:p>
            <a:pPr algn="r"/>
            <a:r>
              <a:rPr sz="4000" b="1" i="0">
                <a:solidFill>
                  <a:srgbClr val="C00000"/>
                </a:solidFill>
                <a:latin typeface="Calibri"/>
              </a:rPr>
              <a:t>84</a:t>
            </a:r>
          </a:p>
        </p:txBody>
      </p:sp>
      <p:sp>
        <p:nvSpPr>
          <p:cNvPr id="62" name="TextBox 61"/>
          <p:cNvSpPr txBox="1"/>
          <p:nvPr/>
        </p:nvSpPr>
        <p:spPr>
          <a:xfrm>
            <a:off x="3474720" y="5321808"/>
            <a:ext cx="1051560" cy="274320"/>
          </a:xfrm>
          <a:prstGeom prst="rect">
            <a:avLst/>
          </a:prstGeom>
          <a:noFill/>
        </p:spPr>
        <p:txBody>
          <a:bodyPr wrap="square" lIns="0" rIns="0" tIns="0" bIns="0" anchor="t">
            <a:spAutoFit/>
          </a:bodyPr>
          <a:lstStyle/>
          <a:p>
            <a:pPr algn="r"/>
            <a:r>
              <a:rPr sz="1100" b="0" i="0">
                <a:solidFill>
                  <a:srgbClr val="7A7A7A"/>
                </a:solidFill>
                <a:latin typeface="Calibri"/>
              </a:rPr>
              <a:t>/ 100</a:t>
            </a:r>
          </a:p>
        </p:txBody>
      </p:sp>
      <p:sp>
        <p:nvSpPr>
          <p:cNvPr id="63" name="Rounded Rectangle 62"/>
          <p:cNvSpPr/>
          <p:nvPr/>
        </p:nvSpPr>
        <p:spPr>
          <a:xfrm>
            <a:off x="4892040" y="914400"/>
            <a:ext cx="3886200" cy="4800600"/>
          </a:xfrm>
          <a:prstGeom prst="roundRect">
            <a:avLst>
              <a:gd name="adj" fmla="val 6000"/>
            </a:avLst>
          </a:prstGeom>
          <a:solidFill>
            <a:srgbClr val="F6F3F3"/>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5120640" y="1051560"/>
            <a:ext cx="3566160" cy="228600"/>
          </a:xfrm>
          <a:prstGeom prst="rect">
            <a:avLst/>
          </a:prstGeom>
          <a:noFill/>
        </p:spPr>
        <p:txBody>
          <a:bodyPr wrap="square" lIns="0" rIns="0" tIns="0" bIns="0" anchor="t">
            <a:spAutoFit/>
          </a:bodyPr>
          <a:lstStyle/>
          <a:p>
            <a:pPr algn="l"/>
            <a:r>
              <a:rPr sz="1000" b="1" i="0">
                <a:solidFill>
                  <a:srgbClr val="B7202E"/>
                </a:solidFill>
                <a:latin typeface="Calibri"/>
              </a:rPr>
              <a:t>RESULT · FROM OUR DONOR PAGE</a:t>
            </a:r>
          </a:p>
        </p:txBody>
      </p:sp>
      <p:sp>
        <p:nvSpPr>
          <p:cNvPr id="65" name="TextBox 64"/>
          <p:cNvSpPr txBox="1"/>
          <p:nvPr/>
        </p:nvSpPr>
        <p:spPr>
          <a:xfrm>
            <a:off x="5120640" y="1280160"/>
            <a:ext cx="1463040" cy="731520"/>
          </a:xfrm>
          <a:prstGeom prst="rect">
            <a:avLst/>
          </a:prstGeom>
          <a:noFill/>
        </p:spPr>
        <p:txBody>
          <a:bodyPr wrap="square" lIns="0" rIns="0" tIns="0" bIns="0" anchor="t">
            <a:spAutoFit/>
          </a:bodyPr>
          <a:lstStyle/>
          <a:p>
            <a:pPr algn="l"/>
            <a:r>
              <a:rPr sz="4400" b="1" i="0">
                <a:solidFill>
                  <a:srgbClr val="C00000"/>
                </a:solidFill>
                <a:latin typeface="Calibri"/>
              </a:rPr>
              <a:t>77</a:t>
            </a:r>
            <a:r>
              <a:rPr sz="1600" b="0" i="0">
                <a:solidFill>
                  <a:srgbClr val="7A7A7A"/>
                </a:solidFill>
                <a:latin typeface="Calibri"/>
              </a:rPr>
              <a:t> / 100</a:t>
            </a:r>
          </a:p>
        </p:txBody>
      </p:sp>
      <p:sp>
        <p:nvSpPr>
          <p:cNvPr id="66" name="TextBox 65"/>
          <p:cNvSpPr txBox="1"/>
          <p:nvPr/>
        </p:nvSpPr>
        <p:spPr>
          <a:xfrm>
            <a:off x="5120640" y="2011680"/>
            <a:ext cx="3474720" cy="365760"/>
          </a:xfrm>
          <a:prstGeom prst="rect">
            <a:avLst/>
          </a:prstGeom>
          <a:noFill/>
        </p:spPr>
        <p:txBody>
          <a:bodyPr wrap="square" lIns="0" rIns="0" tIns="0" bIns="0" anchor="t">
            <a:spAutoFit/>
          </a:bodyPr>
          <a:lstStyle/>
          <a:p>
            <a:pPr algn="l"/>
            <a:r>
              <a:rPr sz="1200" b="0" i="0">
                <a:solidFill>
                  <a:srgbClr val="1F1F1F"/>
                </a:solidFill>
                <a:latin typeface="Calibri"/>
              </a:rPr>
              <a:t>40 veg meals, 2 hours: Sneh Sadan is asked first.</a:t>
            </a:r>
          </a:p>
        </p:txBody>
      </p:sp>
      <p:graphicFrame>
        <p:nvGraphicFramePr>
          <p:cNvPr id="67" name="Chart 66"/>
          <p:cNvGraphicFramePr>
            <a:graphicFrameLocks noGrp="1"/>
          </p:cNvGraphicFramePr>
          <p:nvPr/>
        </p:nvGraphicFramePr>
        <p:xfrm>
          <a:off x="5029200" y="2377440"/>
          <a:ext cx="3611880" cy="2377440"/>
        </p:xfrm>
        <a:graphic>
          <a:graphicData uri="http://schemas.openxmlformats.org/drawingml/2006/chart">
            <c:chart xmlns:c="http://schemas.openxmlformats.org/drawingml/2006/chart" r:id="rId5"/>
          </a:graphicData>
        </a:graphic>
      </p:graphicFrame>
      <p:sp>
        <p:nvSpPr>
          <p:cNvPr id="68" name="TextBox 67"/>
          <p:cNvSpPr txBox="1"/>
          <p:nvPr/>
        </p:nvSpPr>
        <p:spPr>
          <a:xfrm>
            <a:off x="5120640" y="4846320"/>
            <a:ext cx="3520440" cy="822960"/>
          </a:xfrm>
          <a:prstGeom prst="rect">
            <a:avLst/>
          </a:prstGeom>
          <a:noFill/>
        </p:spPr>
        <p:txBody>
          <a:bodyPr wrap="square" lIns="0" rIns="0" tIns="0" bIns="0" anchor="t">
            <a:spAutoFit/>
          </a:bodyPr>
          <a:lstStyle/>
          <a:p>
            <a:pPr algn="l">
              <a:spcAft>
                <a:spcPts val="400"/>
              </a:spcAft>
            </a:pPr>
            <a:r>
              <a:rPr sz="1000" b="0" i="0">
                <a:solidFill>
                  <a:srgbClr val="4A4A4A"/>
                </a:solidFill>
                <a:latin typeface="Calibri"/>
              </a:rPr>
              <a:t>Prakash scores 0: it only has room for 25 meals, so it is filtered out before scoring.</a:t>
            </a:r>
          </a:p>
          <a:p>
            <a:pPr algn="l">
              <a:spcAft>
                <a:spcPts val="400"/>
              </a:spcAft>
            </a:pPr>
            <a:r>
              <a:rPr sz="1000" b="1" i="0">
                <a:solidFill>
                  <a:srgbClr val="1F1F1F"/>
                </a:solidFill>
                <a:latin typeface="Calibri"/>
              </a:rPr>
              <a:t>Testing: 35 of 35 browser checks pass on all 6 pages.</a:t>
            </a:r>
          </a:p>
        </p:txBody>
      </p:sp>
    </p:spTree>
    <p:extLst>
      <p:ext uri="{BB962C8B-B14F-4D97-AF65-F5344CB8AC3E}">
        <p14:creationId xmlns:p14="http://schemas.microsoft.com/office/powerpoint/2010/main" val="25628335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endParaRPr lang="en-US" dirty="0"/>
          </a:p>
        </p:txBody>
      </p:sp>
      <p:sp>
        <p:nvSpPr>
          <p:cNvPr id="5" name="Date Placeholder 4"/>
          <p:cNvSpPr>
            <a:spLocks noGrp="1"/>
          </p:cNvSpPr>
          <p:nvPr>
            <p:ph type="dt" sz="half" idx="10"/>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a:t>
            </a:fld>
            <a:endParaRPr lang="en-US" dirty="0"/>
          </a:p>
        </p:txBody>
      </p:sp>
      <p:sp>
        <p:nvSpPr>
          <p:cNvPr id="15" name="Title 1">
            <a:extLst>
              <a:ext uri="{FF2B5EF4-FFF2-40B4-BE49-F238E27FC236}">
                <a16:creationId xmlns:a16="http://schemas.microsoft.com/office/drawing/2014/main" id="{FC0AE158-2DA7-42D2-AAC5-BE89365BA6FF}"/>
              </a:ext>
            </a:extLst>
          </p:cNvPr>
          <p:cNvSpPr txBox="1">
            <a:spLocks/>
          </p:cNvSpPr>
          <p:nvPr/>
        </p:nvSpPr>
        <p:spPr>
          <a:xfrm>
            <a:off x="2743200" y="109728"/>
            <a:ext cx="5486400" cy="566928"/>
          </a:xfrm>
          <a:prstGeom prst="rect">
            <a:avLst/>
          </a:prstGeom>
        </p:spPr>
        <p:txBody>
          <a:bodyPr vert="horz" lIns="91440" tIns="45720" rIns="91440" bIns="45720" rtlCol="0" anchor="ctr">
            <a:noAutofit/>
          </a:bodyPr>
          <a:lstStyle>
            <a:lvl1pPr algn="l" defTabSz="1280160" rtl="0" eaLnBrk="1" latinLnBrk="0" hangingPunct="1">
              <a:lnSpc>
                <a:spcPct val="90000"/>
              </a:lnSpc>
              <a:spcBef>
                <a:spcPct val="0"/>
              </a:spcBef>
              <a:buNone/>
              <a:defRPr sz="5880" b="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algn="ctr">
              <a:spcBef>
                <a:spcPts val="0"/>
              </a:spcBef>
            </a:pPr>
            <a:r>
              <a:rPr sz="2800" b="1">
                <a:solidFill>
                  <a:srgbClr val="C00000"/>
                </a:solidFill>
                <a:latin typeface="Calibri"/>
              </a:rPr>
              <a:t>Implementation</a:t>
            </a:r>
            <a:endParaRPr lang="en-US" sz="1050" dirty="0"/>
          </a:p>
        </p:txBody>
      </p:sp>
      <p:pic>
        <p:nvPicPr>
          <p:cNvPr id="18"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05800" y="0"/>
            <a:ext cx="838200" cy="624765"/>
          </a:xfrm>
          <a:prstGeom prst="rect">
            <a:avLst/>
          </a:prstGeom>
        </p:spPr>
      </p:pic>
      <p:pic>
        <p:nvPicPr>
          <p:cNvPr id="19" name="Picture 18" descr="A picture containing drawing&#10;&#10;Description automatically generated">
            <a:extLst>
              <a:ext uri="{FF2B5EF4-FFF2-40B4-BE49-F238E27FC236}">
                <a16:creationId xmlns:a16="http://schemas.microsoft.com/office/drawing/2014/main" id="{C9DDECDA-AC01-47B8-B70B-458DA247878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2667000" cy="666750"/>
          </a:xfrm>
          <a:prstGeom prst="rect">
            <a:avLst/>
          </a:prstGeom>
        </p:spPr>
      </p:pic>
      <p:sp>
        <p:nvSpPr>
          <p:cNvPr id="2" name="Rectangle 1"/>
          <p:cNvSpPr/>
          <p:nvPr/>
        </p:nvSpPr>
        <p:spPr>
          <a:xfrm>
            <a:off x="685800" y="481663"/>
            <a:ext cx="1828800" cy="12793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extBox 19"/>
          <p:cNvSpPr txBox="1"/>
          <p:nvPr/>
        </p:nvSpPr>
        <p:spPr>
          <a:xfrm>
            <a:off x="457200" y="868680"/>
            <a:ext cx="8321040" cy="411480"/>
          </a:xfrm>
          <a:prstGeom prst="rect">
            <a:avLst/>
          </a:prstGeom>
          <a:noFill/>
        </p:spPr>
        <p:txBody>
          <a:bodyPr wrap="square" lIns="0" rIns="0" tIns="0" bIns="0" anchor="t">
            <a:spAutoFit/>
          </a:bodyPr>
          <a:lstStyle/>
          <a:p>
            <a:pPr algn="l"/>
            <a:r>
              <a:rPr sz="2000" b="1" i="0">
                <a:solidFill>
                  <a:srgbClr val="1F1F1F"/>
                </a:solidFill>
                <a:latin typeface="Calibri"/>
              </a:rPr>
              <a:t>6 simple pages, </a:t>
            </a:r>
            <a:r>
              <a:rPr sz="2000" b="1" i="1">
                <a:solidFill>
                  <a:srgbClr val="C00000"/>
                </a:solidFill>
                <a:latin typeface="Calibri"/>
              </a:rPr>
              <a:t>one pickup from start to finish.</a:t>
            </a:r>
          </a:p>
        </p:txBody>
      </p:sp>
      <p:sp>
        <p:nvSpPr>
          <p:cNvPr id="21" name="TextBox 20"/>
          <p:cNvSpPr txBox="1"/>
          <p:nvPr/>
        </p:nvSpPr>
        <p:spPr>
          <a:xfrm>
            <a:off x="457200" y="1325880"/>
            <a:ext cx="8321040" cy="320040"/>
          </a:xfrm>
          <a:prstGeom prst="rect">
            <a:avLst/>
          </a:prstGeom>
          <a:noFill/>
        </p:spPr>
        <p:txBody>
          <a:bodyPr wrap="square" lIns="0" rIns="0" tIns="0" bIns="0" anchor="t">
            <a:spAutoFit/>
          </a:bodyPr>
          <a:lstStyle/>
          <a:p>
            <a:pPr algn="l"/>
            <a:r>
              <a:rPr sz="1100" b="0" i="0">
                <a:solidFill>
                  <a:srgbClr val="4A4A4A"/>
                </a:solidFill>
                <a:latin typeface="Calibri"/>
              </a:rPr>
              <a:t>Built only with what we were taught: HTML, CSS and JavaScript, with no framework or library. One pickup (St. Xavier's → Sneh Sadan, code 4827) runs through every page.</a:t>
            </a:r>
          </a:p>
        </p:txBody>
      </p:sp>
      <p:pic>
        <p:nvPicPr>
          <p:cNvPr id="22" name="Picture 21" descr="b-donor.jpg"/>
          <p:cNvPicPr>
            <a:picLocks noChangeAspect="1"/>
          </p:cNvPicPr>
          <p:nvPr/>
        </p:nvPicPr>
        <p:blipFill>
          <a:blip r:embed="rId5"/>
          <a:stretch>
            <a:fillRect/>
          </a:stretch>
        </p:blipFill>
        <p:spPr>
          <a:xfrm>
            <a:off x="457200" y="1828800"/>
            <a:ext cx="2682240" cy="1674910"/>
          </a:xfrm>
          <a:prstGeom prst="rect">
            <a:avLst/>
          </a:prstGeom>
          <a:ln>
            <a:solidFill>
              <a:srgbClr val="D9D9D9"/>
            </a:solidFill>
          </a:ln>
        </p:spPr>
      </p:pic>
      <p:sp>
        <p:nvSpPr>
          <p:cNvPr id="23" name="TextBox 22"/>
          <p:cNvSpPr txBox="1"/>
          <p:nvPr/>
        </p:nvSpPr>
        <p:spPr>
          <a:xfrm>
            <a:off x="457200" y="3596640"/>
            <a:ext cx="2682240" cy="685800"/>
          </a:xfrm>
          <a:prstGeom prst="rect">
            <a:avLst/>
          </a:prstGeom>
          <a:noFill/>
        </p:spPr>
        <p:txBody>
          <a:bodyPr wrap="square" lIns="0" rIns="0" tIns="0" bIns="0" anchor="t">
            <a:spAutoFit/>
          </a:bodyPr>
          <a:lstStyle/>
          <a:p>
            <a:pPr algn="l"/>
            <a:r>
              <a:rPr sz="1200" b="1" i="0">
                <a:solidFill>
                  <a:srgbClr val="1F1F1F"/>
                </a:solidFill>
                <a:latin typeface="Calibri"/>
              </a:rPr>
              <a:t>Donor page</a:t>
            </a:r>
          </a:p>
          <a:p>
            <a:pPr algn="l"/>
            <a:r>
              <a:rPr sz="1000" b="0" i="0">
                <a:solidFill>
                  <a:srgbClr val="4A4A4A"/>
                </a:solidFill>
                <a:latin typeface="Calibri"/>
              </a:rPr>
              <a:t>Top 3 shelters, live countdown, expired food</a:t>
            </a:r>
          </a:p>
        </p:txBody>
      </p:sp>
      <p:pic>
        <p:nvPicPr>
          <p:cNvPr id="24" name="Picture 23" descr="b-recipient.jpg"/>
          <p:cNvPicPr>
            <a:picLocks noChangeAspect="1"/>
          </p:cNvPicPr>
          <p:nvPr/>
        </p:nvPicPr>
        <p:blipFill>
          <a:blip r:embed="rId6"/>
          <a:stretch>
            <a:fillRect/>
          </a:stretch>
        </p:blipFill>
        <p:spPr>
          <a:xfrm>
            <a:off x="3276599" y="1828800"/>
            <a:ext cx="2682240" cy="1674910"/>
          </a:xfrm>
          <a:prstGeom prst="rect">
            <a:avLst/>
          </a:prstGeom>
          <a:ln>
            <a:solidFill>
              <a:srgbClr val="D9D9D9"/>
            </a:solidFill>
          </a:ln>
        </p:spPr>
      </p:pic>
      <p:sp>
        <p:nvSpPr>
          <p:cNvPr id="25" name="TextBox 24"/>
          <p:cNvSpPr txBox="1"/>
          <p:nvPr/>
        </p:nvSpPr>
        <p:spPr>
          <a:xfrm>
            <a:off x="3276599" y="3596640"/>
            <a:ext cx="2682240" cy="685800"/>
          </a:xfrm>
          <a:prstGeom prst="rect">
            <a:avLst/>
          </a:prstGeom>
          <a:noFill/>
        </p:spPr>
        <p:txBody>
          <a:bodyPr wrap="square" lIns="0" rIns="0" tIns="0" bIns="0" anchor="t">
            <a:spAutoFit/>
          </a:bodyPr>
          <a:lstStyle/>
          <a:p>
            <a:pPr algn="l"/>
            <a:r>
              <a:rPr sz="1200" b="1" i="0">
                <a:solidFill>
                  <a:srgbClr val="1F1F1F"/>
                </a:solidFill>
                <a:latin typeface="Calibri"/>
              </a:rPr>
              <a:t>Recipient page</a:t>
            </a:r>
          </a:p>
          <a:p>
            <a:pPr algn="l"/>
            <a:r>
              <a:rPr sz="1000" b="0" i="0">
                <a:solidFill>
                  <a:srgbClr val="4A4A4A"/>
                </a:solidFill>
                <a:latin typeface="Calibri"/>
              </a:rPr>
              <a:t>Sorted offers, "Why?" breakdown, room left</a:t>
            </a:r>
          </a:p>
        </p:txBody>
      </p:sp>
      <p:pic>
        <p:nvPicPr>
          <p:cNvPr id="26" name="Picture 25" descr="b-map.jpg"/>
          <p:cNvPicPr>
            <a:picLocks noChangeAspect="1"/>
          </p:cNvPicPr>
          <p:nvPr/>
        </p:nvPicPr>
        <p:blipFill>
          <a:blip r:embed="rId7"/>
          <a:stretch>
            <a:fillRect/>
          </a:stretch>
        </p:blipFill>
        <p:spPr>
          <a:xfrm>
            <a:off x="6095999" y="1828800"/>
            <a:ext cx="2682240" cy="1674910"/>
          </a:xfrm>
          <a:prstGeom prst="rect">
            <a:avLst/>
          </a:prstGeom>
          <a:ln>
            <a:solidFill>
              <a:srgbClr val="D9D9D9"/>
            </a:solidFill>
          </a:ln>
        </p:spPr>
      </p:pic>
      <p:sp>
        <p:nvSpPr>
          <p:cNvPr id="27" name="TextBox 26"/>
          <p:cNvSpPr txBox="1"/>
          <p:nvPr/>
        </p:nvSpPr>
        <p:spPr>
          <a:xfrm>
            <a:off x="6095999" y="3596640"/>
            <a:ext cx="2682240" cy="685800"/>
          </a:xfrm>
          <a:prstGeom prst="rect">
            <a:avLst/>
          </a:prstGeom>
          <a:noFill/>
        </p:spPr>
        <p:txBody>
          <a:bodyPr wrap="square" lIns="0" rIns="0" tIns="0" bIns="0" anchor="t">
            <a:spAutoFit/>
          </a:bodyPr>
          <a:lstStyle/>
          <a:p>
            <a:pPr algn="l"/>
            <a:r>
              <a:rPr sz="1200" b="1" i="0">
                <a:solidFill>
                  <a:srgbClr val="1F1F1F"/>
                </a:solidFill>
                <a:latin typeface="Calibri"/>
              </a:rPr>
              <a:t>Map page</a:t>
            </a:r>
          </a:p>
          <a:p>
            <a:pPr algn="l"/>
            <a:r>
              <a:rPr sz="1000" b="0" i="0">
                <a:solidFill>
                  <a:srgbClr val="4A4A4A"/>
                </a:solidFill>
                <a:latin typeface="Calibri"/>
              </a:rPr>
              <a:t>Driving route from our kitchen to each shelter</a:t>
            </a:r>
          </a:p>
        </p:txBody>
      </p:sp>
      <p:sp>
        <p:nvSpPr>
          <p:cNvPr id="28" name="TextBox 27"/>
          <p:cNvSpPr txBox="1"/>
          <p:nvPr/>
        </p:nvSpPr>
        <p:spPr>
          <a:xfrm>
            <a:off x="457200" y="4370832"/>
            <a:ext cx="5486400" cy="228600"/>
          </a:xfrm>
          <a:prstGeom prst="rect">
            <a:avLst/>
          </a:prstGeom>
          <a:noFill/>
        </p:spPr>
        <p:txBody>
          <a:bodyPr wrap="square" lIns="0" rIns="0" tIns="0" bIns="0" anchor="t">
            <a:spAutoFit/>
          </a:bodyPr>
          <a:lstStyle/>
          <a:p>
            <a:pPr algn="l"/>
            <a:r>
              <a:rPr sz="1000" b="1" i="0">
                <a:solidFill>
                  <a:srgbClr val="C00000"/>
                </a:solidFill>
                <a:latin typeface="Calibri"/>
              </a:rPr>
              <a:t>HOW WE BUILT IT</a:t>
            </a:r>
          </a:p>
        </p:txBody>
      </p:sp>
      <p:sp>
        <p:nvSpPr>
          <p:cNvPr id="29" name="Rounded Rectangle 28"/>
          <p:cNvSpPr/>
          <p:nvPr/>
        </p:nvSpPr>
        <p:spPr>
          <a:xfrm>
            <a:off x="457200" y="4599432"/>
            <a:ext cx="1147528" cy="292608"/>
          </a:xfrm>
          <a:prstGeom prst="roundRect">
            <a:avLst>
              <a:gd name="adj" fmla="val 30000"/>
            </a:avLst>
          </a:prstGeom>
          <a:solidFill>
            <a:srgbClr val="F6F3F3"/>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7200" y="4599432"/>
            <a:ext cx="1147528" cy="292608"/>
          </a:xfrm>
          <a:prstGeom prst="rect">
            <a:avLst/>
          </a:prstGeom>
          <a:noFill/>
        </p:spPr>
        <p:txBody>
          <a:bodyPr wrap="square" lIns="0" rIns="0" tIns="0" bIns="0" anchor="ctr">
            <a:spAutoFit/>
          </a:bodyPr>
          <a:lstStyle/>
          <a:p>
            <a:pPr algn="ctr"/>
            <a:r>
              <a:rPr sz="950" b="0" i="0">
                <a:solidFill>
                  <a:srgbClr val="1F1F1F"/>
                </a:solidFill>
                <a:latin typeface="Calibri"/>
              </a:rPr>
              <a:t>Requirements</a:t>
            </a:r>
          </a:p>
        </p:txBody>
      </p:sp>
      <p:sp>
        <p:nvSpPr>
          <p:cNvPr id="31" name="TextBox 30"/>
          <p:cNvSpPr txBox="1"/>
          <p:nvPr/>
        </p:nvSpPr>
        <p:spPr>
          <a:xfrm>
            <a:off x="1604728" y="4599432"/>
            <a:ext cx="164592" cy="292608"/>
          </a:xfrm>
          <a:prstGeom prst="rect">
            <a:avLst/>
          </a:prstGeom>
          <a:noFill/>
        </p:spPr>
        <p:txBody>
          <a:bodyPr wrap="square" lIns="0" rIns="0" tIns="0" bIns="0" anchor="ctr">
            <a:spAutoFit/>
          </a:bodyPr>
          <a:lstStyle/>
          <a:p>
            <a:pPr algn="ctr"/>
            <a:r>
              <a:rPr sz="1200" b="1" i="0">
                <a:solidFill>
                  <a:srgbClr val="7A7A7A"/>
                </a:solidFill>
                <a:latin typeface="Calibri"/>
              </a:rPr>
              <a:t>›</a:t>
            </a:r>
          </a:p>
        </p:txBody>
      </p:sp>
      <p:sp>
        <p:nvSpPr>
          <p:cNvPr id="32" name="Rounded Rectangle 31"/>
          <p:cNvSpPr/>
          <p:nvPr/>
        </p:nvSpPr>
        <p:spPr>
          <a:xfrm>
            <a:off x="1769320" y="4599432"/>
            <a:ext cx="937765" cy="292608"/>
          </a:xfrm>
          <a:prstGeom prst="roundRect">
            <a:avLst>
              <a:gd name="adj" fmla="val 30000"/>
            </a:avLst>
          </a:prstGeom>
          <a:solidFill>
            <a:srgbClr val="F6F3F3"/>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769320" y="4599432"/>
            <a:ext cx="937765" cy="292608"/>
          </a:xfrm>
          <a:prstGeom prst="rect">
            <a:avLst/>
          </a:prstGeom>
          <a:noFill/>
        </p:spPr>
        <p:txBody>
          <a:bodyPr wrap="square" lIns="0" rIns="0" tIns="0" bIns="0" anchor="ctr">
            <a:spAutoFit/>
          </a:bodyPr>
          <a:lstStyle/>
          <a:p>
            <a:pPr algn="ctr"/>
            <a:r>
              <a:rPr sz="950" b="0" i="0">
                <a:solidFill>
                  <a:srgbClr val="1F1F1F"/>
                </a:solidFill>
                <a:latin typeface="Calibri"/>
              </a:rPr>
              <a:t>Use cases</a:t>
            </a:r>
          </a:p>
        </p:txBody>
      </p:sp>
      <p:sp>
        <p:nvSpPr>
          <p:cNvPr id="34" name="TextBox 33"/>
          <p:cNvSpPr txBox="1"/>
          <p:nvPr/>
        </p:nvSpPr>
        <p:spPr>
          <a:xfrm>
            <a:off x="2707085" y="4599432"/>
            <a:ext cx="164592" cy="292608"/>
          </a:xfrm>
          <a:prstGeom prst="rect">
            <a:avLst/>
          </a:prstGeom>
          <a:noFill/>
        </p:spPr>
        <p:txBody>
          <a:bodyPr wrap="square" lIns="0" rIns="0" tIns="0" bIns="0" anchor="ctr">
            <a:spAutoFit/>
          </a:bodyPr>
          <a:lstStyle/>
          <a:p>
            <a:pPr algn="ctr"/>
            <a:r>
              <a:rPr sz="1200" b="1" i="0">
                <a:solidFill>
                  <a:srgbClr val="7A7A7A"/>
                </a:solidFill>
                <a:latin typeface="Calibri"/>
              </a:rPr>
              <a:t>›</a:t>
            </a:r>
          </a:p>
        </p:txBody>
      </p:sp>
      <p:sp>
        <p:nvSpPr>
          <p:cNvPr id="35" name="Rounded Rectangle 34"/>
          <p:cNvSpPr/>
          <p:nvPr/>
        </p:nvSpPr>
        <p:spPr>
          <a:xfrm>
            <a:off x="2871677" y="4599432"/>
            <a:ext cx="937765" cy="292608"/>
          </a:xfrm>
          <a:prstGeom prst="roundRect">
            <a:avLst>
              <a:gd name="adj" fmla="val 30000"/>
            </a:avLst>
          </a:prstGeom>
          <a:solidFill>
            <a:srgbClr val="F6F3F3"/>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871677" y="4599432"/>
            <a:ext cx="937765" cy="292608"/>
          </a:xfrm>
          <a:prstGeom prst="rect">
            <a:avLst/>
          </a:prstGeom>
          <a:noFill/>
        </p:spPr>
        <p:txBody>
          <a:bodyPr wrap="square" lIns="0" rIns="0" tIns="0" bIns="0" anchor="ctr">
            <a:spAutoFit/>
          </a:bodyPr>
          <a:lstStyle/>
          <a:p>
            <a:pPr algn="ctr"/>
            <a:r>
              <a:rPr sz="950" b="0" i="0">
                <a:solidFill>
                  <a:srgbClr val="1F1F1F"/>
                </a:solidFill>
                <a:latin typeface="Calibri"/>
              </a:rPr>
              <a:t>UI design</a:t>
            </a:r>
          </a:p>
        </p:txBody>
      </p:sp>
      <p:sp>
        <p:nvSpPr>
          <p:cNvPr id="37" name="TextBox 36"/>
          <p:cNvSpPr txBox="1"/>
          <p:nvPr/>
        </p:nvSpPr>
        <p:spPr>
          <a:xfrm>
            <a:off x="3809442" y="4599432"/>
            <a:ext cx="164592" cy="292608"/>
          </a:xfrm>
          <a:prstGeom prst="rect">
            <a:avLst/>
          </a:prstGeom>
          <a:noFill/>
        </p:spPr>
        <p:txBody>
          <a:bodyPr wrap="square" lIns="0" rIns="0" tIns="0" bIns="0" anchor="ctr">
            <a:spAutoFit/>
          </a:bodyPr>
          <a:lstStyle/>
          <a:p>
            <a:pPr algn="ctr"/>
            <a:r>
              <a:rPr sz="1200" b="1" i="0">
                <a:solidFill>
                  <a:srgbClr val="7A7A7A"/>
                </a:solidFill>
                <a:latin typeface="Calibri"/>
              </a:rPr>
              <a:t>›</a:t>
            </a:r>
          </a:p>
        </p:txBody>
      </p:sp>
      <p:sp>
        <p:nvSpPr>
          <p:cNvPr id="38" name="Rounded Rectangle 37"/>
          <p:cNvSpPr/>
          <p:nvPr/>
        </p:nvSpPr>
        <p:spPr>
          <a:xfrm>
            <a:off x="3974034" y="4599432"/>
            <a:ext cx="1007686" cy="292608"/>
          </a:xfrm>
          <a:prstGeom prst="roundRect">
            <a:avLst>
              <a:gd name="adj" fmla="val 30000"/>
            </a:avLst>
          </a:prstGeom>
          <a:solidFill>
            <a:srgbClr val="F6F3F3"/>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974034" y="4599432"/>
            <a:ext cx="1007686" cy="292608"/>
          </a:xfrm>
          <a:prstGeom prst="rect">
            <a:avLst/>
          </a:prstGeom>
          <a:noFill/>
        </p:spPr>
        <p:txBody>
          <a:bodyPr wrap="square" lIns="0" rIns="0" tIns="0" bIns="0" anchor="ctr">
            <a:spAutoFit/>
          </a:bodyPr>
          <a:lstStyle/>
          <a:p>
            <a:pPr algn="ctr"/>
            <a:r>
              <a:rPr sz="950" b="0" i="0">
                <a:solidFill>
                  <a:srgbClr val="1F1F1F"/>
                </a:solidFill>
                <a:latin typeface="Calibri"/>
              </a:rPr>
              <a:t>HTML pages</a:t>
            </a:r>
          </a:p>
        </p:txBody>
      </p:sp>
      <p:sp>
        <p:nvSpPr>
          <p:cNvPr id="40" name="TextBox 39"/>
          <p:cNvSpPr txBox="1"/>
          <p:nvPr/>
        </p:nvSpPr>
        <p:spPr>
          <a:xfrm>
            <a:off x="4981720" y="4599432"/>
            <a:ext cx="164592" cy="292608"/>
          </a:xfrm>
          <a:prstGeom prst="rect">
            <a:avLst/>
          </a:prstGeom>
          <a:noFill/>
        </p:spPr>
        <p:txBody>
          <a:bodyPr wrap="square" lIns="0" rIns="0" tIns="0" bIns="0" anchor="ctr">
            <a:spAutoFit/>
          </a:bodyPr>
          <a:lstStyle/>
          <a:p>
            <a:pPr algn="ctr"/>
            <a:r>
              <a:rPr sz="1200" b="1" i="0">
                <a:solidFill>
                  <a:srgbClr val="7A7A7A"/>
                </a:solidFill>
                <a:latin typeface="Calibri"/>
              </a:rPr>
              <a:t>›</a:t>
            </a:r>
          </a:p>
        </p:txBody>
      </p:sp>
      <p:sp>
        <p:nvSpPr>
          <p:cNvPr id="41" name="Rounded Rectangle 40"/>
          <p:cNvSpPr/>
          <p:nvPr/>
        </p:nvSpPr>
        <p:spPr>
          <a:xfrm>
            <a:off x="5146312" y="4599432"/>
            <a:ext cx="1077607" cy="292608"/>
          </a:xfrm>
          <a:prstGeom prst="roundRect">
            <a:avLst>
              <a:gd name="adj" fmla="val 30000"/>
            </a:avLst>
          </a:prstGeom>
          <a:solidFill>
            <a:srgbClr val="F6F3F3"/>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146312" y="4599432"/>
            <a:ext cx="1077607" cy="292608"/>
          </a:xfrm>
          <a:prstGeom prst="rect">
            <a:avLst/>
          </a:prstGeom>
          <a:noFill/>
        </p:spPr>
        <p:txBody>
          <a:bodyPr wrap="square" lIns="0" rIns="0" tIns="0" bIns="0" anchor="ctr">
            <a:spAutoFit/>
          </a:bodyPr>
          <a:lstStyle/>
          <a:p>
            <a:pPr algn="ctr"/>
            <a:r>
              <a:rPr sz="950" b="0" i="0">
                <a:solidFill>
                  <a:srgbClr val="1F1F1F"/>
                </a:solidFill>
                <a:latin typeface="Calibri"/>
              </a:rPr>
              <a:t>CSS styling</a:t>
            </a:r>
          </a:p>
        </p:txBody>
      </p:sp>
      <p:sp>
        <p:nvSpPr>
          <p:cNvPr id="43" name="TextBox 42"/>
          <p:cNvSpPr txBox="1"/>
          <p:nvPr/>
        </p:nvSpPr>
        <p:spPr>
          <a:xfrm>
            <a:off x="6223920" y="4599432"/>
            <a:ext cx="164592" cy="292608"/>
          </a:xfrm>
          <a:prstGeom prst="rect">
            <a:avLst/>
          </a:prstGeom>
          <a:noFill/>
        </p:spPr>
        <p:txBody>
          <a:bodyPr wrap="square" lIns="0" rIns="0" tIns="0" bIns="0" anchor="ctr">
            <a:spAutoFit/>
          </a:bodyPr>
          <a:lstStyle/>
          <a:p>
            <a:pPr algn="ctr"/>
            <a:r>
              <a:rPr sz="1200" b="1" i="0">
                <a:solidFill>
                  <a:srgbClr val="7A7A7A"/>
                </a:solidFill>
                <a:latin typeface="Calibri"/>
              </a:rPr>
              <a:t>›</a:t>
            </a:r>
          </a:p>
        </p:txBody>
      </p:sp>
      <p:sp>
        <p:nvSpPr>
          <p:cNvPr id="44" name="Rounded Rectangle 43"/>
          <p:cNvSpPr/>
          <p:nvPr/>
        </p:nvSpPr>
        <p:spPr>
          <a:xfrm>
            <a:off x="6388512" y="4599432"/>
            <a:ext cx="1427212" cy="292608"/>
          </a:xfrm>
          <a:prstGeom prst="roundRect">
            <a:avLst>
              <a:gd name="adj" fmla="val 30000"/>
            </a:avLst>
          </a:prstGeom>
          <a:solidFill>
            <a:srgbClr val="F6F3F3"/>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388512" y="4599432"/>
            <a:ext cx="1427212" cy="292608"/>
          </a:xfrm>
          <a:prstGeom prst="rect">
            <a:avLst/>
          </a:prstGeom>
          <a:noFill/>
        </p:spPr>
        <p:txBody>
          <a:bodyPr wrap="square" lIns="0" rIns="0" tIns="0" bIns="0" anchor="ctr">
            <a:spAutoFit/>
          </a:bodyPr>
          <a:lstStyle/>
          <a:p>
            <a:pPr algn="ctr"/>
            <a:r>
              <a:rPr sz="950" b="0" i="0">
                <a:solidFill>
                  <a:srgbClr val="1F1F1F"/>
                </a:solidFill>
                <a:latin typeface="Calibri"/>
              </a:rPr>
              <a:t>JavaScript + DOM</a:t>
            </a:r>
          </a:p>
        </p:txBody>
      </p:sp>
      <p:sp>
        <p:nvSpPr>
          <p:cNvPr id="46" name="TextBox 45"/>
          <p:cNvSpPr txBox="1"/>
          <p:nvPr/>
        </p:nvSpPr>
        <p:spPr>
          <a:xfrm>
            <a:off x="7815725" y="4599432"/>
            <a:ext cx="164592" cy="292608"/>
          </a:xfrm>
          <a:prstGeom prst="rect">
            <a:avLst/>
          </a:prstGeom>
          <a:noFill/>
        </p:spPr>
        <p:txBody>
          <a:bodyPr wrap="square" lIns="0" rIns="0" tIns="0" bIns="0" anchor="ctr">
            <a:spAutoFit/>
          </a:bodyPr>
          <a:lstStyle/>
          <a:p>
            <a:pPr algn="ctr"/>
            <a:r>
              <a:rPr sz="1200" b="1" i="0">
                <a:solidFill>
                  <a:srgbClr val="7A7A7A"/>
                </a:solidFill>
                <a:latin typeface="Calibri"/>
              </a:rPr>
              <a:t>›</a:t>
            </a:r>
          </a:p>
        </p:txBody>
      </p:sp>
      <p:sp>
        <p:nvSpPr>
          <p:cNvPr id="47" name="Rounded Rectangle 46"/>
          <p:cNvSpPr/>
          <p:nvPr/>
        </p:nvSpPr>
        <p:spPr>
          <a:xfrm>
            <a:off x="7980317" y="4599432"/>
            <a:ext cx="797922" cy="292608"/>
          </a:xfrm>
          <a:prstGeom prst="roundRect">
            <a:avLst>
              <a:gd name="adj" fmla="val 30000"/>
            </a:avLst>
          </a:prstGeom>
          <a:solidFill>
            <a:srgbClr val="F6F3F3"/>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980317" y="4599432"/>
            <a:ext cx="797922" cy="292608"/>
          </a:xfrm>
          <a:prstGeom prst="rect">
            <a:avLst/>
          </a:prstGeom>
          <a:noFill/>
        </p:spPr>
        <p:txBody>
          <a:bodyPr wrap="square" lIns="0" rIns="0" tIns="0" bIns="0" anchor="ctr">
            <a:spAutoFit/>
          </a:bodyPr>
          <a:lstStyle/>
          <a:p>
            <a:pPr algn="ctr"/>
            <a:r>
              <a:rPr sz="950" b="0" i="0">
                <a:solidFill>
                  <a:srgbClr val="1F1F1F"/>
                </a:solidFill>
                <a:latin typeface="Calibri"/>
              </a:rPr>
              <a:t>Testing</a:t>
            </a:r>
          </a:p>
        </p:txBody>
      </p:sp>
      <p:sp>
        <p:nvSpPr>
          <p:cNvPr id="49" name="TextBox 48"/>
          <p:cNvSpPr txBox="1"/>
          <p:nvPr/>
        </p:nvSpPr>
        <p:spPr>
          <a:xfrm>
            <a:off x="457200" y="5047488"/>
            <a:ext cx="5486400" cy="228600"/>
          </a:xfrm>
          <a:prstGeom prst="rect">
            <a:avLst/>
          </a:prstGeom>
          <a:noFill/>
        </p:spPr>
        <p:txBody>
          <a:bodyPr wrap="square" lIns="0" rIns="0" tIns="0" bIns="0" anchor="t">
            <a:spAutoFit/>
          </a:bodyPr>
          <a:lstStyle/>
          <a:p>
            <a:pPr algn="l"/>
            <a:r>
              <a:rPr sz="1000" b="1" i="0">
                <a:solidFill>
                  <a:srgbClr val="7A7A7A"/>
                </a:solidFill>
                <a:latin typeface="Calibri"/>
              </a:rPr>
              <a:t>BUILT WITH</a:t>
            </a:r>
          </a:p>
        </p:txBody>
      </p:sp>
      <p:sp>
        <p:nvSpPr>
          <p:cNvPr id="50" name="Rounded Rectangle 49"/>
          <p:cNvSpPr/>
          <p:nvPr/>
        </p:nvSpPr>
        <p:spPr>
          <a:xfrm>
            <a:off x="457200" y="5276088"/>
            <a:ext cx="713513" cy="292608"/>
          </a:xfrm>
          <a:prstGeom prst="roundRect">
            <a:avLst>
              <a:gd name="adj" fmla="val 50000"/>
            </a:avLst>
          </a:prstGeom>
          <a:solidFill>
            <a:srgbClr val="F7E9E9"/>
          </a:solidFill>
          <a:ln w="12700">
            <a:solidFill>
              <a:srgbClr val="E6C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57200" y="5276088"/>
            <a:ext cx="713513" cy="292608"/>
          </a:xfrm>
          <a:prstGeom prst="rect">
            <a:avLst/>
          </a:prstGeom>
          <a:noFill/>
        </p:spPr>
        <p:txBody>
          <a:bodyPr wrap="square" lIns="0" rIns="0" tIns="0" bIns="0" anchor="ctr">
            <a:spAutoFit/>
          </a:bodyPr>
          <a:lstStyle/>
          <a:p>
            <a:pPr algn="ctr"/>
            <a:r>
              <a:rPr sz="1000" b="0" i="0">
                <a:solidFill>
                  <a:srgbClr val="B7202E"/>
                </a:solidFill>
                <a:latin typeface="Calibri"/>
              </a:rPr>
              <a:t>HTML5</a:t>
            </a:r>
          </a:p>
        </p:txBody>
      </p:sp>
      <p:sp>
        <p:nvSpPr>
          <p:cNvPr id="52" name="Rounded Rectangle 51"/>
          <p:cNvSpPr/>
          <p:nvPr/>
        </p:nvSpPr>
        <p:spPr>
          <a:xfrm>
            <a:off x="1262153" y="5276088"/>
            <a:ext cx="631813" cy="292608"/>
          </a:xfrm>
          <a:prstGeom prst="roundRect">
            <a:avLst>
              <a:gd name="adj" fmla="val 50000"/>
            </a:avLst>
          </a:prstGeom>
          <a:solidFill>
            <a:srgbClr val="F7E9E9"/>
          </a:solidFill>
          <a:ln w="12700">
            <a:solidFill>
              <a:srgbClr val="E6C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262153" y="5276088"/>
            <a:ext cx="631813" cy="292608"/>
          </a:xfrm>
          <a:prstGeom prst="rect">
            <a:avLst/>
          </a:prstGeom>
          <a:noFill/>
        </p:spPr>
        <p:txBody>
          <a:bodyPr wrap="square" lIns="0" rIns="0" tIns="0" bIns="0" anchor="ctr">
            <a:spAutoFit/>
          </a:bodyPr>
          <a:lstStyle/>
          <a:p>
            <a:pPr algn="ctr"/>
            <a:r>
              <a:rPr sz="1000" b="0" i="0">
                <a:solidFill>
                  <a:srgbClr val="B7202E"/>
                </a:solidFill>
                <a:latin typeface="Calibri"/>
              </a:rPr>
              <a:t>CSS3</a:t>
            </a:r>
          </a:p>
        </p:txBody>
      </p:sp>
      <p:sp>
        <p:nvSpPr>
          <p:cNvPr id="54" name="Rounded Rectangle 53"/>
          <p:cNvSpPr/>
          <p:nvPr/>
        </p:nvSpPr>
        <p:spPr>
          <a:xfrm>
            <a:off x="1985407" y="5276088"/>
            <a:ext cx="1122014" cy="292608"/>
          </a:xfrm>
          <a:prstGeom prst="roundRect">
            <a:avLst>
              <a:gd name="adj" fmla="val 50000"/>
            </a:avLst>
          </a:prstGeom>
          <a:solidFill>
            <a:srgbClr val="F7E9E9"/>
          </a:solidFill>
          <a:ln w="12700">
            <a:solidFill>
              <a:srgbClr val="E6C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985407" y="5276088"/>
            <a:ext cx="1122014" cy="292608"/>
          </a:xfrm>
          <a:prstGeom prst="rect">
            <a:avLst/>
          </a:prstGeom>
          <a:noFill/>
        </p:spPr>
        <p:txBody>
          <a:bodyPr wrap="square" lIns="0" rIns="0" tIns="0" bIns="0" anchor="ctr">
            <a:spAutoFit/>
          </a:bodyPr>
          <a:lstStyle/>
          <a:p>
            <a:pPr algn="ctr"/>
            <a:r>
              <a:rPr sz="1000" b="0" i="0">
                <a:solidFill>
                  <a:srgbClr val="B7202E"/>
                </a:solidFill>
                <a:latin typeface="Calibri"/>
              </a:rPr>
              <a:t>JavaScript</a:t>
            </a:r>
          </a:p>
        </p:txBody>
      </p:sp>
      <p:sp>
        <p:nvSpPr>
          <p:cNvPr id="56" name="Rounded Rectangle 55"/>
          <p:cNvSpPr/>
          <p:nvPr/>
        </p:nvSpPr>
        <p:spPr>
          <a:xfrm>
            <a:off x="3198862" y="5276088"/>
            <a:ext cx="1285414" cy="292608"/>
          </a:xfrm>
          <a:prstGeom prst="roundRect">
            <a:avLst>
              <a:gd name="adj" fmla="val 50000"/>
            </a:avLst>
          </a:prstGeom>
          <a:solidFill>
            <a:srgbClr val="F7E9E9"/>
          </a:solidFill>
          <a:ln w="12700">
            <a:solidFill>
              <a:srgbClr val="E6C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3198862" y="5276088"/>
            <a:ext cx="1285414" cy="292608"/>
          </a:xfrm>
          <a:prstGeom prst="rect">
            <a:avLst/>
          </a:prstGeom>
          <a:noFill/>
        </p:spPr>
        <p:txBody>
          <a:bodyPr wrap="square" lIns="0" rIns="0" tIns="0" bIns="0" anchor="ctr">
            <a:spAutoFit/>
          </a:bodyPr>
          <a:lstStyle/>
          <a:p>
            <a:pPr algn="ctr"/>
            <a:r>
              <a:rPr sz="1000" b="0" i="0">
                <a:solidFill>
                  <a:srgbClr val="B7202E"/>
                </a:solidFill>
                <a:latin typeface="Calibri"/>
              </a:rPr>
              <a:t>DOM + events</a:t>
            </a:r>
          </a:p>
        </p:txBody>
      </p:sp>
      <p:sp>
        <p:nvSpPr>
          <p:cNvPr id="58" name="Rounded Rectangle 57"/>
          <p:cNvSpPr/>
          <p:nvPr/>
        </p:nvSpPr>
        <p:spPr>
          <a:xfrm>
            <a:off x="4575716" y="5276088"/>
            <a:ext cx="958614" cy="292608"/>
          </a:xfrm>
          <a:prstGeom prst="roundRect">
            <a:avLst>
              <a:gd name="adj" fmla="val 50000"/>
            </a:avLst>
          </a:prstGeom>
          <a:solidFill>
            <a:srgbClr val="F7E9E9"/>
          </a:solidFill>
          <a:ln w="12700">
            <a:solidFill>
              <a:srgbClr val="E6C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575716" y="5276088"/>
            <a:ext cx="958614" cy="292608"/>
          </a:xfrm>
          <a:prstGeom prst="rect">
            <a:avLst/>
          </a:prstGeom>
          <a:noFill/>
        </p:spPr>
        <p:txBody>
          <a:bodyPr wrap="square" lIns="0" rIns="0" tIns="0" bIns="0" anchor="ctr">
            <a:spAutoFit/>
          </a:bodyPr>
          <a:lstStyle/>
          <a:p>
            <a:pPr algn="ctr"/>
            <a:r>
              <a:rPr sz="1000" b="0" i="0">
                <a:solidFill>
                  <a:srgbClr val="B7202E"/>
                </a:solidFill>
                <a:latin typeface="Calibri"/>
              </a:rPr>
              <a:t>Promises</a:t>
            </a:r>
          </a:p>
        </p:txBody>
      </p:sp>
      <p:sp>
        <p:nvSpPr>
          <p:cNvPr id="60" name="Rounded Rectangle 59"/>
          <p:cNvSpPr/>
          <p:nvPr/>
        </p:nvSpPr>
        <p:spPr>
          <a:xfrm>
            <a:off x="5625770" y="5276088"/>
            <a:ext cx="1775614" cy="292608"/>
          </a:xfrm>
          <a:prstGeom prst="roundRect">
            <a:avLst>
              <a:gd name="adj" fmla="val 50000"/>
            </a:avLst>
          </a:prstGeom>
          <a:solidFill>
            <a:srgbClr val="F7E9E9"/>
          </a:solidFill>
          <a:ln w="12700">
            <a:solidFill>
              <a:srgbClr val="E6C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625770" y="5276088"/>
            <a:ext cx="1775614" cy="292608"/>
          </a:xfrm>
          <a:prstGeom prst="rect">
            <a:avLst/>
          </a:prstGeom>
          <a:noFill/>
        </p:spPr>
        <p:txBody>
          <a:bodyPr wrap="square" lIns="0" rIns="0" tIns="0" bIns="0" anchor="ctr">
            <a:spAutoFit/>
          </a:bodyPr>
          <a:lstStyle/>
          <a:p>
            <a:pPr algn="ctr"/>
            <a:r>
              <a:rPr sz="1000" b="0" i="0">
                <a:solidFill>
                  <a:srgbClr val="B7202E"/>
                </a:solidFill>
                <a:latin typeface="Calibri"/>
              </a:rPr>
              <a:t>Google Maps iframe</a:t>
            </a:r>
          </a:p>
        </p:txBody>
      </p:sp>
      <p:sp>
        <p:nvSpPr>
          <p:cNvPr id="62" name="Rounded Rectangle 61"/>
          <p:cNvSpPr/>
          <p:nvPr/>
        </p:nvSpPr>
        <p:spPr>
          <a:xfrm>
            <a:off x="7492825" y="5276088"/>
            <a:ext cx="1285414" cy="292608"/>
          </a:xfrm>
          <a:prstGeom prst="roundRect">
            <a:avLst>
              <a:gd name="adj" fmla="val 50000"/>
            </a:avLst>
          </a:prstGeom>
          <a:solidFill>
            <a:srgbClr val="F7E9E9"/>
          </a:solidFill>
          <a:ln w="12700">
            <a:solidFill>
              <a:srgbClr val="E6C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7492825" y="5276088"/>
            <a:ext cx="1285414" cy="292608"/>
          </a:xfrm>
          <a:prstGeom prst="rect">
            <a:avLst/>
          </a:prstGeom>
          <a:noFill/>
        </p:spPr>
        <p:txBody>
          <a:bodyPr wrap="square" lIns="0" rIns="0" tIns="0" bIns="0" anchor="ctr">
            <a:spAutoFit/>
          </a:bodyPr>
          <a:lstStyle/>
          <a:p>
            <a:pPr algn="ctr"/>
            <a:r>
              <a:rPr sz="1000" b="0" i="0">
                <a:solidFill>
                  <a:srgbClr val="B7202E"/>
                </a:solidFill>
                <a:latin typeface="Calibri"/>
              </a:rPr>
              <a:t>Git &amp; GitHub</a:t>
            </a:r>
          </a:p>
        </p:txBody>
      </p:sp>
      <p:sp>
        <p:nvSpPr>
          <p:cNvPr id="64" name="TextBox 63"/>
          <p:cNvSpPr txBox="1"/>
          <p:nvPr/>
        </p:nvSpPr>
        <p:spPr>
          <a:xfrm>
            <a:off x="6309360" y="5047488"/>
            <a:ext cx="2468880" cy="228600"/>
          </a:xfrm>
          <a:prstGeom prst="rect">
            <a:avLst/>
          </a:prstGeom>
          <a:noFill/>
        </p:spPr>
        <p:txBody>
          <a:bodyPr wrap="square" lIns="0" rIns="0" tIns="0" bIns="0" anchor="t">
            <a:spAutoFit/>
          </a:bodyPr>
          <a:lstStyle/>
          <a:p>
            <a:pPr algn="r"/>
            <a:r>
              <a:rPr sz="1000" b="1" i="0">
                <a:solidFill>
                  <a:srgbClr val="C00000"/>
                </a:solidFill>
                <a:latin typeface="Calibri"/>
              </a:rPr>
              <a:t>Next: Node.js + Express + MongoDB</a:t>
            </a:r>
          </a:p>
        </p:txBody>
      </p:sp>
    </p:spTree>
    <p:extLst>
      <p:ext uri="{BB962C8B-B14F-4D97-AF65-F5344CB8AC3E}">
        <p14:creationId xmlns:p14="http://schemas.microsoft.com/office/powerpoint/2010/main" val="25628335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3670</TotalTime>
  <Words>2</Words>
  <Application>Microsoft Office PowerPoint</Application>
  <PresentationFormat>On-screen Show (4:3)</PresentationFormat>
  <Paragraphs>2</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Calibri</vt:lpstr>
      <vt:lpstr>Marcellus</vt:lpstr>
      <vt:lpstr>Times New Roman</vt:lpstr>
      <vt:lpstr>Wingdings</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Applied Mathematics-I</dc:title>
  <dc:creator>Lenovo</dc:creator>
  <cp:lastModifiedBy>Rohan Surana</cp:lastModifiedBy>
  <cp:revision>201</cp:revision>
  <dcterms:created xsi:type="dcterms:W3CDTF">2006-08-16T00:00:00Z</dcterms:created>
  <dcterms:modified xsi:type="dcterms:W3CDTF">2026-09-29T08:51:57Z</dcterms:modified>
</cp:coreProperties>
</file>