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8" d="100"/>
          <a:sy n="58" d="100"/>
        </p:scale>
        <p:origin x="152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Weight</c:v>
                </c:pt>
              </c:strCache>
            </c:strRef>
          </c:tx>
          <c:dPt>
            <c:idx val="0"/>
            <c:spPr>
              <a:solidFill>
                <a:srgbClr val="A6A6A6"/>
              </a:solidFill>
            </c:spPr>
          </c:dPt>
          <c:dPt>
            <c:idx val="1"/>
            <c:spPr>
              <a:solidFill>
                <a:srgbClr val="A6A6A6"/>
              </a:solidFill>
            </c:spPr>
          </c:dPt>
          <c:dPt>
            <c:idx val="2"/>
            <c:spPr>
              <a:solidFill>
                <a:srgbClr val="B7202E"/>
              </a:solidFill>
            </c:spPr>
          </c:dPt>
          <c:dPt>
            <c:idx val="3"/>
            <c:spPr>
              <a:solidFill>
                <a:srgbClr val="B7202E"/>
              </a:solidFill>
            </c:spPr>
          </c:dPt>
          <c:dPt>
            <c:idx val="4"/>
            <c:spPr>
              <a:solidFill>
                <a:srgbClr val="C00000"/>
              </a:solidFill>
            </c:spPr>
          </c:dPt>
          <c:cat>
            <c:strRef>
              <c:f>Sheet1!$A$2:$A$6</c:f>
              <c:strCache>
                <c:ptCount val="5"/>
                <c:pt idx="0">
                  <c:v>Reliability</c:v>
                </c:pt>
                <c:pt idx="1">
                  <c:v>Food type</c:v>
                </c:pt>
                <c:pt idx="2">
                  <c:v>Capacity fit</c:v>
                </c:pt>
                <c:pt idx="3">
                  <c:v>Proximity</c:v>
                </c:pt>
                <c:pt idx="4">
                  <c:v>Time feasibility</c:v>
                </c:pt>
              </c:strCache>
            </c:strRef>
          </c:cat>
          <c:val>
            <c:numRef>
              <c:f>Sheet1!$B$2:$B$6</c:f>
              <c:numCache>
                <c:formatCode>General</c:formatCode>
                <c:ptCount val="5"/>
                <c:pt idx="0">
                  <c:v>10</c:v>
                </c:pt>
                <c:pt idx="1">
                  <c:v>10</c:v>
                </c:pt>
                <c:pt idx="2">
                  <c:v>20</c:v>
                </c:pt>
                <c:pt idx="3">
                  <c:v>25</c:v>
                </c:pt>
                <c:pt idx="4">
                  <c:v>35</c:v>
                </c:pt>
              </c:numCache>
            </c:numRef>
          </c:val>
        </c:ser>
        <c:dLbls>
          <c:numFmt formatCode="0&quot;%&quot;" sourceLinked="0"/>
          <c:txPr>
            <a:bodyPr/>
            <a:lstStyle/>
            <a:p>
              <a:pPr>
                <a:defRPr sz="950" b="1">
                  <a:solidFill>
                    <a:srgbClr val="1F1F1F"/>
                  </a:solidFill>
                  <a:latin typeface="Calibri"/>
                </a:defRPr>
              </a:pPr>
            </a:p>
          </c:txPr>
          <c:dLblPos val="outEnd"/>
          <c:showLegendKey val="0"/>
          <c:showVal val="1"/>
          <c:showCatName val="0"/>
          <c:showSerName val="0"/>
          <c:showPercent val="0"/>
          <c:showBubbleSize val="0"/>
          <c:showLeaderLines val="1"/>
        </c:dLbls>
        <c:gapWidth val="48"/>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950">
                <a:solidFill>
                  <a:srgbClr val="4A4A4A"/>
                </a:solidFill>
                <a:latin typeface="Calibri"/>
              </a:defRPr>
            </a:pPr>
          </a:p>
        </c:txPr>
        <c:crossAx val="-2113994440"/>
        <c:crosses val="autoZero"/>
        <c:auto val="1"/>
        <c:lblAlgn val="ctr"/>
        <c:lblOffset val="100"/>
        <c:noMultiLvlLbl val="0"/>
      </c:catAx>
      <c:valAx>
        <c:axId val="-2113994440"/>
        <c:scaling>
          <c:max val="42.0"/>
        </c:scaling>
        <c:delete/>
        <c:axPos val="b"/>
        <c:majorTickMark val="out"/>
        <c:minorTickMark val="none"/>
        <c:tickLblPos val="nextTo"/>
        <c:crossAx val="-2068027336"/>
        <c:crosses val="autoZero"/>
      </c:valAx>
    </c:plotArea>
    <c:dispBlanksAs val="gap"/>
  </c:chart>
  <c:txPr>
    <a:bodyPr/>
    <a:lstStyle/>
    <a:p>
      <a:pPr>
        <a:defRPr sz="950">
          <a:solidFill>
            <a:srgbClr val="4A4A4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2B5401-FB5E-4027-9C67-BD971DDE06A3}" type="datetimeFigureOut">
              <a:rPr lang="en-US" smtClean="0"/>
              <a:t>9/29/2026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3C7C11-B9CE-4EB9-BD73-BAAE86E750D6}" type="slidenum">
              <a:rPr lang="en-US" smtClean="0"/>
              <a:t>‹#›</a:t>
            </a:fld>
            <a:endParaRPr lang="en-US"/>
          </a:p>
        </p:txBody>
      </p:sp>
    </p:spTree>
    <p:extLst>
      <p:ext uri="{BB962C8B-B14F-4D97-AF65-F5344CB8AC3E}">
        <p14:creationId xmlns:p14="http://schemas.microsoft.com/office/powerpoint/2010/main" val="4054572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FoodLoop, a surplus food matching platform for Mumbai. Every night restaurants, canteens and banquet halls finish service with food that is still good, while shelters a few kilometres away are short of meals. The problem is not generosity, it is the time in between. FoodLoop lets a kitchen post its surplus with a pickup deadline, scores every verified shelter, and offers the food to the best match first. The shelter collects it with its own staff, so there is no delivery rider. It is built on the MERN stack: MongoDB, Express and Node, with plain HTML, CSS and JavaScript on the front end. Three user roles, twenty-two API routes, and a hundred automated tests that all pass.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typical evening without FoodLoop. Nobody here is unwilling to help. The food simply cannot find the right people in time, and by twenty to twelve it goes in the bin. The problem is timing, not generosity. So we set four objectives. One, beat the deadline: only offer food to shelters that can actually collect it in time. Two, ask one shelter at a time instead of broadcasting, because when everyone is messaged nobody is sure who is coming. Three, the shelter collects it itself and shows a four digit handover code. And four, explain every decision: we show the score factor by factor and measure the impact on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three human actors: the donor kitchen, the recipient shelter and a FoodLoop admin. The colours on the right match the ellipses in the diagram. Both donors and recipients register and log in, and logging in includes authenticating with a JSON Web Token. When a donor posts food, the system filters the eligible shelters, which includes scoring and ranking them, which in turn includes calculating distance and drive time. Those are include relationships: they always happen. If a recipient passes, or does not reply within ten minutes, re-scoring and offering to the next shelter extends that flow. The admin exists because somebody has to check that an NGO is genuine before food is sent to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the architecture. The browser pages are plain HTML, CSS and JavaScript with no framework; api.js keeps the login token and calls the API with fetch. The Express server exposes six route groups, each behind a JWT check and a role guard, so a donor cannot call a recipient route. MongoDB stores three collections through Mongoose. On the right, the matching engine. First we filter: a shelter that does not take that food type, has no room left today, is outside its own travel radius, or cannot drive there before the deadline is dropped. The survivors are scored out of a hundred. Time counts most, thirty-five percent, because cooked food does not wait. The best shelter is asked first and gets ten minutes; if it passes we re-score the rest with the time that is left and ask the next best. The worked example gives sixty-five out of a hundred.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pages, all sharing one MongoDB database. On the donor dashboard you post food and the ranked shelters appear immediately with distance, drive time and score, a live countdown, and once a shelter accepts, a box to type their handover code. The impact dashboard on the right is built entirely from MongoDB aggregation pipelines: meals saved per day, the food type split, collected against expired, and the kitchens and shelters that did the most. We did not test by clicking around and hoping. There are a hundred automated checks: forty-four calling the API directly and fifty-six driving a real browser with a donor in one window and a shelter in another. All of them pass, and the browser tests also fail on any JavaScript error. Next we would deploy it and add SMS alerts, so a shelter does not have to keep the page open.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762000"/>
            <a:ext cx="8229600" cy="655638"/>
          </a:xfrm>
        </p:spPr>
        <p:txBody>
          <a:bodyPr/>
          <a:lstStyle>
            <a:lvl1pPr>
              <a:defRPr sz="4400">
                <a:solidFill>
                  <a:srgbClr val="FF0000"/>
                </a:solidFill>
              </a:defRPr>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dirty="0"/>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normAutofit/>
          </a:bodyPr>
          <a:lstStyle>
            <a:lvl1pPr algn="l">
              <a:defRPr sz="4000" b="1" cap="all"/>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8" name="Footer Placeholder 7"/>
          <p:cNvSpPr>
            <a:spLocks noGrp="1"/>
          </p:cNvSpPr>
          <p:nvPr>
            <p:ph type="ftr" sz="quarter" idx="11"/>
          </p:nvPr>
        </p:nvSpPr>
        <p:spPr/>
        <p:txBody>
          <a:bodyPr/>
          <a:lstStyle/>
          <a:p>
            <a:r>
              <a:rPr lang="en-US"/>
              <a:t>AM-I   Module 3</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Date Placeholder 2"/>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4" name="Footer Placeholder 3"/>
          <p:cNvSpPr>
            <a:spLocks noGrp="1"/>
          </p:cNvSpPr>
          <p:nvPr>
            <p:ph type="ftr" sz="quarter" idx="11"/>
          </p:nvPr>
        </p:nvSpPr>
        <p:spPr/>
        <p:txBody>
          <a:bodyPr/>
          <a:lstStyle/>
          <a:p>
            <a:r>
              <a:rPr lang="en-US"/>
              <a:t>AM-I   Module 3</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3" name="Footer Placeholder 2"/>
          <p:cNvSpPr>
            <a:spLocks noGrp="1"/>
          </p:cNvSpPr>
          <p:nvPr>
            <p:ph type="ftr" sz="quarter" idx="11"/>
          </p:nvPr>
        </p:nvSpPr>
        <p:spPr/>
        <p:txBody>
          <a:bodyPr/>
          <a:lstStyle/>
          <a:p>
            <a:r>
              <a:rPr lang="en-US"/>
              <a:t>AM-I   Module 3</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6" name="Footer Placeholder 5"/>
          <p:cNvSpPr>
            <a:spLocks noGrp="1"/>
          </p:cNvSpPr>
          <p:nvPr>
            <p:ph type="ftr" sz="quarter" idx="11"/>
          </p:nvPr>
        </p:nvSpPr>
        <p:spPr/>
        <p:txBody>
          <a:bodyPr/>
          <a:lstStyle/>
          <a:p>
            <a:r>
              <a:rPr lang="en-US"/>
              <a:t>AM-I   Module 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274638"/>
            <a:ext cx="2057400" cy="5851525"/>
          </a:xfrm>
        </p:spPr>
        <p:txBody>
          <a:bodyPr vert="eaVert"/>
          <a:lstStyle>
            <a:lvl1pPr>
              <a:defRPr sz="4400"/>
            </a:lvl1pPr>
          </a:lstStyle>
          <a:p>
            <a:r>
              <a:rPr lang="en-US" sz="3200" dirty="0">
                <a:solidFill>
                  <a:srgbClr val="C00000"/>
                </a:solidFill>
                <a:latin typeface="Marcellus" panose="020E0602050203020307" pitchFamily="34" charset="0"/>
              </a:rPr>
              <a:t>Title in Marcellus Font Size 32 in Red</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n-US"/>
              <a:t>Dr. Rachana Desai</a:t>
            </a:r>
            <a:endParaRPr lang="en-US" dirty="0"/>
          </a:p>
        </p:txBody>
      </p:sp>
      <p:sp>
        <p:nvSpPr>
          <p:cNvPr id="5" name="Footer Placeholder 4"/>
          <p:cNvSpPr>
            <a:spLocks noGrp="1"/>
          </p:cNvSpPr>
          <p:nvPr>
            <p:ph type="ftr" sz="quarter" idx="11"/>
          </p:nvPr>
        </p:nvSpPr>
        <p:spPr/>
        <p:txBody>
          <a:bodyPr/>
          <a:lstStyle/>
          <a:p>
            <a:r>
              <a:rPr lang="en-US"/>
              <a:t>AM-I   Module 3</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Dr. Rachana Desai</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AM-I   Module 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1547C2F5-D0C4-4329-8DC2-48B66EE4F515}"/>
              </a:ext>
            </a:extLst>
          </p:cNvPr>
          <p:cNvPicPr>
            <a:picLocks noChangeAspect="1"/>
          </p:cNvPicPr>
          <p:nvPr userDrawn="1"/>
        </p:nvPicPr>
        <p:blipFill>
          <a:blip r:embed="rId13"/>
          <a:stretch>
            <a:fillRect/>
          </a:stretch>
        </p:blipFill>
        <p:spPr>
          <a:xfrm rot="5400000">
            <a:off x="4198458" y="1933318"/>
            <a:ext cx="702416" cy="9188666"/>
          </a:xfrm>
          <a:prstGeom prst="rect">
            <a:avLst/>
          </a:prstGeom>
        </p:spPr>
      </p:pic>
      <p:pic>
        <p:nvPicPr>
          <p:cNvPr id="10" name="Picture 9">
            <a:extLst>
              <a:ext uri="{FF2B5EF4-FFF2-40B4-BE49-F238E27FC236}">
                <a16:creationId xmlns:a16="http://schemas.microsoft.com/office/drawing/2014/main" id="{B15A553C-6E56-4E14-9B40-3D70033DB61F}"/>
              </a:ext>
            </a:extLst>
          </p:cNvPr>
          <p:cNvPicPr>
            <a:picLocks noChangeAspect="1"/>
          </p:cNvPicPr>
          <p:nvPr userDrawn="1"/>
        </p:nvPicPr>
        <p:blipFill>
          <a:blip r:embed="rId14"/>
          <a:stretch>
            <a:fillRect/>
          </a:stretch>
        </p:blipFill>
        <p:spPr>
          <a:xfrm rot="5400000">
            <a:off x="5533989" y="2568564"/>
            <a:ext cx="207492" cy="7008270"/>
          </a:xfrm>
          <a:prstGeom prst="rect">
            <a:avLst/>
          </a:prstGeom>
        </p:spPr>
      </p:pic>
      <p:sp>
        <p:nvSpPr>
          <p:cNvPr id="2" name="Title Placeholder 1"/>
          <p:cNvSpPr>
            <a:spLocks noGrp="1"/>
          </p:cNvSpPr>
          <p:nvPr>
            <p:ph type="title"/>
          </p:nvPr>
        </p:nvSpPr>
        <p:spPr>
          <a:xfrm>
            <a:off x="457200" y="721920"/>
            <a:ext cx="8229600" cy="695718"/>
          </a:xfrm>
          <a:prstGeom prst="rect">
            <a:avLst/>
          </a:prstGeom>
        </p:spPr>
        <p:txBody>
          <a:bodyPr vert="horz" lIns="91440" tIns="45720" rIns="91440" bIns="45720" rtlCol="0" anchor="ctr">
            <a:normAutofit/>
          </a:bodyPr>
          <a:lstStyle/>
          <a:p>
            <a:r>
              <a:rPr lang="en-US" sz="3200" dirty="0">
                <a:solidFill>
                  <a:srgbClr val="C00000"/>
                </a:solidFill>
                <a:latin typeface="Marcellus" panose="020E0602050203020307" pitchFamily="34" charset="0"/>
              </a:rPr>
              <a:t>Title in Marcellus Font Size 32 in Red</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rgbClr val="C00000"/>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v"/>
        <a:defRPr sz="28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jp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7.jp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chart" Target="../charts/char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331720" y="109728"/>
            <a:ext cx="630936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600" b="1">
                <a:solidFill>
                  <a:srgbClr val="C00000"/>
                </a:solidFill>
                <a:latin typeface="Calibri"/>
              </a:rPr>
              <a:t>FoodLoop</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packing.jpg"/>
          <p:cNvPicPr>
            <a:picLocks noChangeAspect="1"/>
          </p:cNvPicPr>
          <p:nvPr/>
        </p:nvPicPr>
        <p:blipFill>
          <a:blip r:embed="rId5"/>
          <a:stretch>
            <a:fillRect/>
          </a:stretch>
        </p:blipFill>
        <p:spPr>
          <a:xfrm>
            <a:off x="5035807" y="896112"/>
            <a:ext cx="3742432" cy="4645152"/>
          </a:xfrm>
          <a:prstGeom prst="rect">
            <a:avLst/>
          </a:prstGeom>
        </p:spPr>
      </p:pic>
      <p:sp>
        <p:nvSpPr>
          <p:cNvPr id="21" name="TextBox 20"/>
          <p:cNvSpPr txBox="1"/>
          <p:nvPr/>
        </p:nvSpPr>
        <p:spPr>
          <a:xfrm>
            <a:off x="457200" y="1042415"/>
            <a:ext cx="4258567" cy="219456"/>
          </a:xfrm>
          <a:prstGeom prst="rect">
            <a:avLst/>
          </a:prstGeom>
          <a:noFill/>
        </p:spPr>
        <p:txBody>
          <a:bodyPr wrap="square" lIns="0" rIns="0" tIns="0" bIns="0" anchor="t">
            <a:spAutoFit/>
          </a:bodyPr>
          <a:lstStyle/>
          <a:p>
            <a:pPr algn="l"/>
            <a:r>
              <a:rPr sz="1000" b="1" i="0">
                <a:solidFill>
                  <a:srgbClr val="B7202E"/>
                </a:solidFill>
                <a:latin typeface="Calibri"/>
              </a:rPr>
              <a:t>FULL STACK DEVELOPMENT LAB · MINI PROJECT · TY B.TECH</a:t>
            </a:r>
          </a:p>
        </p:txBody>
      </p:sp>
      <p:sp>
        <p:nvSpPr>
          <p:cNvPr id="22" name="TextBox 21"/>
          <p:cNvSpPr txBox="1"/>
          <p:nvPr/>
        </p:nvSpPr>
        <p:spPr>
          <a:xfrm>
            <a:off x="457200" y="1353312"/>
            <a:ext cx="4258567" cy="1600200"/>
          </a:xfrm>
          <a:prstGeom prst="rect">
            <a:avLst/>
          </a:prstGeom>
          <a:noFill/>
        </p:spPr>
        <p:txBody>
          <a:bodyPr wrap="square" lIns="0" rIns="0" tIns="0" bIns="0" anchor="t">
            <a:spAutoFit/>
          </a:bodyPr>
          <a:lstStyle/>
          <a:p>
            <a:pPr algn="l">
              <a:lnSpc>
                <a:spcPct val="95000"/>
              </a:lnSpc>
            </a:pPr>
            <a:r>
              <a:rPr sz="2800" b="1" i="0">
                <a:solidFill>
                  <a:srgbClr val="1F1F1F"/>
                </a:solidFill>
                <a:latin typeface="Calibri"/>
              </a:rPr>
              <a:t>Surplus food, matched </a:t>
            </a:r>
            <a:r>
              <a:rPr sz="2800" b="1" i="1">
                <a:solidFill>
                  <a:srgbClr val="C00000"/>
                </a:solidFill>
                <a:latin typeface="Calibri"/>
              </a:rPr>
              <a:t>before the clock runs out.</a:t>
            </a:r>
          </a:p>
        </p:txBody>
      </p:sp>
      <p:sp>
        <p:nvSpPr>
          <p:cNvPr id="23" name="TextBox 22"/>
          <p:cNvSpPr txBox="1"/>
          <p:nvPr/>
        </p:nvSpPr>
        <p:spPr>
          <a:xfrm>
            <a:off x="457200" y="3035808"/>
            <a:ext cx="4075687" cy="1051560"/>
          </a:xfrm>
          <a:prstGeom prst="rect">
            <a:avLst/>
          </a:prstGeom>
          <a:noFill/>
        </p:spPr>
        <p:txBody>
          <a:bodyPr wrap="square" lIns="0" rIns="0" tIns="0" bIns="0" anchor="t">
            <a:spAutoFit/>
          </a:bodyPr>
          <a:lstStyle/>
          <a:p>
            <a:pPr algn="l">
              <a:lnSpc>
                <a:spcPct val="105000"/>
              </a:lnSpc>
            </a:pPr>
            <a:r>
              <a:rPr sz="1150" b="0" i="0">
                <a:solidFill>
                  <a:srgbClr val="4A4A4A"/>
                </a:solidFill>
                <a:latin typeface="Calibri"/>
              </a:rPr>
              <a:t>Mumbai's kitchens throw away good food at closing time while shelters a few kilometres away go short. FoodLoop scores every nearby shelter, offers the food to the best one first, and the shelter collects it itself with a handover code.</a:t>
            </a:r>
          </a:p>
        </p:txBody>
      </p:sp>
      <p:sp>
        <p:nvSpPr>
          <p:cNvPr id="24" name="Rectangle 23"/>
          <p:cNvSpPr/>
          <p:nvPr/>
        </p:nvSpPr>
        <p:spPr>
          <a:xfrm>
            <a:off x="457200" y="4233672"/>
            <a:ext cx="4258567" cy="13716"/>
          </a:xfrm>
          <a:prstGeom prst="rect">
            <a:avLst/>
          </a:prstGeom>
          <a:solidFill>
            <a:srgbClr val="DB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389120"/>
            <a:ext cx="5486400" cy="219456"/>
          </a:xfrm>
          <a:prstGeom prst="rect">
            <a:avLst/>
          </a:prstGeom>
          <a:noFill/>
        </p:spPr>
        <p:txBody>
          <a:bodyPr wrap="square" lIns="0" rIns="0" tIns="0" bIns="0" anchor="t">
            <a:spAutoFit/>
          </a:bodyPr>
          <a:lstStyle/>
          <a:p>
            <a:pPr algn="l"/>
            <a:r>
              <a:rPr sz="1000" b="1" i="0">
                <a:solidFill>
                  <a:srgbClr val="7A7A7A"/>
                </a:solidFill>
                <a:latin typeface="Calibri"/>
              </a:rPr>
              <a:t>PRESENTED BY</a:t>
            </a:r>
          </a:p>
        </p:txBody>
      </p:sp>
      <p:sp>
        <p:nvSpPr>
          <p:cNvPr id="26" name="TextBox 25"/>
          <p:cNvSpPr txBox="1"/>
          <p:nvPr/>
        </p:nvSpPr>
        <p:spPr>
          <a:xfrm>
            <a:off x="457200" y="4645152"/>
            <a:ext cx="2148840" cy="640080"/>
          </a:xfrm>
          <a:prstGeom prst="rect">
            <a:avLst/>
          </a:prstGeom>
          <a:noFill/>
        </p:spPr>
        <p:txBody>
          <a:bodyPr wrap="square" lIns="0" rIns="0" tIns="0" bIns="0" anchor="t">
            <a:spAutoFit/>
          </a:bodyPr>
          <a:lstStyle/>
          <a:p>
            <a:pPr algn="l"/>
            <a:r>
              <a:rPr sz="1500" b="1" i="0">
                <a:solidFill>
                  <a:srgbClr val="1F1F1F"/>
                </a:solidFill>
                <a:latin typeface="Calibri"/>
              </a:rPr>
              <a:t>Rohan Surana</a:t>
            </a:r>
          </a:p>
          <a:p>
            <a:pPr algn="l"/>
            <a:r>
              <a:rPr sz="1100" b="0" i="0">
                <a:solidFill>
                  <a:srgbClr val="7A7A7A"/>
                </a:solidFill>
                <a:latin typeface="Calibri"/>
              </a:rPr>
              <a:t>16015024073</a:t>
            </a:r>
          </a:p>
        </p:txBody>
      </p:sp>
      <p:sp>
        <p:nvSpPr>
          <p:cNvPr id="27" name="TextBox 26"/>
          <p:cNvSpPr txBox="1"/>
          <p:nvPr/>
        </p:nvSpPr>
        <p:spPr>
          <a:xfrm>
            <a:off x="2697480" y="4645152"/>
            <a:ext cx="2148840" cy="640080"/>
          </a:xfrm>
          <a:prstGeom prst="rect">
            <a:avLst/>
          </a:prstGeom>
          <a:noFill/>
        </p:spPr>
        <p:txBody>
          <a:bodyPr wrap="square" lIns="0" rIns="0" tIns="0" bIns="0" anchor="t">
            <a:spAutoFit/>
          </a:bodyPr>
          <a:lstStyle/>
          <a:p>
            <a:pPr algn="l"/>
            <a:r>
              <a:rPr sz="1500" b="1" i="0">
                <a:solidFill>
                  <a:srgbClr val="1F1F1F"/>
                </a:solidFill>
                <a:latin typeface="Calibri"/>
              </a:rPr>
              <a:t>Ayman Shaikh</a:t>
            </a:r>
          </a:p>
          <a:p>
            <a:pPr algn="l"/>
            <a:r>
              <a:rPr sz="1100" b="0" i="0">
                <a:solidFill>
                  <a:srgbClr val="7A7A7A"/>
                </a:solidFill>
                <a:latin typeface="Calibri"/>
              </a:rPr>
              <a:t>16015024070</a:t>
            </a:r>
          </a:p>
        </p:txBody>
      </p:sp>
      <p:sp>
        <p:nvSpPr>
          <p:cNvPr id="28" name="Rounded Rectangle 27"/>
          <p:cNvSpPr/>
          <p:nvPr/>
        </p:nvSpPr>
        <p:spPr>
          <a:xfrm>
            <a:off x="457200" y="5212080"/>
            <a:ext cx="1417320" cy="548640"/>
          </a:xfrm>
          <a:prstGeom prst="roundRect">
            <a:avLst>
              <a:gd name="adj" fmla="val 8000"/>
            </a:avLst>
          </a:prstGeom>
          <a:solidFill>
            <a:srgbClr val="ECF5EE"/>
          </a:solidFill>
          <a:ln w="12700">
            <a:solidFill>
              <a:srgbClr val="C6E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85232"/>
            <a:ext cx="1417320" cy="274320"/>
          </a:xfrm>
          <a:prstGeom prst="rect">
            <a:avLst/>
          </a:prstGeom>
          <a:noFill/>
        </p:spPr>
        <p:txBody>
          <a:bodyPr wrap="square" lIns="0" rIns="0" tIns="0" bIns="0" anchor="t">
            <a:spAutoFit/>
          </a:bodyPr>
          <a:lstStyle/>
          <a:p>
            <a:pPr algn="ctr"/>
            <a:r>
              <a:rPr sz="1700" b="1" i="0">
                <a:solidFill>
                  <a:srgbClr val="2E7D32"/>
                </a:solidFill>
                <a:latin typeface="Calibri"/>
              </a:rPr>
              <a:t>3</a:t>
            </a:r>
          </a:p>
        </p:txBody>
      </p:sp>
      <p:sp>
        <p:nvSpPr>
          <p:cNvPr id="30" name="TextBox 29"/>
          <p:cNvSpPr txBox="1"/>
          <p:nvPr/>
        </p:nvSpPr>
        <p:spPr>
          <a:xfrm>
            <a:off x="457200" y="5522976"/>
            <a:ext cx="1417320" cy="201168"/>
          </a:xfrm>
          <a:prstGeom prst="rect">
            <a:avLst/>
          </a:prstGeom>
          <a:noFill/>
        </p:spPr>
        <p:txBody>
          <a:bodyPr wrap="square" lIns="0" rIns="0" tIns="0" bIns="0" anchor="t">
            <a:spAutoFit/>
          </a:bodyPr>
          <a:lstStyle/>
          <a:p>
            <a:pPr algn="ctr"/>
            <a:r>
              <a:rPr sz="900" b="0" i="0">
                <a:solidFill>
                  <a:srgbClr val="4A4A4A"/>
                </a:solidFill>
                <a:latin typeface="Calibri"/>
              </a:rPr>
              <a:t>user roles</a:t>
            </a:r>
          </a:p>
        </p:txBody>
      </p:sp>
      <p:sp>
        <p:nvSpPr>
          <p:cNvPr id="31" name="Rounded Rectangle 30"/>
          <p:cNvSpPr/>
          <p:nvPr/>
        </p:nvSpPr>
        <p:spPr>
          <a:xfrm>
            <a:off x="1993391" y="5212080"/>
            <a:ext cx="1417320" cy="548640"/>
          </a:xfrm>
          <a:prstGeom prst="roundRect">
            <a:avLst>
              <a:gd name="adj" fmla="val 8000"/>
            </a:avLst>
          </a:prstGeom>
          <a:solidFill>
            <a:srgbClr val="ECF5EE"/>
          </a:solidFill>
          <a:ln w="12700">
            <a:solidFill>
              <a:srgbClr val="C6E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93391" y="5285232"/>
            <a:ext cx="1417320" cy="274320"/>
          </a:xfrm>
          <a:prstGeom prst="rect">
            <a:avLst/>
          </a:prstGeom>
          <a:noFill/>
        </p:spPr>
        <p:txBody>
          <a:bodyPr wrap="square" lIns="0" rIns="0" tIns="0" bIns="0" anchor="t">
            <a:spAutoFit/>
          </a:bodyPr>
          <a:lstStyle/>
          <a:p>
            <a:pPr algn="ctr"/>
            <a:r>
              <a:rPr sz="1700" b="1" i="0">
                <a:solidFill>
                  <a:srgbClr val="2E7D32"/>
                </a:solidFill>
                <a:latin typeface="Calibri"/>
              </a:rPr>
              <a:t>22</a:t>
            </a:r>
          </a:p>
        </p:txBody>
      </p:sp>
      <p:sp>
        <p:nvSpPr>
          <p:cNvPr id="33" name="TextBox 32"/>
          <p:cNvSpPr txBox="1"/>
          <p:nvPr/>
        </p:nvSpPr>
        <p:spPr>
          <a:xfrm>
            <a:off x="1993391" y="5522976"/>
            <a:ext cx="1417320" cy="201168"/>
          </a:xfrm>
          <a:prstGeom prst="rect">
            <a:avLst/>
          </a:prstGeom>
          <a:noFill/>
        </p:spPr>
        <p:txBody>
          <a:bodyPr wrap="square" lIns="0" rIns="0" tIns="0" bIns="0" anchor="t">
            <a:spAutoFit/>
          </a:bodyPr>
          <a:lstStyle/>
          <a:p>
            <a:pPr algn="ctr"/>
            <a:r>
              <a:rPr sz="900" b="0" i="0">
                <a:solidFill>
                  <a:srgbClr val="4A4A4A"/>
                </a:solidFill>
                <a:latin typeface="Calibri"/>
              </a:rPr>
              <a:t>API routes</a:t>
            </a:r>
          </a:p>
        </p:txBody>
      </p:sp>
      <p:sp>
        <p:nvSpPr>
          <p:cNvPr id="34" name="Rounded Rectangle 33"/>
          <p:cNvSpPr/>
          <p:nvPr/>
        </p:nvSpPr>
        <p:spPr>
          <a:xfrm>
            <a:off x="3529584" y="5212080"/>
            <a:ext cx="1417320" cy="548640"/>
          </a:xfrm>
          <a:prstGeom prst="roundRect">
            <a:avLst>
              <a:gd name="adj" fmla="val 8000"/>
            </a:avLst>
          </a:prstGeom>
          <a:solidFill>
            <a:srgbClr val="ECF5EE"/>
          </a:solidFill>
          <a:ln w="12700">
            <a:solidFill>
              <a:srgbClr val="C6E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29584" y="5285232"/>
            <a:ext cx="1417320" cy="274320"/>
          </a:xfrm>
          <a:prstGeom prst="rect">
            <a:avLst/>
          </a:prstGeom>
          <a:noFill/>
        </p:spPr>
        <p:txBody>
          <a:bodyPr wrap="square" lIns="0" rIns="0" tIns="0" bIns="0" anchor="t">
            <a:spAutoFit/>
          </a:bodyPr>
          <a:lstStyle/>
          <a:p>
            <a:pPr algn="ctr"/>
            <a:r>
              <a:rPr sz="1700" b="1" i="0">
                <a:solidFill>
                  <a:srgbClr val="2E7D32"/>
                </a:solidFill>
                <a:latin typeface="Calibri"/>
              </a:rPr>
              <a:t>100</a:t>
            </a:r>
          </a:p>
        </p:txBody>
      </p:sp>
      <p:sp>
        <p:nvSpPr>
          <p:cNvPr id="36" name="TextBox 35"/>
          <p:cNvSpPr txBox="1"/>
          <p:nvPr/>
        </p:nvSpPr>
        <p:spPr>
          <a:xfrm>
            <a:off x="3529584" y="5522976"/>
            <a:ext cx="1417320" cy="201168"/>
          </a:xfrm>
          <a:prstGeom prst="rect">
            <a:avLst/>
          </a:prstGeom>
          <a:noFill/>
        </p:spPr>
        <p:txBody>
          <a:bodyPr wrap="square" lIns="0" rIns="0" tIns="0" bIns="0" anchor="t">
            <a:spAutoFit/>
          </a:bodyPr>
          <a:lstStyle/>
          <a:p>
            <a:pPr algn="ctr"/>
            <a:r>
              <a:rPr sz="900" b="0" i="0">
                <a:solidFill>
                  <a:srgbClr val="4A4A4A"/>
                </a:solidFill>
                <a:latin typeface="Calibri"/>
              </a:rPr>
              <a:t>tests pass</a:t>
            </a:r>
          </a:p>
        </p:txBody>
      </p:sp>
    </p:spTree>
    <p:extLst>
      <p:ext uri="{BB962C8B-B14F-4D97-AF65-F5344CB8AC3E}">
        <p14:creationId xmlns:p14="http://schemas.microsoft.com/office/powerpoint/2010/main" val="2562833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331720" y="109728"/>
            <a:ext cx="630936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600" b="1">
                <a:solidFill>
                  <a:srgbClr val="C00000"/>
                </a:solidFill>
                <a:latin typeface="Calibri"/>
              </a:rPr>
              <a:t>Problem &amp; Objectives</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41248"/>
            <a:ext cx="4160520" cy="777240"/>
          </a:xfrm>
          <a:prstGeom prst="rect">
            <a:avLst/>
          </a:prstGeom>
          <a:noFill/>
        </p:spPr>
        <p:txBody>
          <a:bodyPr wrap="square" lIns="0" rIns="0" tIns="0" bIns="0" anchor="t">
            <a:spAutoFit/>
          </a:bodyPr>
          <a:lstStyle/>
          <a:p>
            <a:pPr algn="l">
              <a:lnSpc>
                <a:spcPct val="100000"/>
              </a:lnSpc>
            </a:pPr>
            <a:r>
              <a:rPr sz="1700" b="1" i="0">
                <a:solidFill>
                  <a:srgbClr val="1F1F1F"/>
                </a:solidFill>
                <a:latin typeface="Calibri"/>
              </a:rPr>
              <a:t>It was never a shortage of generosity.</a:t>
            </a:r>
          </a:p>
          <a:p>
            <a:pPr algn="l">
              <a:lnSpc>
                <a:spcPct val="100000"/>
              </a:lnSpc>
            </a:pPr>
            <a:r>
              <a:rPr sz="1700" b="1" i="1">
                <a:solidFill>
                  <a:srgbClr val="C00000"/>
                </a:solidFill>
                <a:latin typeface="Calibri"/>
              </a:rPr>
              <a:t>It was timing.</a:t>
            </a:r>
          </a:p>
        </p:txBody>
      </p:sp>
      <p:cxnSp>
        <p:nvCxnSpPr>
          <p:cNvPr id="21" name="Connector 20"/>
          <p:cNvCxnSpPr/>
          <p:nvPr/>
        </p:nvCxnSpPr>
        <p:spPr>
          <a:xfrm>
            <a:off x="548640" y="1837943"/>
            <a:ext cx="0" cy="2560321"/>
          </a:xfrm>
          <a:prstGeom prst="line">
            <a:avLst/>
          </a:prstGeom>
          <a:ln w="19050">
            <a:solidFill>
              <a:srgbClr val="DBD6D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80060" y="1783080"/>
            <a:ext cx="137160" cy="137160"/>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1755648"/>
            <a:ext cx="749808" cy="237744"/>
          </a:xfrm>
          <a:prstGeom prst="rect">
            <a:avLst/>
          </a:prstGeom>
          <a:noFill/>
        </p:spPr>
        <p:txBody>
          <a:bodyPr wrap="square" lIns="0" rIns="0" tIns="0" bIns="0" anchor="t">
            <a:spAutoFit/>
          </a:bodyPr>
          <a:lstStyle/>
          <a:p>
            <a:pPr algn="l"/>
            <a:r>
              <a:rPr sz="1100" b="1" i="0">
                <a:solidFill>
                  <a:srgbClr val="1F1F1F"/>
                </a:solidFill>
                <a:latin typeface="Calibri"/>
              </a:rPr>
              <a:t>9:40 pm</a:t>
            </a:r>
          </a:p>
        </p:txBody>
      </p:sp>
      <p:sp>
        <p:nvSpPr>
          <p:cNvPr id="24" name="TextBox 23"/>
          <p:cNvSpPr txBox="1"/>
          <p:nvPr/>
        </p:nvSpPr>
        <p:spPr>
          <a:xfrm>
            <a:off x="1572768" y="1755648"/>
            <a:ext cx="3017520" cy="457200"/>
          </a:xfrm>
          <a:prstGeom prst="rect">
            <a:avLst/>
          </a:prstGeom>
          <a:noFill/>
        </p:spPr>
        <p:txBody>
          <a:bodyPr wrap="square" lIns="0" rIns="0" tIns="0" bIns="0" anchor="t">
            <a:spAutoFit/>
          </a:bodyPr>
          <a:lstStyle/>
          <a:p>
            <a:pPr algn="l">
              <a:lnSpc>
                <a:spcPct val="100000"/>
              </a:lnSpc>
            </a:pPr>
            <a:r>
              <a:rPr sz="1100" b="0" i="0">
                <a:solidFill>
                  <a:srgbClr val="4A4A4A"/>
                </a:solidFill>
                <a:latin typeface="Calibri"/>
              </a:rPr>
              <a:t>A wedding ends in Andheri. Sixty thalis untouched.</a:t>
            </a:r>
          </a:p>
        </p:txBody>
      </p:sp>
      <p:sp>
        <p:nvSpPr>
          <p:cNvPr id="25" name="Oval 24"/>
          <p:cNvSpPr/>
          <p:nvPr/>
        </p:nvSpPr>
        <p:spPr>
          <a:xfrm>
            <a:off x="480060" y="2423160"/>
            <a:ext cx="137160" cy="137160"/>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395728"/>
            <a:ext cx="749808" cy="237744"/>
          </a:xfrm>
          <a:prstGeom prst="rect">
            <a:avLst/>
          </a:prstGeom>
          <a:noFill/>
        </p:spPr>
        <p:txBody>
          <a:bodyPr wrap="square" lIns="0" rIns="0" tIns="0" bIns="0" anchor="t">
            <a:spAutoFit/>
          </a:bodyPr>
          <a:lstStyle/>
          <a:p>
            <a:pPr algn="l"/>
            <a:r>
              <a:rPr sz="1100" b="1" i="0">
                <a:solidFill>
                  <a:srgbClr val="1F1F1F"/>
                </a:solidFill>
                <a:latin typeface="Calibri"/>
              </a:rPr>
              <a:t>9:55 pm</a:t>
            </a:r>
          </a:p>
        </p:txBody>
      </p:sp>
      <p:sp>
        <p:nvSpPr>
          <p:cNvPr id="27" name="TextBox 26"/>
          <p:cNvSpPr txBox="1"/>
          <p:nvPr/>
        </p:nvSpPr>
        <p:spPr>
          <a:xfrm>
            <a:off x="1572768" y="2395728"/>
            <a:ext cx="3017520" cy="457200"/>
          </a:xfrm>
          <a:prstGeom prst="rect">
            <a:avLst/>
          </a:prstGeom>
          <a:noFill/>
        </p:spPr>
        <p:txBody>
          <a:bodyPr wrap="square" lIns="0" rIns="0" tIns="0" bIns="0" anchor="t">
            <a:spAutoFit/>
          </a:bodyPr>
          <a:lstStyle/>
          <a:p>
            <a:pPr algn="l">
              <a:lnSpc>
                <a:spcPct val="100000"/>
              </a:lnSpc>
            </a:pPr>
            <a:r>
              <a:rPr sz="1100" b="0" i="0">
                <a:solidFill>
                  <a:srgbClr val="4A4A4A"/>
                </a:solidFill>
                <a:latin typeface="Calibri"/>
              </a:rPr>
              <a:t>The manager calls two NGOs. One closed, one no answer.</a:t>
            </a:r>
          </a:p>
        </p:txBody>
      </p:sp>
      <p:sp>
        <p:nvSpPr>
          <p:cNvPr id="28" name="Oval 27"/>
          <p:cNvSpPr/>
          <p:nvPr/>
        </p:nvSpPr>
        <p:spPr>
          <a:xfrm>
            <a:off x="480060" y="3063239"/>
            <a:ext cx="137160" cy="137160"/>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035808"/>
            <a:ext cx="749808" cy="237744"/>
          </a:xfrm>
          <a:prstGeom prst="rect">
            <a:avLst/>
          </a:prstGeom>
          <a:noFill/>
        </p:spPr>
        <p:txBody>
          <a:bodyPr wrap="square" lIns="0" rIns="0" tIns="0" bIns="0" anchor="t">
            <a:spAutoFit/>
          </a:bodyPr>
          <a:lstStyle/>
          <a:p>
            <a:pPr algn="l"/>
            <a:r>
              <a:rPr sz="1100" b="1" i="0">
                <a:solidFill>
                  <a:srgbClr val="1F1F1F"/>
                </a:solidFill>
                <a:latin typeface="Calibri"/>
              </a:rPr>
              <a:t>10:30 pm</a:t>
            </a:r>
          </a:p>
        </p:txBody>
      </p:sp>
      <p:sp>
        <p:nvSpPr>
          <p:cNvPr id="30" name="TextBox 29"/>
          <p:cNvSpPr txBox="1"/>
          <p:nvPr/>
        </p:nvSpPr>
        <p:spPr>
          <a:xfrm>
            <a:off x="1572768" y="3035808"/>
            <a:ext cx="3017520" cy="457200"/>
          </a:xfrm>
          <a:prstGeom prst="rect">
            <a:avLst/>
          </a:prstGeom>
          <a:noFill/>
        </p:spPr>
        <p:txBody>
          <a:bodyPr wrap="square" lIns="0" rIns="0" tIns="0" bIns="0" anchor="t">
            <a:spAutoFit/>
          </a:bodyPr>
          <a:lstStyle/>
          <a:p>
            <a:pPr algn="l">
              <a:lnSpc>
                <a:spcPct val="100000"/>
              </a:lnSpc>
            </a:pPr>
            <a:r>
              <a:rPr sz="1100" b="0" i="0">
                <a:solidFill>
                  <a:srgbClr val="4A4A4A"/>
                </a:solidFill>
                <a:latin typeface="Calibri"/>
              </a:rPr>
              <a:t>A volunteer group replies. Their van is in Thane.</a:t>
            </a:r>
          </a:p>
        </p:txBody>
      </p:sp>
      <p:sp>
        <p:nvSpPr>
          <p:cNvPr id="31" name="Oval 30"/>
          <p:cNvSpPr/>
          <p:nvPr/>
        </p:nvSpPr>
        <p:spPr>
          <a:xfrm>
            <a:off x="480060" y="3703320"/>
            <a:ext cx="137160" cy="137160"/>
          </a:xfrm>
          <a:prstGeom prst="ellipse">
            <a:avLst/>
          </a:prstGeom>
          <a:solidFill>
            <a:srgbClr val="FFFFFF"/>
          </a:solidFill>
          <a:ln w="190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3675887"/>
            <a:ext cx="749808" cy="237744"/>
          </a:xfrm>
          <a:prstGeom prst="rect">
            <a:avLst/>
          </a:prstGeom>
          <a:noFill/>
        </p:spPr>
        <p:txBody>
          <a:bodyPr wrap="square" lIns="0" rIns="0" tIns="0" bIns="0" anchor="t">
            <a:spAutoFit/>
          </a:bodyPr>
          <a:lstStyle/>
          <a:p>
            <a:pPr algn="l"/>
            <a:r>
              <a:rPr sz="1100" b="1" i="0">
                <a:solidFill>
                  <a:srgbClr val="1F1F1F"/>
                </a:solidFill>
                <a:latin typeface="Calibri"/>
              </a:rPr>
              <a:t>11:15 pm</a:t>
            </a:r>
          </a:p>
        </p:txBody>
      </p:sp>
      <p:sp>
        <p:nvSpPr>
          <p:cNvPr id="33" name="TextBox 32"/>
          <p:cNvSpPr txBox="1"/>
          <p:nvPr/>
        </p:nvSpPr>
        <p:spPr>
          <a:xfrm>
            <a:off x="1572768" y="3675887"/>
            <a:ext cx="3017520" cy="457200"/>
          </a:xfrm>
          <a:prstGeom prst="rect">
            <a:avLst/>
          </a:prstGeom>
          <a:noFill/>
        </p:spPr>
        <p:txBody>
          <a:bodyPr wrap="square" lIns="0" rIns="0" tIns="0" bIns="0" anchor="t">
            <a:spAutoFit/>
          </a:bodyPr>
          <a:lstStyle/>
          <a:p>
            <a:pPr algn="l">
              <a:lnSpc>
                <a:spcPct val="100000"/>
              </a:lnSpc>
            </a:pPr>
            <a:r>
              <a:rPr sz="1100" b="0" i="0">
                <a:solidFill>
                  <a:srgbClr val="4A4A4A"/>
                </a:solidFill>
                <a:latin typeface="Calibri"/>
              </a:rPr>
              <a:t>The kitchen must close. The trays are still out.</a:t>
            </a:r>
          </a:p>
        </p:txBody>
      </p:sp>
      <p:sp>
        <p:nvSpPr>
          <p:cNvPr id="34" name="Oval 33"/>
          <p:cNvSpPr/>
          <p:nvPr/>
        </p:nvSpPr>
        <p:spPr>
          <a:xfrm>
            <a:off x="457200" y="4325112"/>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297680"/>
            <a:ext cx="749808" cy="237744"/>
          </a:xfrm>
          <a:prstGeom prst="rect">
            <a:avLst/>
          </a:prstGeom>
          <a:noFill/>
        </p:spPr>
        <p:txBody>
          <a:bodyPr wrap="square" lIns="0" rIns="0" tIns="0" bIns="0" anchor="t">
            <a:spAutoFit/>
          </a:bodyPr>
          <a:lstStyle/>
          <a:p>
            <a:pPr algn="l"/>
            <a:r>
              <a:rPr sz="1100" b="1" i="0">
                <a:solidFill>
                  <a:srgbClr val="C00000"/>
                </a:solidFill>
                <a:latin typeface="Calibri"/>
              </a:rPr>
              <a:t>11:40 pm</a:t>
            </a:r>
          </a:p>
        </p:txBody>
      </p:sp>
      <p:sp>
        <p:nvSpPr>
          <p:cNvPr id="36" name="TextBox 35"/>
          <p:cNvSpPr txBox="1"/>
          <p:nvPr/>
        </p:nvSpPr>
        <p:spPr>
          <a:xfrm>
            <a:off x="1572768" y="4261104"/>
            <a:ext cx="3017520" cy="548640"/>
          </a:xfrm>
          <a:prstGeom prst="rect">
            <a:avLst/>
          </a:prstGeom>
          <a:noFill/>
        </p:spPr>
        <p:txBody>
          <a:bodyPr wrap="square" lIns="0" rIns="0" tIns="0" bIns="0" anchor="t">
            <a:spAutoFit/>
          </a:bodyPr>
          <a:lstStyle/>
          <a:p>
            <a:pPr algn="l">
              <a:lnSpc>
                <a:spcPct val="100000"/>
              </a:lnSpc>
            </a:pPr>
            <a:r>
              <a:rPr sz="1350" b="1" i="0">
                <a:solidFill>
                  <a:srgbClr val="C00000"/>
                </a:solidFill>
                <a:latin typeface="Calibri"/>
              </a:rPr>
              <a:t>The staff throw the food away.</a:t>
            </a:r>
          </a:p>
        </p:txBody>
      </p:sp>
      <p:sp>
        <p:nvSpPr>
          <p:cNvPr id="37" name="TextBox 36"/>
          <p:cNvSpPr txBox="1"/>
          <p:nvPr/>
        </p:nvSpPr>
        <p:spPr>
          <a:xfrm>
            <a:off x="777240" y="4754879"/>
            <a:ext cx="3840480" cy="237744"/>
          </a:xfrm>
          <a:prstGeom prst="rect">
            <a:avLst/>
          </a:prstGeom>
          <a:noFill/>
        </p:spPr>
        <p:txBody>
          <a:bodyPr wrap="square" lIns="0" rIns="0" tIns="0" bIns="0" anchor="t">
            <a:spAutoFit/>
          </a:bodyPr>
          <a:lstStyle/>
          <a:p>
            <a:pPr algn="l"/>
            <a:r>
              <a:rPr sz="950" b="0" i="1">
                <a:solidFill>
                  <a:srgbClr val="7A7A7A"/>
                </a:solidFill>
                <a:latin typeface="Calibri"/>
              </a:rPr>
              <a:t>An illustrative Saturday, without FoodLoop.</a:t>
            </a:r>
          </a:p>
        </p:txBody>
      </p:sp>
      <p:pic>
        <p:nvPicPr>
          <p:cNvPr id="38" name="Picture 37" descr="hero.jpg"/>
          <p:cNvPicPr>
            <a:picLocks noChangeAspect="1"/>
          </p:cNvPicPr>
          <p:nvPr/>
        </p:nvPicPr>
        <p:blipFill>
          <a:blip r:embed="rId5"/>
          <a:stretch>
            <a:fillRect/>
          </a:stretch>
        </p:blipFill>
        <p:spPr>
          <a:xfrm>
            <a:off x="4892040" y="841248"/>
            <a:ext cx="3886200" cy="1734369"/>
          </a:xfrm>
          <a:prstGeom prst="rect">
            <a:avLst/>
          </a:prstGeom>
        </p:spPr>
      </p:pic>
      <p:sp>
        <p:nvSpPr>
          <p:cNvPr id="39" name="TextBox 38"/>
          <p:cNvSpPr txBox="1"/>
          <p:nvPr/>
        </p:nvSpPr>
        <p:spPr>
          <a:xfrm>
            <a:off x="4892040" y="2596896"/>
            <a:ext cx="3886200" cy="219456"/>
          </a:xfrm>
          <a:prstGeom prst="rect">
            <a:avLst/>
          </a:prstGeom>
          <a:noFill/>
        </p:spPr>
        <p:txBody>
          <a:bodyPr wrap="square" lIns="0" rIns="0" tIns="0" bIns="0" anchor="t">
            <a:spAutoFit/>
          </a:bodyPr>
          <a:lstStyle/>
          <a:p>
            <a:pPr algn="l"/>
            <a:r>
              <a:rPr sz="950" b="0" i="0">
                <a:solidFill>
                  <a:srgbClr val="7A7A7A"/>
                </a:solidFill>
                <a:latin typeface="Calibri"/>
              </a:rPr>
              <a:t>Closing time: good food, nowhere to send it.</a:t>
            </a:r>
          </a:p>
        </p:txBody>
      </p:sp>
      <p:sp>
        <p:nvSpPr>
          <p:cNvPr id="40" name="TextBox 39"/>
          <p:cNvSpPr txBox="1"/>
          <p:nvPr/>
        </p:nvSpPr>
        <p:spPr>
          <a:xfrm>
            <a:off x="4892040" y="2944368"/>
            <a:ext cx="3886200" cy="219456"/>
          </a:xfrm>
          <a:prstGeom prst="rect">
            <a:avLst/>
          </a:prstGeom>
          <a:noFill/>
        </p:spPr>
        <p:txBody>
          <a:bodyPr wrap="square" lIns="0" rIns="0" tIns="0" bIns="0" anchor="t">
            <a:spAutoFit/>
          </a:bodyPr>
          <a:lstStyle/>
          <a:p>
            <a:pPr algn="l"/>
            <a:r>
              <a:rPr sz="1000" b="1" i="0">
                <a:solidFill>
                  <a:srgbClr val="C00000"/>
                </a:solidFill>
                <a:latin typeface="Calibri"/>
              </a:rPr>
              <a:t>WHAT WE SET OUT TO BUILD</a:t>
            </a:r>
          </a:p>
        </p:txBody>
      </p:sp>
      <p:sp>
        <p:nvSpPr>
          <p:cNvPr id="41" name="Rounded Rectangle 40"/>
          <p:cNvSpPr/>
          <p:nvPr/>
        </p:nvSpPr>
        <p:spPr>
          <a:xfrm>
            <a:off x="4892040" y="3218688"/>
            <a:ext cx="1874519" cy="1078992"/>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020055" y="3337560"/>
            <a:ext cx="256032" cy="25603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0055" y="3337560"/>
            <a:ext cx="256032" cy="256032"/>
          </a:xfrm>
          <a:prstGeom prst="rect">
            <a:avLst/>
          </a:prstGeom>
          <a:noFill/>
        </p:spPr>
        <p:txBody>
          <a:bodyPr wrap="square" lIns="0" rIns="0" tIns="0" bIns="0" anchor="ctr">
            <a:spAutoFit/>
          </a:bodyPr>
          <a:lstStyle/>
          <a:p>
            <a:pPr algn="ctr"/>
            <a:r>
              <a:rPr sz="1100" b="1" i="0">
                <a:solidFill>
                  <a:srgbClr val="FFFFFF"/>
                </a:solidFill>
                <a:latin typeface="Calibri"/>
              </a:rPr>
              <a:t>1</a:t>
            </a:r>
          </a:p>
        </p:txBody>
      </p:sp>
      <p:sp>
        <p:nvSpPr>
          <p:cNvPr id="44" name="TextBox 43"/>
          <p:cNvSpPr txBox="1"/>
          <p:nvPr/>
        </p:nvSpPr>
        <p:spPr>
          <a:xfrm>
            <a:off x="5349240" y="3364992"/>
            <a:ext cx="1289303" cy="237744"/>
          </a:xfrm>
          <a:prstGeom prst="rect">
            <a:avLst/>
          </a:prstGeom>
          <a:noFill/>
        </p:spPr>
        <p:txBody>
          <a:bodyPr wrap="square" lIns="0" rIns="0" tIns="0" bIns="0" anchor="t">
            <a:spAutoFit/>
          </a:bodyPr>
          <a:lstStyle/>
          <a:p>
            <a:pPr algn="l"/>
            <a:r>
              <a:rPr sz="1100" b="1" i="0">
                <a:solidFill>
                  <a:srgbClr val="1F1F1F"/>
                </a:solidFill>
                <a:latin typeface="Calibri"/>
              </a:rPr>
              <a:t>Beat the deadline</a:t>
            </a:r>
          </a:p>
        </p:txBody>
      </p:sp>
      <p:sp>
        <p:nvSpPr>
          <p:cNvPr id="45" name="TextBox 44"/>
          <p:cNvSpPr txBox="1"/>
          <p:nvPr/>
        </p:nvSpPr>
        <p:spPr>
          <a:xfrm>
            <a:off x="5020055" y="3675887"/>
            <a:ext cx="1618487"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Offer food only to shelters that can really collect it in time.</a:t>
            </a:r>
          </a:p>
        </p:txBody>
      </p:sp>
      <p:sp>
        <p:nvSpPr>
          <p:cNvPr id="46" name="Rounded Rectangle 45"/>
          <p:cNvSpPr/>
          <p:nvPr/>
        </p:nvSpPr>
        <p:spPr>
          <a:xfrm>
            <a:off x="6903719" y="3218688"/>
            <a:ext cx="1874519" cy="1078992"/>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031735" y="3337560"/>
            <a:ext cx="256032" cy="25603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31735" y="3337560"/>
            <a:ext cx="256032" cy="256032"/>
          </a:xfrm>
          <a:prstGeom prst="rect">
            <a:avLst/>
          </a:prstGeom>
          <a:noFill/>
        </p:spPr>
        <p:txBody>
          <a:bodyPr wrap="square" lIns="0" rIns="0" tIns="0" bIns="0" anchor="ctr">
            <a:spAutoFit/>
          </a:bodyPr>
          <a:lstStyle/>
          <a:p>
            <a:pPr algn="ctr"/>
            <a:r>
              <a:rPr sz="1100" b="1" i="0">
                <a:solidFill>
                  <a:srgbClr val="FFFFFF"/>
                </a:solidFill>
                <a:latin typeface="Calibri"/>
              </a:rPr>
              <a:t>2</a:t>
            </a:r>
          </a:p>
        </p:txBody>
      </p:sp>
      <p:sp>
        <p:nvSpPr>
          <p:cNvPr id="49" name="TextBox 48"/>
          <p:cNvSpPr txBox="1"/>
          <p:nvPr/>
        </p:nvSpPr>
        <p:spPr>
          <a:xfrm>
            <a:off x="7360919" y="3364992"/>
            <a:ext cx="1289303" cy="237744"/>
          </a:xfrm>
          <a:prstGeom prst="rect">
            <a:avLst/>
          </a:prstGeom>
          <a:noFill/>
        </p:spPr>
        <p:txBody>
          <a:bodyPr wrap="square" lIns="0" rIns="0" tIns="0" bIns="0" anchor="t">
            <a:spAutoFit/>
          </a:bodyPr>
          <a:lstStyle/>
          <a:p>
            <a:pPr algn="l"/>
            <a:r>
              <a:rPr sz="1100" b="1" i="0">
                <a:solidFill>
                  <a:srgbClr val="1F1F1F"/>
                </a:solidFill>
                <a:latin typeface="Calibri"/>
              </a:rPr>
              <a:t>Ask one, not all</a:t>
            </a:r>
          </a:p>
        </p:txBody>
      </p:sp>
      <p:sp>
        <p:nvSpPr>
          <p:cNvPr id="50" name="TextBox 49"/>
          <p:cNvSpPr txBox="1"/>
          <p:nvPr/>
        </p:nvSpPr>
        <p:spPr>
          <a:xfrm>
            <a:off x="7031735" y="3675887"/>
            <a:ext cx="1618487"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Rank every verified shelter and ask the best fit first.</a:t>
            </a:r>
          </a:p>
        </p:txBody>
      </p:sp>
      <p:sp>
        <p:nvSpPr>
          <p:cNvPr id="51" name="Rounded Rectangle 50"/>
          <p:cNvSpPr/>
          <p:nvPr/>
        </p:nvSpPr>
        <p:spPr>
          <a:xfrm>
            <a:off x="4892040" y="4407408"/>
            <a:ext cx="1874519" cy="1078992"/>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020055" y="4526280"/>
            <a:ext cx="256032" cy="25603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0055" y="4526280"/>
            <a:ext cx="256032" cy="256032"/>
          </a:xfrm>
          <a:prstGeom prst="rect">
            <a:avLst/>
          </a:prstGeom>
          <a:noFill/>
        </p:spPr>
        <p:txBody>
          <a:bodyPr wrap="square" lIns="0" rIns="0" tIns="0" bIns="0" anchor="ctr">
            <a:spAutoFit/>
          </a:bodyPr>
          <a:lstStyle/>
          <a:p>
            <a:pPr algn="ctr"/>
            <a:r>
              <a:rPr sz="1100" b="1" i="0">
                <a:solidFill>
                  <a:srgbClr val="FFFFFF"/>
                </a:solidFill>
                <a:latin typeface="Calibri"/>
              </a:rPr>
              <a:t>3</a:t>
            </a:r>
          </a:p>
        </p:txBody>
      </p:sp>
      <p:sp>
        <p:nvSpPr>
          <p:cNvPr id="54" name="TextBox 53"/>
          <p:cNvSpPr txBox="1"/>
          <p:nvPr/>
        </p:nvSpPr>
        <p:spPr>
          <a:xfrm>
            <a:off x="5349240" y="4553712"/>
            <a:ext cx="1289303" cy="237744"/>
          </a:xfrm>
          <a:prstGeom prst="rect">
            <a:avLst/>
          </a:prstGeom>
          <a:noFill/>
        </p:spPr>
        <p:txBody>
          <a:bodyPr wrap="square" lIns="0" rIns="0" tIns="0" bIns="0" anchor="t">
            <a:spAutoFit/>
          </a:bodyPr>
          <a:lstStyle/>
          <a:p>
            <a:pPr algn="l"/>
            <a:r>
              <a:rPr sz="1100" b="1" i="0">
                <a:solidFill>
                  <a:srgbClr val="1F1F1F"/>
                </a:solidFill>
                <a:latin typeface="Calibri"/>
              </a:rPr>
              <a:t>They collect it</a:t>
            </a:r>
          </a:p>
        </p:txBody>
      </p:sp>
      <p:sp>
        <p:nvSpPr>
          <p:cNvPr id="55" name="TextBox 54"/>
          <p:cNvSpPr txBox="1"/>
          <p:nvPr/>
        </p:nvSpPr>
        <p:spPr>
          <a:xfrm>
            <a:off x="5020055" y="4864608"/>
            <a:ext cx="1618487"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No riders. A 4-digit handover code proves the right people came.</a:t>
            </a:r>
          </a:p>
        </p:txBody>
      </p:sp>
      <p:sp>
        <p:nvSpPr>
          <p:cNvPr id="56" name="Rounded Rectangle 55"/>
          <p:cNvSpPr/>
          <p:nvPr/>
        </p:nvSpPr>
        <p:spPr>
          <a:xfrm>
            <a:off x="6903719" y="4407408"/>
            <a:ext cx="1874519" cy="1078992"/>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031735" y="4526280"/>
            <a:ext cx="256032" cy="25603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31735" y="4526280"/>
            <a:ext cx="256032" cy="256032"/>
          </a:xfrm>
          <a:prstGeom prst="rect">
            <a:avLst/>
          </a:prstGeom>
          <a:noFill/>
        </p:spPr>
        <p:txBody>
          <a:bodyPr wrap="square" lIns="0" rIns="0" tIns="0" bIns="0" anchor="ctr">
            <a:spAutoFit/>
          </a:bodyPr>
          <a:lstStyle/>
          <a:p>
            <a:pPr algn="ctr"/>
            <a:r>
              <a:rPr sz="1100" b="1" i="0">
                <a:solidFill>
                  <a:srgbClr val="FFFFFF"/>
                </a:solidFill>
                <a:latin typeface="Calibri"/>
              </a:rPr>
              <a:t>4</a:t>
            </a:r>
          </a:p>
        </p:txBody>
      </p:sp>
      <p:sp>
        <p:nvSpPr>
          <p:cNvPr id="59" name="TextBox 58"/>
          <p:cNvSpPr txBox="1"/>
          <p:nvPr/>
        </p:nvSpPr>
        <p:spPr>
          <a:xfrm>
            <a:off x="7360919" y="4553712"/>
            <a:ext cx="1289303" cy="237744"/>
          </a:xfrm>
          <a:prstGeom prst="rect">
            <a:avLst/>
          </a:prstGeom>
          <a:noFill/>
        </p:spPr>
        <p:txBody>
          <a:bodyPr wrap="square" lIns="0" rIns="0" tIns="0" bIns="0" anchor="t">
            <a:spAutoFit/>
          </a:bodyPr>
          <a:lstStyle/>
          <a:p>
            <a:pPr algn="l"/>
            <a:r>
              <a:rPr sz="1100" b="1" i="0">
                <a:solidFill>
                  <a:srgbClr val="1F1F1F"/>
                </a:solidFill>
                <a:latin typeface="Calibri"/>
              </a:rPr>
              <a:t>Explain everything</a:t>
            </a:r>
          </a:p>
        </p:txBody>
      </p:sp>
      <p:sp>
        <p:nvSpPr>
          <p:cNvPr id="60" name="TextBox 59"/>
          <p:cNvSpPr txBox="1"/>
          <p:nvPr/>
        </p:nvSpPr>
        <p:spPr>
          <a:xfrm>
            <a:off x="7031735" y="4864608"/>
            <a:ext cx="1618487"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Show the score factor by factor, and measure the impact.</a:t>
            </a:r>
          </a:p>
        </p:txBody>
      </p:sp>
    </p:spTree>
    <p:extLst>
      <p:ext uri="{BB962C8B-B14F-4D97-AF65-F5344CB8AC3E}">
        <p14:creationId xmlns:p14="http://schemas.microsoft.com/office/powerpoint/2010/main" val="2562833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331720" y="109728"/>
            <a:ext cx="630936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600" b="1">
                <a:solidFill>
                  <a:srgbClr val="C00000"/>
                </a:solidFill>
                <a:latin typeface="Calibri"/>
              </a:rPr>
              <a:t>Use-Case Diagram</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usecase_full.png"/>
          <p:cNvPicPr>
            <a:picLocks noChangeAspect="1"/>
          </p:cNvPicPr>
          <p:nvPr/>
        </p:nvPicPr>
        <p:blipFill>
          <a:blip r:embed="rId5"/>
          <a:stretch>
            <a:fillRect/>
          </a:stretch>
        </p:blipFill>
        <p:spPr>
          <a:xfrm>
            <a:off x="292608" y="868680"/>
            <a:ext cx="6726981" cy="4846320"/>
          </a:xfrm>
          <a:prstGeom prst="rect">
            <a:avLst/>
          </a:prstGeom>
        </p:spPr>
      </p:pic>
      <p:sp>
        <p:nvSpPr>
          <p:cNvPr id="21" name="Oval 20"/>
          <p:cNvSpPr/>
          <p:nvPr/>
        </p:nvSpPr>
        <p:spPr>
          <a:xfrm>
            <a:off x="7077456" y="923544"/>
            <a:ext cx="155448" cy="155448"/>
          </a:xfrm>
          <a:prstGeom prst="ellipse">
            <a:avLst/>
          </a:prstGeom>
          <a:solidFill>
            <a:srgbClr val="E8D9A8"/>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896112"/>
            <a:ext cx="1463040" cy="237744"/>
          </a:xfrm>
          <a:prstGeom prst="rect">
            <a:avLst/>
          </a:prstGeom>
          <a:noFill/>
        </p:spPr>
        <p:txBody>
          <a:bodyPr wrap="square" lIns="0" rIns="0" tIns="0" bIns="0" anchor="t">
            <a:spAutoFit/>
          </a:bodyPr>
          <a:lstStyle/>
          <a:p>
            <a:pPr algn="l"/>
            <a:r>
              <a:rPr sz="1150" b="1" i="0">
                <a:solidFill>
                  <a:srgbClr val="C00000"/>
                </a:solidFill>
                <a:latin typeface="Calibri"/>
              </a:rPr>
              <a:t>Donor</a:t>
            </a:r>
          </a:p>
        </p:txBody>
      </p:sp>
      <p:sp>
        <p:nvSpPr>
          <p:cNvPr id="23" name="TextBox 22"/>
          <p:cNvSpPr txBox="1"/>
          <p:nvPr/>
        </p:nvSpPr>
        <p:spPr>
          <a:xfrm>
            <a:off x="7077456" y="1170432"/>
            <a:ext cx="1700784" cy="914400"/>
          </a:xfrm>
          <a:prstGeom prst="rect">
            <a:avLst/>
          </a:prstGeom>
          <a:noFill/>
        </p:spPr>
        <p:txBody>
          <a:bodyPr wrap="square" lIns="0" rIns="0" tIns="0" bIns="0" anchor="t">
            <a:spAutoFit/>
          </a:bodyPr>
          <a:lstStyle/>
          <a:p>
            <a:pPr algn="l">
              <a:lnSpc>
                <a:spcPct val="100000"/>
              </a:lnSpc>
            </a:pPr>
            <a:r>
              <a:rPr sz="900" b="0" i="0">
                <a:solidFill>
                  <a:srgbClr val="4A4A4A"/>
                </a:solidFill>
                <a:latin typeface="Calibri"/>
              </a:rPr>
              <a:t>Registers with an FSSAI licence, posts surplus food, sees the ranked shelters, confirms the pickup with the code and rates the shelter.</a:t>
            </a:r>
          </a:p>
        </p:txBody>
      </p:sp>
      <p:sp>
        <p:nvSpPr>
          <p:cNvPr id="24" name="Oval 23"/>
          <p:cNvSpPr/>
          <p:nvPr/>
        </p:nvSpPr>
        <p:spPr>
          <a:xfrm>
            <a:off x="7077456" y="2139696"/>
            <a:ext cx="155448" cy="155448"/>
          </a:xfrm>
          <a:prstGeom prst="ellipse">
            <a:avLst/>
          </a:prstGeom>
          <a:solidFill>
            <a:srgbClr val="BFDFCB"/>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112264"/>
            <a:ext cx="1463040" cy="237744"/>
          </a:xfrm>
          <a:prstGeom prst="rect">
            <a:avLst/>
          </a:prstGeom>
          <a:noFill/>
        </p:spPr>
        <p:txBody>
          <a:bodyPr wrap="square" lIns="0" rIns="0" tIns="0" bIns="0" anchor="t">
            <a:spAutoFit/>
          </a:bodyPr>
          <a:lstStyle/>
          <a:p>
            <a:pPr algn="l"/>
            <a:r>
              <a:rPr sz="1150" b="1" i="0">
                <a:solidFill>
                  <a:srgbClr val="C00000"/>
                </a:solidFill>
                <a:latin typeface="Calibri"/>
              </a:rPr>
              <a:t>Recipient</a:t>
            </a:r>
          </a:p>
        </p:txBody>
      </p:sp>
      <p:sp>
        <p:nvSpPr>
          <p:cNvPr id="26" name="TextBox 25"/>
          <p:cNvSpPr txBox="1"/>
          <p:nvPr/>
        </p:nvSpPr>
        <p:spPr>
          <a:xfrm>
            <a:off x="7077456" y="2386584"/>
            <a:ext cx="1700784" cy="914400"/>
          </a:xfrm>
          <a:prstGeom prst="rect">
            <a:avLst/>
          </a:prstGeom>
          <a:noFill/>
        </p:spPr>
        <p:txBody>
          <a:bodyPr wrap="square" lIns="0" rIns="0" tIns="0" bIns="0" anchor="t">
            <a:spAutoFit/>
          </a:bodyPr>
          <a:lstStyle/>
          <a:p>
            <a:pPr algn="l">
              <a:lnSpc>
                <a:spcPct val="100000"/>
              </a:lnSpc>
            </a:pPr>
            <a:r>
              <a:rPr sz="900" b="0" i="0">
                <a:solidFill>
                  <a:srgbClr val="4A4A4A"/>
                </a:solidFill>
                <a:latin typeface="Calibri"/>
              </a:rPr>
              <a:t>Registers with the food it accepts, meals per day and travel radius. Sees ranked offers with the score breakdown, accepts or passes, prints a pickup slip.</a:t>
            </a:r>
          </a:p>
        </p:txBody>
      </p:sp>
      <p:sp>
        <p:nvSpPr>
          <p:cNvPr id="27" name="Oval 26"/>
          <p:cNvSpPr/>
          <p:nvPr/>
        </p:nvSpPr>
        <p:spPr>
          <a:xfrm>
            <a:off x="7077456" y="3355848"/>
            <a:ext cx="155448" cy="155448"/>
          </a:xfrm>
          <a:prstGeom prst="ellipse">
            <a:avLst/>
          </a:prstGeom>
          <a:solidFill>
            <a:srgbClr val="CFD6E0"/>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3328416"/>
            <a:ext cx="1463040" cy="237744"/>
          </a:xfrm>
          <a:prstGeom prst="rect">
            <a:avLst/>
          </a:prstGeom>
          <a:noFill/>
        </p:spPr>
        <p:txBody>
          <a:bodyPr wrap="square" lIns="0" rIns="0" tIns="0" bIns="0" anchor="t">
            <a:spAutoFit/>
          </a:bodyPr>
          <a:lstStyle/>
          <a:p>
            <a:pPr algn="l"/>
            <a:r>
              <a:rPr sz="1150" b="1" i="0">
                <a:solidFill>
                  <a:srgbClr val="C00000"/>
                </a:solidFill>
                <a:latin typeface="Calibri"/>
              </a:rPr>
              <a:t>Admin</a:t>
            </a:r>
          </a:p>
        </p:txBody>
      </p:sp>
      <p:sp>
        <p:nvSpPr>
          <p:cNvPr id="29" name="TextBox 28"/>
          <p:cNvSpPr txBox="1"/>
          <p:nvPr/>
        </p:nvSpPr>
        <p:spPr>
          <a:xfrm>
            <a:off x="7077456" y="3602736"/>
            <a:ext cx="1700784" cy="914400"/>
          </a:xfrm>
          <a:prstGeom prst="rect">
            <a:avLst/>
          </a:prstGeom>
          <a:noFill/>
        </p:spPr>
        <p:txBody>
          <a:bodyPr wrap="square" lIns="0" rIns="0" tIns="0" bIns="0" anchor="t">
            <a:spAutoFit/>
          </a:bodyPr>
          <a:lstStyle/>
          <a:p>
            <a:pPr algn="l">
              <a:lnSpc>
                <a:spcPct val="100000"/>
              </a:lnSpc>
            </a:pPr>
            <a:r>
              <a:rPr sz="900" b="0" i="0">
                <a:solidFill>
                  <a:srgbClr val="4A4A4A"/>
                </a:solidFill>
                <a:latin typeface="Calibri"/>
              </a:rPr>
              <a:t>Checks every new shelter and verifies it, or turns it down with a reason. Unverified shelters never receive food.</a:t>
            </a:r>
          </a:p>
        </p:txBody>
      </p:sp>
      <p:sp>
        <p:nvSpPr>
          <p:cNvPr id="30" name="Oval 29"/>
          <p:cNvSpPr/>
          <p:nvPr/>
        </p:nvSpPr>
        <p:spPr>
          <a:xfrm>
            <a:off x="7077456" y="4572000"/>
            <a:ext cx="155448" cy="155448"/>
          </a:xfrm>
          <a:prstGeom prst="ellipse">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0" y="4544568"/>
            <a:ext cx="1463040" cy="237744"/>
          </a:xfrm>
          <a:prstGeom prst="rect">
            <a:avLst/>
          </a:prstGeom>
          <a:noFill/>
        </p:spPr>
        <p:txBody>
          <a:bodyPr wrap="square" lIns="0" rIns="0" tIns="0" bIns="0" anchor="t">
            <a:spAutoFit/>
          </a:bodyPr>
          <a:lstStyle/>
          <a:p>
            <a:pPr algn="l"/>
            <a:r>
              <a:rPr sz="1150" b="1" i="0">
                <a:solidFill>
                  <a:srgbClr val="C00000"/>
                </a:solidFill>
                <a:latin typeface="Calibri"/>
              </a:rPr>
              <a:t>System</a:t>
            </a:r>
          </a:p>
        </p:txBody>
      </p:sp>
      <p:sp>
        <p:nvSpPr>
          <p:cNvPr id="32" name="TextBox 31"/>
          <p:cNvSpPr txBox="1"/>
          <p:nvPr/>
        </p:nvSpPr>
        <p:spPr>
          <a:xfrm>
            <a:off x="7077456" y="4818888"/>
            <a:ext cx="1700784" cy="914400"/>
          </a:xfrm>
          <a:prstGeom prst="rect">
            <a:avLst/>
          </a:prstGeom>
          <a:noFill/>
        </p:spPr>
        <p:txBody>
          <a:bodyPr wrap="square" lIns="0" rIns="0" tIns="0" bIns="0" anchor="t">
            <a:spAutoFit/>
          </a:bodyPr>
          <a:lstStyle/>
          <a:p>
            <a:pPr algn="l">
              <a:lnSpc>
                <a:spcPct val="100000"/>
              </a:lnSpc>
            </a:pPr>
            <a:r>
              <a:rPr sz="900" b="0" i="0">
                <a:solidFill>
                  <a:srgbClr val="4A4A4A"/>
                </a:solidFill>
                <a:latin typeface="Calibri"/>
              </a:rPr>
              <a:t>Authenticates with JWT, filters and scores shelters, re-scores on a pass, expires offers and aggregates the impact statistics.</a:t>
            </a:r>
          </a:p>
        </p:txBody>
      </p:sp>
    </p:spTree>
    <p:extLst>
      <p:ext uri="{BB962C8B-B14F-4D97-AF65-F5344CB8AC3E}">
        <p14:creationId xmlns:p14="http://schemas.microsoft.com/office/powerpoint/2010/main" val="256283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331720" y="109728"/>
            <a:ext cx="630936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600" b="1">
                <a:solidFill>
                  <a:srgbClr val="C00000"/>
                </a:solidFill>
                <a:latin typeface="Calibri"/>
              </a:rPr>
              <a:t>System Architecture &amp; Matching</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22960"/>
            <a:ext cx="3977639" cy="292608"/>
          </a:xfrm>
          <a:prstGeom prst="rect">
            <a:avLst/>
          </a:prstGeom>
          <a:noFill/>
        </p:spPr>
        <p:txBody>
          <a:bodyPr wrap="square" lIns="0" rIns="0" tIns="0" bIns="0" anchor="t">
            <a:spAutoFit/>
          </a:bodyPr>
          <a:lstStyle/>
          <a:p>
            <a:pPr algn="l"/>
            <a:r>
              <a:rPr sz="1500" b="1" i="0">
                <a:solidFill>
                  <a:srgbClr val="1F1F1F"/>
                </a:solidFill>
                <a:latin typeface="Calibri"/>
              </a:rPr>
              <a:t>Three-tier MERN architecture</a:t>
            </a:r>
          </a:p>
        </p:txBody>
      </p:sp>
      <p:sp>
        <p:nvSpPr>
          <p:cNvPr id="21" name="Rounded Rectangle 20"/>
          <p:cNvSpPr/>
          <p:nvPr/>
        </p:nvSpPr>
        <p:spPr>
          <a:xfrm>
            <a:off x="457200" y="1170432"/>
            <a:ext cx="3977639" cy="1024128"/>
          </a:xfrm>
          <a:prstGeom prst="roundRect">
            <a:avLst>
              <a:gd name="adj" fmla="val 8000"/>
            </a:avLst>
          </a:prstGeom>
          <a:solidFill>
            <a:srgbClr val="ECF5EE"/>
          </a:solidFill>
          <a:ln w="12700">
            <a:solidFill>
              <a:srgbClr val="C6E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3504" y="1307592"/>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1307592"/>
            <a:ext cx="274320" cy="274320"/>
          </a:xfrm>
          <a:prstGeom prst="rect">
            <a:avLst/>
          </a:prstGeom>
          <a:noFill/>
        </p:spPr>
        <p:txBody>
          <a:bodyPr wrap="square" lIns="0" rIns="0" tIns="0" bIns="0" anchor="ctr">
            <a:spAutoFit/>
          </a:bodyPr>
          <a:lstStyle/>
          <a:p>
            <a:pPr algn="ctr"/>
            <a:r>
              <a:rPr sz="1150" b="1" i="0">
                <a:solidFill>
                  <a:srgbClr val="FFFFFF"/>
                </a:solidFill>
                <a:latin typeface="Calibri"/>
              </a:rPr>
              <a:t>1</a:t>
            </a:r>
          </a:p>
        </p:txBody>
      </p:sp>
      <p:sp>
        <p:nvSpPr>
          <p:cNvPr id="24" name="TextBox 23"/>
          <p:cNvSpPr txBox="1"/>
          <p:nvPr/>
        </p:nvSpPr>
        <p:spPr>
          <a:xfrm>
            <a:off x="969264" y="1298448"/>
            <a:ext cx="3337559" cy="256032"/>
          </a:xfrm>
          <a:prstGeom prst="rect">
            <a:avLst/>
          </a:prstGeom>
          <a:noFill/>
        </p:spPr>
        <p:txBody>
          <a:bodyPr wrap="square" lIns="0" rIns="0" tIns="0" bIns="0" anchor="t">
            <a:spAutoFit/>
          </a:bodyPr>
          <a:lstStyle/>
          <a:p>
            <a:pPr algn="l"/>
            <a:r>
              <a:rPr sz="1250" b="1" i="0">
                <a:solidFill>
                  <a:srgbClr val="B7202E"/>
                </a:solidFill>
                <a:latin typeface="Calibri"/>
              </a:rPr>
              <a:t>Browser</a:t>
            </a:r>
            <a:r>
              <a:rPr sz="950" b="0" i="0">
                <a:solidFill>
                  <a:srgbClr val="7A7A7A"/>
                </a:solidFill>
                <a:latin typeface="Calibri"/>
              </a:rPr>
              <a:t>   presentation</a:t>
            </a:r>
          </a:p>
        </p:txBody>
      </p:sp>
      <p:sp>
        <p:nvSpPr>
          <p:cNvPr id="25" name="TextBox 24"/>
          <p:cNvSpPr txBox="1"/>
          <p:nvPr/>
        </p:nvSpPr>
        <p:spPr>
          <a:xfrm>
            <a:off x="969264" y="1600200"/>
            <a:ext cx="3319272"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10 pages of plain HTML, CSS and JavaScript
api.js holds the token and calls fetch()
Leaflet + OpenStreetMap for the map</a:t>
            </a:r>
          </a:p>
        </p:txBody>
      </p:sp>
      <p:sp>
        <p:nvSpPr>
          <p:cNvPr id="26" name="TextBox 25"/>
          <p:cNvSpPr txBox="1"/>
          <p:nvPr/>
        </p:nvSpPr>
        <p:spPr>
          <a:xfrm>
            <a:off x="457200" y="2212848"/>
            <a:ext cx="3977639" cy="201168"/>
          </a:xfrm>
          <a:prstGeom prst="rect">
            <a:avLst/>
          </a:prstGeom>
          <a:noFill/>
        </p:spPr>
        <p:txBody>
          <a:bodyPr wrap="square" lIns="0" rIns="0" tIns="0" bIns="0" anchor="t">
            <a:spAutoFit/>
          </a:bodyPr>
          <a:lstStyle/>
          <a:p>
            <a:pPr algn="ctr"/>
            <a:r>
              <a:rPr sz="900" b="1" i="0">
                <a:solidFill>
                  <a:srgbClr val="7A7A7A"/>
                </a:solidFill>
                <a:latin typeface="Calibri"/>
              </a:rPr>
              <a:t>▼ HTTP / JSON</a:t>
            </a:r>
          </a:p>
        </p:txBody>
      </p:sp>
      <p:sp>
        <p:nvSpPr>
          <p:cNvPr id="27" name="Rounded Rectangle 26"/>
          <p:cNvSpPr/>
          <p:nvPr/>
        </p:nvSpPr>
        <p:spPr>
          <a:xfrm>
            <a:off x="457200" y="2432304"/>
            <a:ext cx="3977639" cy="1024128"/>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3504" y="2569464"/>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 y="2569464"/>
            <a:ext cx="274320" cy="274320"/>
          </a:xfrm>
          <a:prstGeom prst="rect">
            <a:avLst/>
          </a:prstGeom>
          <a:noFill/>
        </p:spPr>
        <p:txBody>
          <a:bodyPr wrap="square" lIns="0" rIns="0" tIns="0" bIns="0" anchor="ctr">
            <a:spAutoFit/>
          </a:bodyPr>
          <a:lstStyle/>
          <a:p>
            <a:pPr algn="ctr"/>
            <a:r>
              <a:rPr sz="1150" b="1" i="0">
                <a:solidFill>
                  <a:srgbClr val="FFFFFF"/>
                </a:solidFill>
                <a:latin typeface="Calibri"/>
              </a:rPr>
              <a:t>2</a:t>
            </a:r>
          </a:p>
        </p:txBody>
      </p:sp>
      <p:sp>
        <p:nvSpPr>
          <p:cNvPr id="30" name="TextBox 29"/>
          <p:cNvSpPr txBox="1"/>
          <p:nvPr/>
        </p:nvSpPr>
        <p:spPr>
          <a:xfrm>
            <a:off x="969264" y="2560320"/>
            <a:ext cx="3337559" cy="256032"/>
          </a:xfrm>
          <a:prstGeom prst="rect">
            <a:avLst/>
          </a:prstGeom>
          <a:noFill/>
        </p:spPr>
        <p:txBody>
          <a:bodyPr wrap="square" lIns="0" rIns="0" tIns="0" bIns="0" anchor="t">
            <a:spAutoFit/>
          </a:bodyPr>
          <a:lstStyle/>
          <a:p>
            <a:pPr algn="l"/>
            <a:r>
              <a:rPr sz="1250" b="1" i="0">
                <a:solidFill>
                  <a:srgbClr val="B7202E"/>
                </a:solidFill>
                <a:latin typeface="Calibri"/>
              </a:rPr>
              <a:t>Node.js + Express</a:t>
            </a:r>
            <a:r>
              <a:rPr sz="950" b="0" i="0">
                <a:solidFill>
                  <a:srgbClr val="7A7A7A"/>
                </a:solidFill>
                <a:latin typeface="Calibri"/>
              </a:rPr>
              <a:t>   application logic</a:t>
            </a:r>
          </a:p>
        </p:txBody>
      </p:sp>
      <p:sp>
        <p:nvSpPr>
          <p:cNvPr id="31" name="TextBox 30"/>
          <p:cNvSpPr txBox="1"/>
          <p:nvPr/>
        </p:nvSpPr>
        <p:spPr>
          <a:xfrm>
            <a:off x="969264" y="2862072"/>
            <a:ext cx="3319272"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/auth  /listings  /offers  /organisations  /admin  /stats
protect (JWT) + onlyFor (donor / recipient / admin)</a:t>
            </a:r>
          </a:p>
        </p:txBody>
      </p:sp>
      <p:sp>
        <p:nvSpPr>
          <p:cNvPr id="32" name="TextBox 31"/>
          <p:cNvSpPr txBox="1"/>
          <p:nvPr/>
        </p:nvSpPr>
        <p:spPr>
          <a:xfrm>
            <a:off x="457200" y="3474720"/>
            <a:ext cx="3977639" cy="201168"/>
          </a:xfrm>
          <a:prstGeom prst="rect">
            <a:avLst/>
          </a:prstGeom>
          <a:noFill/>
        </p:spPr>
        <p:txBody>
          <a:bodyPr wrap="square" lIns="0" rIns="0" tIns="0" bIns="0" anchor="t">
            <a:spAutoFit/>
          </a:bodyPr>
          <a:lstStyle/>
          <a:p>
            <a:pPr algn="ctr"/>
            <a:r>
              <a:rPr sz="900" b="1" i="0">
                <a:solidFill>
                  <a:srgbClr val="7A7A7A"/>
                </a:solidFill>
                <a:latin typeface="Calibri"/>
              </a:rPr>
              <a:t>▼ Mongoose</a:t>
            </a:r>
          </a:p>
        </p:txBody>
      </p:sp>
      <p:sp>
        <p:nvSpPr>
          <p:cNvPr id="33" name="Rounded Rectangle 32"/>
          <p:cNvSpPr/>
          <p:nvPr/>
        </p:nvSpPr>
        <p:spPr>
          <a:xfrm>
            <a:off x="457200" y="3694176"/>
            <a:ext cx="3977639" cy="1024128"/>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3504" y="3831336"/>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 y="3831336"/>
            <a:ext cx="274320" cy="274320"/>
          </a:xfrm>
          <a:prstGeom prst="rect">
            <a:avLst/>
          </a:prstGeom>
          <a:noFill/>
        </p:spPr>
        <p:txBody>
          <a:bodyPr wrap="square" lIns="0" rIns="0" tIns="0" bIns="0" anchor="ctr">
            <a:spAutoFit/>
          </a:bodyPr>
          <a:lstStyle/>
          <a:p>
            <a:pPr algn="ctr"/>
            <a:r>
              <a:rPr sz="1150" b="1" i="0">
                <a:solidFill>
                  <a:srgbClr val="FFFFFF"/>
                </a:solidFill>
                <a:latin typeface="Calibri"/>
              </a:rPr>
              <a:t>3</a:t>
            </a:r>
          </a:p>
        </p:txBody>
      </p:sp>
      <p:sp>
        <p:nvSpPr>
          <p:cNvPr id="36" name="TextBox 35"/>
          <p:cNvSpPr txBox="1"/>
          <p:nvPr/>
        </p:nvSpPr>
        <p:spPr>
          <a:xfrm>
            <a:off x="969264" y="3822191"/>
            <a:ext cx="3337559" cy="256032"/>
          </a:xfrm>
          <a:prstGeom prst="rect">
            <a:avLst/>
          </a:prstGeom>
          <a:noFill/>
        </p:spPr>
        <p:txBody>
          <a:bodyPr wrap="square" lIns="0" rIns="0" tIns="0" bIns="0" anchor="t">
            <a:spAutoFit/>
          </a:bodyPr>
          <a:lstStyle/>
          <a:p>
            <a:pPr algn="l"/>
            <a:r>
              <a:rPr sz="1250" b="1" i="0">
                <a:solidFill>
                  <a:srgbClr val="B7202E"/>
                </a:solidFill>
                <a:latin typeface="Calibri"/>
              </a:rPr>
              <a:t>MongoDB + Mongoose</a:t>
            </a:r>
            <a:r>
              <a:rPr sz="950" b="0" i="0">
                <a:solidFill>
                  <a:srgbClr val="7A7A7A"/>
                </a:solidFill>
                <a:latin typeface="Calibri"/>
              </a:rPr>
              <a:t>   data</a:t>
            </a:r>
          </a:p>
        </p:txBody>
      </p:sp>
      <p:sp>
        <p:nvSpPr>
          <p:cNvPr id="37" name="TextBox 36"/>
          <p:cNvSpPr txBox="1"/>
          <p:nvPr/>
        </p:nvSpPr>
        <p:spPr>
          <a:xfrm>
            <a:off x="969264" y="4123944"/>
            <a:ext cx="3319272" cy="54864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organisations  ·  listings  ·  offers
Schemas, validators and aggregation pipelines</a:t>
            </a:r>
          </a:p>
        </p:txBody>
      </p:sp>
      <p:sp>
        <p:nvSpPr>
          <p:cNvPr id="38" name="Rounded Rectangle 37"/>
          <p:cNvSpPr/>
          <p:nvPr/>
        </p:nvSpPr>
        <p:spPr>
          <a:xfrm>
            <a:off x="457200" y="4956048"/>
            <a:ext cx="3977639" cy="841248"/>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065776"/>
            <a:ext cx="3648456" cy="237744"/>
          </a:xfrm>
          <a:prstGeom prst="rect">
            <a:avLst/>
          </a:prstGeom>
          <a:noFill/>
        </p:spPr>
        <p:txBody>
          <a:bodyPr wrap="square" lIns="0" rIns="0" tIns="0" bIns="0" anchor="t">
            <a:spAutoFit/>
          </a:bodyPr>
          <a:lstStyle/>
          <a:p>
            <a:pPr algn="l"/>
            <a:r>
              <a:rPr sz="1250" b="1" i="0">
                <a:solidFill>
                  <a:srgbClr val="B7202E"/>
                </a:solidFill>
                <a:latin typeface="Calibri"/>
              </a:rPr>
              <a:t>Security</a:t>
            </a:r>
          </a:p>
        </p:txBody>
      </p:sp>
      <p:sp>
        <p:nvSpPr>
          <p:cNvPr id="40" name="TextBox 39"/>
          <p:cNvSpPr txBox="1"/>
          <p:nvPr/>
        </p:nvSpPr>
        <p:spPr>
          <a:xfrm>
            <a:off x="621792" y="5340096"/>
            <a:ext cx="3648456" cy="457200"/>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bcrypt password hashing · the owner comes from the token, never the request body · owner-only routes · .env kept out of Git</a:t>
            </a:r>
          </a:p>
        </p:txBody>
      </p:sp>
      <p:sp>
        <p:nvSpPr>
          <p:cNvPr id="41" name="TextBox 40"/>
          <p:cNvSpPr txBox="1"/>
          <p:nvPr/>
        </p:nvSpPr>
        <p:spPr>
          <a:xfrm>
            <a:off x="4800600" y="822960"/>
            <a:ext cx="3977639" cy="292608"/>
          </a:xfrm>
          <a:prstGeom prst="rect">
            <a:avLst/>
          </a:prstGeom>
          <a:noFill/>
        </p:spPr>
        <p:txBody>
          <a:bodyPr wrap="square" lIns="0" rIns="0" tIns="0" bIns="0" anchor="t">
            <a:spAutoFit/>
          </a:bodyPr>
          <a:lstStyle/>
          <a:p>
            <a:pPr algn="l"/>
            <a:r>
              <a:rPr sz="1500" b="1" i="0">
                <a:solidFill>
                  <a:srgbClr val="1F1F1F"/>
                </a:solidFill>
                <a:latin typeface="Calibri"/>
              </a:rPr>
              <a:t>How a listing is matched</a:t>
            </a:r>
          </a:p>
        </p:txBody>
      </p:sp>
      <p:sp>
        <p:nvSpPr>
          <p:cNvPr id="42" name="Rounded Rectangle 41"/>
          <p:cNvSpPr/>
          <p:nvPr/>
        </p:nvSpPr>
        <p:spPr>
          <a:xfrm>
            <a:off x="4800600" y="1170432"/>
            <a:ext cx="932688" cy="932688"/>
          </a:xfrm>
          <a:prstGeom prst="roundRect">
            <a:avLst>
              <a:gd name="adj" fmla="val 11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43500" y="1243584"/>
            <a:ext cx="246888" cy="24688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43500" y="1243584"/>
            <a:ext cx="246888" cy="246888"/>
          </a:xfrm>
          <a:prstGeom prst="rect">
            <a:avLst/>
          </a:prstGeom>
          <a:noFill/>
        </p:spPr>
        <p:txBody>
          <a:bodyPr wrap="square" lIns="0" rIns="0" tIns="0" bIns="0" anchor="ctr">
            <a:spAutoFit/>
          </a:bodyPr>
          <a:lstStyle/>
          <a:p>
            <a:pPr algn="ctr"/>
            <a:r>
              <a:rPr sz="1050" b="1" i="0">
                <a:solidFill>
                  <a:srgbClr val="FFFFFF"/>
                </a:solidFill>
                <a:latin typeface="Calibri"/>
              </a:rPr>
              <a:t>1</a:t>
            </a:r>
          </a:p>
        </p:txBody>
      </p:sp>
      <p:sp>
        <p:nvSpPr>
          <p:cNvPr id="45" name="TextBox 44"/>
          <p:cNvSpPr txBox="1"/>
          <p:nvPr/>
        </p:nvSpPr>
        <p:spPr>
          <a:xfrm>
            <a:off x="4800600" y="1536192"/>
            <a:ext cx="932688" cy="201168"/>
          </a:xfrm>
          <a:prstGeom prst="rect">
            <a:avLst/>
          </a:prstGeom>
          <a:noFill/>
        </p:spPr>
        <p:txBody>
          <a:bodyPr wrap="square" lIns="0" rIns="0" tIns="0" bIns="0" anchor="t">
            <a:spAutoFit/>
          </a:bodyPr>
          <a:lstStyle/>
          <a:p>
            <a:pPr algn="ctr"/>
            <a:r>
              <a:rPr sz="1050" b="1" i="0">
                <a:solidFill>
                  <a:srgbClr val="C00000"/>
                </a:solidFill>
                <a:latin typeface="Calibri"/>
              </a:rPr>
              <a:t>Filter</a:t>
            </a:r>
          </a:p>
        </p:txBody>
      </p:sp>
      <p:sp>
        <p:nvSpPr>
          <p:cNvPr id="46" name="TextBox 45"/>
          <p:cNvSpPr txBox="1"/>
          <p:nvPr/>
        </p:nvSpPr>
        <p:spPr>
          <a:xfrm>
            <a:off x="4837176" y="1755648"/>
            <a:ext cx="859536" cy="329184"/>
          </a:xfrm>
          <a:prstGeom prst="rect">
            <a:avLst/>
          </a:prstGeom>
          <a:noFill/>
        </p:spPr>
        <p:txBody>
          <a:bodyPr wrap="square" lIns="0" rIns="0" tIns="0" bIns="0" anchor="t">
            <a:spAutoFit/>
          </a:bodyPr>
          <a:lstStyle/>
          <a:p>
            <a:pPr algn="ctr">
              <a:lnSpc>
                <a:spcPct val="95000"/>
              </a:lnSpc>
            </a:pPr>
            <a:r>
              <a:rPr sz="850" b="0" i="0">
                <a:solidFill>
                  <a:srgbClr val="4A4A4A"/>
                </a:solidFill>
                <a:latin typeface="Calibri"/>
              </a:rPr>
              <a:t>wrong food,
no room, too far</a:t>
            </a:r>
          </a:p>
        </p:txBody>
      </p:sp>
      <p:sp>
        <p:nvSpPr>
          <p:cNvPr id="47" name="Rounded Rectangle 46"/>
          <p:cNvSpPr/>
          <p:nvPr/>
        </p:nvSpPr>
        <p:spPr>
          <a:xfrm>
            <a:off x="5815584" y="1170432"/>
            <a:ext cx="932688" cy="932688"/>
          </a:xfrm>
          <a:prstGeom prst="roundRect">
            <a:avLst>
              <a:gd name="adj" fmla="val 11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158484" y="1243584"/>
            <a:ext cx="246888" cy="24688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58484" y="1243584"/>
            <a:ext cx="246888" cy="246888"/>
          </a:xfrm>
          <a:prstGeom prst="rect">
            <a:avLst/>
          </a:prstGeom>
          <a:noFill/>
        </p:spPr>
        <p:txBody>
          <a:bodyPr wrap="square" lIns="0" rIns="0" tIns="0" bIns="0" anchor="ctr">
            <a:spAutoFit/>
          </a:bodyPr>
          <a:lstStyle/>
          <a:p>
            <a:pPr algn="ctr"/>
            <a:r>
              <a:rPr sz="1050" b="1" i="0">
                <a:solidFill>
                  <a:srgbClr val="FFFFFF"/>
                </a:solidFill>
                <a:latin typeface="Calibri"/>
              </a:rPr>
              <a:t>2</a:t>
            </a:r>
          </a:p>
        </p:txBody>
      </p:sp>
      <p:sp>
        <p:nvSpPr>
          <p:cNvPr id="50" name="TextBox 49"/>
          <p:cNvSpPr txBox="1"/>
          <p:nvPr/>
        </p:nvSpPr>
        <p:spPr>
          <a:xfrm>
            <a:off x="5815584" y="1536192"/>
            <a:ext cx="932688" cy="201168"/>
          </a:xfrm>
          <a:prstGeom prst="rect">
            <a:avLst/>
          </a:prstGeom>
          <a:noFill/>
        </p:spPr>
        <p:txBody>
          <a:bodyPr wrap="square" lIns="0" rIns="0" tIns="0" bIns="0" anchor="t">
            <a:spAutoFit/>
          </a:bodyPr>
          <a:lstStyle/>
          <a:p>
            <a:pPr algn="ctr"/>
            <a:r>
              <a:rPr sz="1050" b="1" i="0">
                <a:solidFill>
                  <a:srgbClr val="C00000"/>
                </a:solidFill>
                <a:latin typeface="Calibri"/>
              </a:rPr>
              <a:t>Score</a:t>
            </a:r>
          </a:p>
        </p:txBody>
      </p:sp>
      <p:sp>
        <p:nvSpPr>
          <p:cNvPr id="51" name="TextBox 50"/>
          <p:cNvSpPr txBox="1"/>
          <p:nvPr/>
        </p:nvSpPr>
        <p:spPr>
          <a:xfrm>
            <a:off x="5852160" y="1755648"/>
            <a:ext cx="859536" cy="329184"/>
          </a:xfrm>
          <a:prstGeom prst="rect">
            <a:avLst/>
          </a:prstGeom>
          <a:noFill/>
        </p:spPr>
        <p:txBody>
          <a:bodyPr wrap="square" lIns="0" rIns="0" tIns="0" bIns="0" anchor="t">
            <a:spAutoFit/>
          </a:bodyPr>
          <a:lstStyle/>
          <a:p>
            <a:pPr algn="ctr">
              <a:lnSpc>
                <a:spcPct val="95000"/>
              </a:lnSpc>
            </a:pPr>
            <a:r>
              <a:rPr sz="850" b="0" i="0">
                <a:solidFill>
                  <a:srgbClr val="4A4A4A"/>
                </a:solidFill>
                <a:latin typeface="Calibri"/>
              </a:rPr>
              <a:t>5 weighted
factors</a:t>
            </a:r>
          </a:p>
        </p:txBody>
      </p:sp>
      <p:sp>
        <p:nvSpPr>
          <p:cNvPr id="52" name="Rounded Rectangle 51"/>
          <p:cNvSpPr/>
          <p:nvPr/>
        </p:nvSpPr>
        <p:spPr>
          <a:xfrm>
            <a:off x="6830568" y="1170432"/>
            <a:ext cx="932688" cy="932688"/>
          </a:xfrm>
          <a:prstGeom prst="roundRect">
            <a:avLst>
              <a:gd name="adj" fmla="val 11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173468" y="1243584"/>
            <a:ext cx="246888" cy="24688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73468" y="1243584"/>
            <a:ext cx="246888" cy="246888"/>
          </a:xfrm>
          <a:prstGeom prst="rect">
            <a:avLst/>
          </a:prstGeom>
          <a:noFill/>
        </p:spPr>
        <p:txBody>
          <a:bodyPr wrap="square" lIns="0" rIns="0" tIns="0" bIns="0" anchor="ctr">
            <a:spAutoFit/>
          </a:bodyPr>
          <a:lstStyle/>
          <a:p>
            <a:pPr algn="ctr"/>
            <a:r>
              <a:rPr sz="1050" b="1" i="0">
                <a:solidFill>
                  <a:srgbClr val="FFFFFF"/>
                </a:solidFill>
                <a:latin typeface="Calibri"/>
              </a:rPr>
              <a:t>3</a:t>
            </a:r>
          </a:p>
        </p:txBody>
      </p:sp>
      <p:sp>
        <p:nvSpPr>
          <p:cNvPr id="55" name="TextBox 54"/>
          <p:cNvSpPr txBox="1"/>
          <p:nvPr/>
        </p:nvSpPr>
        <p:spPr>
          <a:xfrm>
            <a:off x="6830568" y="1536192"/>
            <a:ext cx="932688" cy="201168"/>
          </a:xfrm>
          <a:prstGeom prst="rect">
            <a:avLst/>
          </a:prstGeom>
          <a:noFill/>
        </p:spPr>
        <p:txBody>
          <a:bodyPr wrap="square" lIns="0" rIns="0" tIns="0" bIns="0" anchor="t">
            <a:spAutoFit/>
          </a:bodyPr>
          <a:lstStyle/>
          <a:p>
            <a:pPr algn="ctr"/>
            <a:r>
              <a:rPr sz="1050" b="1" i="0">
                <a:solidFill>
                  <a:srgbClr val="C00000"/>
                </a:solidFill>
                <a:latin typeface="Calibri"/>
              </a:rPr>
              <a:t>Offer</a:t>
            </a:r>
          </a:p>
        </p:txBody>
      </p:sp>
      <p:sp>
        <p:nvSpPr>
          <p:cNvPr id="56" name="TextBox 55"/>
          <p:cNvSpPr txBox="1"/>
          <p:nvPr/>
        </p:nvSpPr>
        <p:spPr>
          <a:xfrm>
            <a:off x="6867144" y="1755648"/>
            <a:ext cx="859536" cy="329184"/>
          </a:xfrm>
          <a:prstGeom prst="rect">
            <a:avLst/>
          </a:prstGeom>
          <a:noFill/>
        </p:spPr>
        <p:txBody>
          <a:bodyPr wrap="square" lIns="0" rIns="0" tIns="0" bIns="0" anchor="t">
            <a:spAutoFit/>
          </a:bodyPr>
          <a:lstStyle/>
          <a:p>
            <a:pPr algn="ctr">
              <a:lnSpc>
                <a:spcPct val="95000"/>
              </a:lnSpc>
            </a:pPr>
            <a:r>
              <a:rPr sz="850" b="0" i="0">
                <a:solidFill>
                  <a:srgbClr val="4A4A4A"/>
                </a:solidFill>
                <a:latin typeface="Calibri"/>
              </a:rPr>
              <a:t>best first,
10 min to reply</a:t>
            </a:r>
          </a:p>
        </p:txBody>
      </p:sp>
      <p:sp>
        <p:nvSpPr>
          <p:cNvPr id="57" name="Rounded Rectangle 56"/>
          <p:cNvSpPr/>
          <p:nvPr/>
        </p:nvSpPr>
        <p:spPr>
          <a:xfrm>
            <a:off x="7845552" y="1170432"/>
            <a:ext cx="932688" cy="932688"/>
          </a:xfrm>
          <a:prstGeom prst="roundRect">
            <a:avLst>
              <a:gd name="adj" fmla="val 11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188452" y="1243584"/>
            <a:ext cx="246888" cy="24688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88452" y="1243584"/>
            <a:ext cx="246888" cy="246888"/>
          </a:xfrm>
          <a:prstGeom prst="rect">
            <a:avLst/>
          </a:prstGeom>
          <a:noFill/>
        </p:spPr>
        <p:txBody>
          <a:bodyPr wrap="square" lIns="0" rIns="0" tIns="0" bIns="0" anchor="ctr">
            <a:spAutoFit/>
          </a:bodyPr>
          <a:lstStyle/>
          <a:p>
            <a:pPr algn="ctr"/>
            <a:r>
              <a:rPr sz="1050" b="1" i="0">
                <a:solidFill>
                  <a:srgbClr val="FFFFFF"/>
                </a:solidFill>
                <a:latin typeface="Calibri"/>
              </a:rPr>
              <a:t>4</a:t>
            </a:r>
          </a:p>
        </p:txBody>
      </p:sp>
      <p:sp>
        <p:nvSpPr>
          <p:cNvPr id="60" name="TextBox 59"/>
          <p:cNvSpPr txBox="1"/>
          <p:nvPr/>
        </p:nvSpPr>
        <p:spPr>
          <a:xfrm>
            <a:off x="7845552" y="1536192"/>
            <a:ext cx="932688" cy="201168"/>
          </a:xfrm>
          <a:prstGeom prst="rect">
            <a:avLst/>
          </a:prstGeom>
          <a:noFill/>
        </p:spPr>
        <p:txBody>
          <a:bodyPr wrap="square" lIns="0" rIns="0" tIns="0" bIns="0" anchor="t">
            <a:spAutoFit/>
          </a:bodyPr>
          <a:lstStyle/>
          <a:p>
            <a:pPr algn="ctr"/>
            <a:r>
              <a:rPr sz="1050" b="1" i="0">
                <a:solidFill>
                  <a:srgbClr val="C00000"/>
                </a:solidFill>
                <a:latin typeface="Calibri"/>
              </a:rPr>
              <a:t>Cascade</a:t>
            </a:r>
          </a:p>
        </p:txBody>
      </p:sp>
      <p:sp>
        <p:nvSpPr>
          <p:cNvPr id="61" name="TextBox 60"/>
          <p:cNvSpPr txBox="1"/>
          <p:nvPr/>
        </p:nvSpPr>
        <p:spPr>
          <a:xfrm>
            <a:off x="7882127" y="1755648"/>
            <a:ext cx="859536" cy="329184"/>
          </a:xfrm>
          <a:prstGeom prst="rect">
            <a:avLst/>
          </a:prstGeom>
          <a:noFill/>
        </p:spPr>
        <p:txBody>
          <a:bodyPr wrap="square" lIns="0" rIns="0" tIns="0" bIns="0" anchor="t">
            <a:spAutoFit/>
          </a:bodyPr>
          <a:lstStyle/>
          <a:p>
            <a:pPr algn="ctr">
              <a:lnSpc>
                <a:spcPct val="95000"/>
              </a:lnSpc>
            </a:pPr>
            <a:r>
              <a:rPr sz="850" b="0" i="0">
                <a:solidFill>
                  <a:srgbClr val="4A4A4A"/>
                </a:solidFill>
                <a:latin typeface="Calibri"/>
              </a:rPr>
              <a:t>re-score,
ask the next</a:t>
            </a:r>
          </a:p>
        </p:txBody>
      </p:sp>
      <p:sp>
        <p:nvSpPr>
          <p:cNvPr id="62" name="TextBox 61"/>
          <p:cNvSpPr txBox="1"/>
          <p:nvPr/>
        </p:nvSpPr>
        <p:spPr>
          <a:xfrm>
            <a:off x="4800600" y="2231136"/>
            <a:ext cx="3977639" cy="237744"/>
          </a:xfrm>
          <a:prstGeom prst="rect">
            <a:avLst/>
          </a:prstGeom>
          <a:noFill/>
        </p:spPr>
        <p:txBody>
          <a:bodyPr wrap="square" lIns="0" rIns="0" tIns="0" bIns="0" anchor="t">
            <a:spAutoFit/>
          </a:bodyPr>
          <a:lstStyle/>
          <a:p>
            <a:pPr algn="l"/>
            <a:r>
              <a:rPr sz="1200" b="1" i="0">
                <a:solidFill>
                  <a:srgbClr val="1F1F1F"/>
                </a:solidFill>
                <a:latin typeface="Calibri"/>
              </a:rPr>
              <a:t>Score weights</a:t>
            </a:r>
          </a:p>
        </p:txBody>
      </p:sp>
      <p:graphicFrame>
        <p:nvGraphicFramePr>
          <p:cNvPr id="63" name="Chart 62"/>
          <p:cNvGraphicFramePr>
            <a:graphicFrameLocks noGrp="1"/>
          </p:cNvGraphicFramePr>
          <p:nvPr/>
        </p:nvGraphicFramePr>
        <p:xfrm>
          <a:off x="4709160" y="2432304"/>
          <a:ext cx="4160520" cy="1417320"/>
        </p:xfrm>
        <a:graphic>
          <a:graphicData uri="http://schemas.openxmlformats.org/drawingml/2006/chart">
            <c:chart xmlns:c="http://schemas.openxmlformats.org/drawingml/2006/chart" r:id="rId5"/>
          </a:graphicData>
        </a:graphic>
      </p:graphicFrame>
      <p:sp>
        <p:nvSpPr>
          <p:cNvPr id="64" name="Rounded Rectangle 63"/>
          <p:cNvSpPr/>
          <p:nvPr/>
        </p:nvSpPr>
        <p:spPr>
          <a:xfrm>
            <a:off x="4800600" y="3959352"/>
            <a:ext cx="3977639" cy="1755648"/>
          </a:xfrm>
          <a:prstGeom prst="roundRect">
            <a:avLst>
              <a:gd name="adj" fmla="val 8000"/>
            </a:avLst>
          </a:prstGeom>
          <a:solidFill>
            <a:srgbClr val="ECF5EE"/>
          </a:solidFill>
          <a:ln w="12700">
            <a:solidFill>
              <a:srgbClr val="C6E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65192" y="4059936"/>
            <a:ext cx="3648456" cy="237744"/>
          </a:xfrm>
          <a:prstGeom prst="rect">
            <a:avLst/>
          </a:prstGeom>
          <a:noFill/>
        </p:spPr>
        <p:txBody>
          <a:bodyPr wrap="square" lIns="0" rIns="0" tIns="0" bIns="0" anchor="t">
            <a:spAutoFit/>
          </a:bodyPr>
          <a:lstStyle/>
          <a:p>
            <a:pPr algn="l"/>
            <a:r>
              <a:rPr sz="1150" b="1" i="0">
                <a:solidFill>
                  <a:srgbClr val="1F1F1F"/>
                </a:solidFill>
                <a:latin typeface="Calibri"/>
              </a:rPr>
              <a:t>Worked example</a:t>
            </a:r>
            <a:r>
              <a:rPr sz="1000" b="0" i="0">
                <a:solidFill>
                  <a:srgbClr val="4A4A4A"/>
                </a:solidFill>
                <a:latin typeface="Calibri"/>
              </a:rPr>
              <a:t>   40 veg meals, 3 hours</a:t>
            </a:r>
          </a:p>
        </p:txBody>
      </p:sp>
      <p:sp>
        <p:nvSpPr>
          <p:cNvPr id="66" name="TextBox 65"/>
          <p:cNvSpPr txBox="1"/>
          <p:nvPr/>
        </p:nvSpPr>
        <p:spPr>
          <a:xfrm>
            <a:off x="4965192" y="4370832"/>
            <a:ext cx="2514600" cy="822960"/>
          </a:xfrm>
          <a:prstGeom prst="rect">
            <a:avLst/>
          </a:prstGeom>
          <a:noFill/>
        </p:spPr>
        <p:txBody>
          <a:bodyPr wrap="square" lIns="0" rIns="0" tIns="0" bIns="0" anchor="t">
            <a:spAutoFit/>
          </a:bodyPr>
          <a:lstStyle/>
          <a:p>
            <a:pPr algn="l">
              <a:spcAft>
                <a:spcPts val="300"/>
              </a:spcAft>
            </a:pPr>
            <a:r>
              <a:rPr sz="1000" b="0" i="0">
                <a:solidFill>
                  <a:srgbClr val="4A4A4A"/>
                </a:solidFill>
                <a:latin typeface="Calibri"/>
              </a:rPr>
              <a:t>0.35×0.83 + 0.25×0.28 + 0.20×0.50</a:t>
            </a:r>
          </a:p>
          <a:p>
            <a:pPr algn="l">
              <a:spcAft>
                <a:spcPts val="300"/>
              </a:spcAft>
            </a:pPr>
            <a:r>
              <a:rPr sz="1000" b="0" i="0">
                <a:solidFill>
                  <a:srgbClr val="4A4A4A"/>
                </a:solidFill>
                <a:latin typeface="Calibri"/>
              </a:rPr>
              <a:t>+ 0.10×1.00 + 0.10×0.90</a:t>
            </a:r>
          </a:p>
          <a:p>
            <a:pPr algn="l">
              <a:spcAft>
                <a:spcPts val="300"/>
              </a:spcAft>
            </a:pPr>
            <a:r>
              <a:rPr sz="950" b="0" i="1">
                <a:solidFill>
                  <a:srgbClr val="7A7A7A"/>
                </a:solidFill>
                <a:latin typeface="Calibri"/>
              </a:rPr>
              <a:t>Sneh Sadan, Dadar · 10.1 km · 30 min</a:t>
            </a:r>
          </a:p>
        </p:txBody>
      </p:sp>
      <p:sp>
        <p:nvSpPr>
          <p:cNvPr id="67" name="TextBox 66"/>
          <p:cNvSpPr txBox="1"/>
          <p:nvPr/>
        </p:nvSpPr>
        <p:spPr>
          <a:xfrm>
            <a:off x="7498079" y="4315968"/>
            <a:ext cx="1115568" cy="658368"/>
          </a:xfrm>
          <a:prstGeom prst="rect">
            <a:avLst/>
          </a:prstGeom>
          <a:noFill/>
        </p:spPr>
        <p:txBody>
          <a:bodyPr wrap="square" lIns="0" rIns="0" tIns="0" bIns="0" anchor="t">
            <a:spAutoFit/>
          </a:bodyPr>
          <a:lstStyle/>
          <a:p>
            <a:pPr algn="r"/>
            <a:r>
              <a:rPr sz="3600" b="1" i="0">
                <a:solidFill>
                  <a:srgbClr val="C00000"/>
                </a:solidFill>
                <a:latin typeface="Calibri"/>
              </a:rPr>
              <a:t>65</a:t>
            </a:r>
          </a:p>
        </p:txBody>
      </p:sp>
      <p:sp>
        <p:nvSpPr>
          <p:cNvPr id="68" name="TextBox 67"/>
          <p:cNvSpPr txBox="1"/>
          <p:nvPr/>
        </p:nvSpPr>
        <p:spPr>
          <a:xfrm>
            <a:off x="7498079" y="4919472"/>
            <a:ext cx="1115568" cy="219456"/>
          </a:xfrm>
          <a:prstGeom prst="rect">
            <a:avLst/>
          </a:prstGeom>
          <a:noFill/>
        </p:spPr>
        <p:txBody>
          <a:bodyPr wrap="square" lIns="0" rIns="0" tIns="0" bIns="0" anchor="t">
            <a:spAutoFit/>
          </a:bodyPr>
          <a:lstStyle/>
          <a:p>
            <a:pPr algn="r"/>
            <a:r>
              <a:rPr sz="950" b="0" i="0">
                <a:solidFill>
                  <a:srgbClr val="7A7A7A"/>
                </a:solidFill>
                <a:latin typeface="Calibri"/>
              </a:rPr>
              <a:t>out of 100</a:t>
            </a:r>
          </a:p>
        </p:txBody>
      </p:sp>
      <p:sp>
        <p:nvSpPr>
          <p:cNvPr id="69" name="TextBox 68"/>
          <p:cNvSpPr txBox="1"/>
          <p:nvPr/>
        </p:nvSpPr>
        <p:spPr>
          <a:xfrm>
            <a:off x="4965192" y="5266944"/>
            <a:ext cx="3648456" cy="365760"/>
          </a:xfrm>
          <a:prstGeom prst="rect">
            <a:avLst/>
          </a:prstGeom>
          <a:noFill/>
        </p:spPr>
        <p:txBody>
          <a:bodyPr wrap="square" lIns="0" rIns="0" tIns="0" bIns="0" anchor="t">
            <a:spAutoFit/>
          </a:bodyPr>
          <a:lstStyle/>
          <a:p>
            <a:pPr algn="l">
              <a:lnSpc>
                <a:spcPct val="100000"/>
              </a:lnSpc>
            </a:pPr>
            <a:r>
              <a:rPr sz="900" b="0" i="0">
                <a:solidFill>
                  <a:srgbClr val="4A4A4A"/>
                </a:solidFill>
                <a:latin typeface="Calibri"/>
              </a:rPr>
              <a:t>Prakash Old Age Home scores 0: veg-only with room for 25, so the filter removes it first.</a:t>
            </a:r>
          </a:p>
        </p:txBody>
      </p:sp>
    </p:spTree>
    <p:extLst>
      <p:ext uri="{BB962C8B-B14F-4D97-AF65-F5344CB8AC3E}">
        <p14:creationId xmlns:p14="http://schemas.microsoft.com/office/powerpoint/2010/main" val="2562833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dirty="0"/>
          </a:p>
        </p:txBody>
      </p:sp>
      <p:sp>
        <p:nvSpPr>
          <p:cNvPr id="15" name="Title 1">
            <a:extLst>
              <a:ext uri="{FF2B5EF4-FFF2-40B4-BE49-F238E27FC236}">
                <a16:creationId xmlns:a16="http://schemas.microsoft.com/office/drawing/2014/main" id="{FC0AE158-2DA7-42D2-AAC5-BE89365BA6FF}"/>
              </a:ext>
            </a:extLst>
          </p:cNvPr>
          <p:cNvSpPr txBox="1">
            <a:spLocks/>
          </p:cNvSpPr>
          <p:nvPr/>
        </p:nvSpPr>
        <p:spPr>
          <a:xfrm>
            <a:off x="2331720" y="109728"/>
            <a:ext cx="6309360" cy="566928"/>
          </a:xfrm>
          <a:prstGeom prst="rect">
            <a:avLst/>
          </a:prstGeom>
        </p:spPr>
        <p:txBody>
          <a:bodyPr vert="horz" lIns="91440" tIns="45720" rIns="91440" bIns="45720" rtlCol="0" anchor="ctr">
            <a:noAutofit/>
          </a:bodyPr>
          <a:lstStyle>
            <a:lvl1pPr algn="l" defTabSz="1280160" rtl="0" eaLnBrk="1" latinLnBrk="0" hangingPunct="1">
              <a:lnSpc>
                <a:spcPct val="90000"/>
              </a:lnSpc>
              <a:spcBef>
                <a:spcPct val="0"/>
              </a:spcBef>
              <a:buNone/>
              <a:defRPr sz="5880" b="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spcBef>
                <a:spcPts val="0"/>
              </a:spcBef>
            </a:pPr>
            <a:r>
              <a:rPr sz="2600" b="1">
                <a:solidFill>
                  <a:srgbClr val="C00000"/>
                </a:solidFill>
                <a:latin typeface="Calibri"/>
              </a:rPr>
              <a:t>Implementation &amp; Results</a:t>
            </a:r>
            <a:endParaRPr lang="en-US" sz="1050" dirty="0"/>
          </a:p>
        </p:txBody>
      </p:sp>
      <p:pic>
        <p:nvPicPr>
          <p:cNvPr id="18"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800" y="0"/>
            <a:ext cx="838200" cy="624765"/>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667000" cy="666750"/>
          </a:xfrm>
          <a:prstGeom prst="rect">
            <a:avLst/>
          </a:prstGeom>
        </p:spPr>
      </p:pic>
      <p:sp>
        <p:nvSpPr>
          <p:cNvPr id="2" name="Rectangle 1"/>
          <p:cNvSpPr/>
          <p:nvPr/>
        </p:nvSpPr>
        <p:spPr>
          <a:xfrm>
            <a:off x="685800" y="481663"/>
            <a:ext cx="1828800" cy="127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57200" y="804672"/>
            <a:ext cx="8321040" cy="347472"/>
          </a:xfrm>
          <a:prstGeom prst="rect">
            <a:avLst/>
          </a:prstGeom>
          <a:noFill/>
        </p:spPr>
        <p:txBody>
          <a:bodyPr wrap="square" lIns="0" rIns="0" tIns="0" bIns="0" anchor="t">
            <a:spAutoFit/>
          </a:bodyPr>
          <a:lstStyle/>
          <a:p>
            <a:pPr algn="l"/>
            <a:r>
              <a:rPr sz="1900" b="1" i="0">
                <a:solidFill>
                  <a:srgbClr val="1F1F1F"/>
                </a:solidFill>
                <a:latin typeface="Calibri"/>
              </a:rPr>
              <a:t>Ten working pages, </a:t>
            </a:r>
            <a:r>
              <a:rPr sz="1900" b="1" i="1">
                <a:solidFill>
                  <a:srgbClr val="C00000"/>
                </a:solidFill>
                <a:latin typeface="Calibri"/>
              </a:rPr>
              <a:t>one pickup from post to plate.</a:t>
            </a:r>
          </a:p>
        </p:txBody>
      </p:sp>
      <p:sp>
        <p:nvSpPr>
          <p:cNvPr id="21" name="TextBox 20"/>
          <p:cNvSpPr txBox="1"/>
          <p:nvPr/>
        </p:nvSpPr>
        <p:spPr>
          <a:xfrm>
            <a:off x="457200" y="1207008"/>
            <a:ext cx="8321040" cy="237744"/>
          </a:xfrm>
          <a:prstGeom prst="rect">
            <a:avLst/>
          </a:prstGeom>
          <a:noFill/>
        </p:spPr>
        <p:txBody>
          <a:bodyPr wrap="square" lIns="0" rIns="0" tIns="0" bIns="0" anchor="t">
            <a:spAutoFit/>
          </a:bodyPr>
          <a:lstStyle/>
          <a:p>
            <a:pPr algn="l"/>
            <a:r>
              <a:rPr sz="1000" b="0" i="0">
                <a:solidFill>
                  <a:srgbClr val="4A4A4A"/>
                </a:solidFill>
                <a:latin typeface="Calibri"/>
              </a:rPr>
              <a:t>Separate sign-up · JWT for 3 roles · ranked cascade · handover code · admin verification · two-way ratings · surplus prediction · live impact charts</a:t>
            </a:r>
          </a:p>
        </p:txBody>
      </p:sp>
      <p:pic>
        <p:nvPicPr>
          <p:cNvPr id="22" name="Picture 21" descr="fs-donor.jpg"/>
          <p:cNvPicPr>
            <a:picLocks noChangeAspect="1"/>
          </p:cNvPicPr>
          <p:nvPr/>
        </p:nvPicPr>
        <p:blipFill>
          <a:blip r:embed="rId5"/>
          <a:stretch>
            <a:fillRect/>
          </a:stretch>
        </p:blipFill>
        <p:spPr>
          <a:xfrm>
            <a:off x="457200" y="1554480"/>
            <a:ext cx="4069080" cy="2803144"/>
          </a:xfrm>
          <a:prstGeom prst="rect">
            <a:avLst/>
          </a:prstGeom>
          <a:ln w="9525">
            <a:solidFill>
              <a:srgbClr val="DBD6D6"/>
            </a:solidFill>
          </a:ln>
        </p:spPr>
      </p:pic>
      <p:sp>
        <p:nvSpPr>
          <p:cNvPr id="23" name="TextBox 22"/>
          <p:cNvSpPr txBox="1"/>
          <p:nvPr/>
        </p:nvSpPr>
        <p:spPr>
          <a:xfrm>
            <a:off x="457200" y="4449063"/>
            <a:ext cx="4069080" cy="237744"/>
          </a:xfrm>
          <a:prstGeom prst="rect">
            <a:avLst/>
          </a:prstGeom>
          <a:noFill/>
        </p:spPr>
        <p:txBody>
          <a:bodyPr wrap="square" lIns="0" rIns="0" tIns="0" bIns="0" anchor="t">
            <a:spAutoFit/>
          </a:bodyPr>
          <a:lstStyle/>
          <a:p>
            <a:pPr algn="l"/>
            <a:r>
              <a:rPr sz="1200" b="1" i="0">
                <a:solidFill>
                  <a:srgbClr val="1F1F1F"/>
                </a:solidFill>
                <a:latin typeface="Calibri"/>
              </a:rPr>
              <a:t>Donor dashboard</a:t>
            </a:r>
          </a:p>
        </p:txBody>
      </p:sp>
      <p:sp>
        <p:nvSpPr>
          <p:cNvPr id="24" name="TextBox 23"/>
          <p:cNvSpPr txBox="1"/>
          <p:nvPr/>
        </p:nvSpPr>
        <p:spPr>
          <a:xfrm>
            <a:off x="457200" y="4686808"/>
            <a:ext cx="4069080" cy="402336"/>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Ranked shelters with distance, drive time and score. Live countdown, then a box for the handover code.</a:t>
            </a:r>
          </a:p>
        </p:txBody>
      </p:sp>
      <p:pic>
        <p:nvPicPr>
          <p:cNvPr id="25" name="Picture 24" descr="fs-impact.jpg"/>
          <p:cNvPicPr>
            <a:picLocks noChangeAspect="1"/>
          </p:cNvPicPr>
          <p:nvPr/>
        </p:nvPicPr>
        <p:blipFill>
          <a:blip r:embed="rId6"/>
          <a:stretch>
            <a:fillRect/>
          </a:stretch>
        </p:blipFill>
        <p:spPr>
          <a:xfrm>
            <a:off x="4709160" y="1554480"/>
            <a:ext cx="4069080" cy="2803144"/>
          </a:xfrm>
          <a:prstGeom prst="rect">
            <a:avLst/>
          </a:prstGeom>
          <a:ln w="9525">
            <a:solidFill>
              <a:srgbClr val="DBD6D6"/>
            </a:solidFill>
          </a:ln>
        </p:spPr>
      </p:pic>
      <p:sp>
        <p:nvSpPr>
          <p:cNvPr id="26" name="TextBox 25"/>
          <p:cNvSpPr txBox="1"/>
          <p:nvPr/>
        </p:nvSpPr>
        <p:spPr>
          <a:xfrm>
            <a:off x="4709160" y="4449063"/>
            <a:ext cx="4069080" cy="237744"/>
          </a:xfrm>
          <a:prstGeom prst="rect">
            <a:avLst/>
          </a:prstGeom>
          <a:noFill/>
        </p:spPr>
        <p:txBody>
          <a:bodyPr wrap="square" lIns="0" rIns="0" tIns="0" bIns="0" anchor="t">
            <a:spAutoFit/>
          </a:bodyPr>
          <a:lstStyle/>
          <a:p>
            <a:pPr algn="l"/>
            <a:r>
              <a:rPr sz="1200" b="1" i="0">
                <a:solidFill>
                  <a:srgbClr val="1F1F1F"/>
                </a:solidFill>
                <a:latin typeface="Calibri"/>
              </a:rPr>
              <a:t>Impact dashboard</a:t>
            </a:r>
          </a:p>
        </p:txBody>
      </p:sp>
      <p:sp>
        <p:nvSpPr>
          <p:cNvPr id="27" name="TextBox 26"/>
          <p:cNvSpPr txBox="1"/>
          <p:nvPr/>
        </p:nvSpPr>
        <p:spPr>
          <a:xfrm>
            <a:off x="4709160" y="4686808"/>
            <a:ext cx="4069080" cy="402336"/>
          </a:xfrm>
          <a:prstGeom prst="rect">
            <a:avLst/>
          </a:prstGeom>
          <a:noFill/>
        </p:spPr>
        <p:txBody>
          <a:bodyPr wrap="square" lIns="0" rIns="0" tIns="0" bIns="0" anchor="t">
            <a:spAutoFit/>
          </a:bodyPr>
          <a:lstStyle/>
          <a:p>
            <a:pPr algn="l">
              <a:lnSpc>
                <a:spcPct val="100000"/>
              </a:lnSpc>
            </a:pPr>
            <a:r>
              <a:rPr sz="950" b="0" i="0">
                <a:solidFill>
                  <a:srgbClr val="4A4A4A"/>
                </a:solidFill>
                <a:latin typeface="Calibri"/>
              </a:rPr>
              <a:t>Every figure built live from MongoDB aggregation: meals a day, food types, collected against expired.</a:t>
            </a:r>
          </a:p>
        </p:txBody>
      </p:sp>
      <p:sp>
        <p:nvSpPr>
          <p:cNvPr id="28" name="Rounded Rectangle 27"/>
          <p:cNvSpPr/>
          <p:nvPr/>
        </p:nvSpPr>
        <p:spPr>
          <a:xfrm>
            <a:off x="457200" y="4974336"/>
            <a:ext cx="8321040" cy="768096"/>
          </a:xfrm>
          <a:prstGeom prst="roundRect">
            <a:avLst>
              <a:gd name="adj" fmla="val 8000"/>
            </a:avLst>
          </a:prstGeom>
          <a:solidFill>
            <a:srgbClr val="F7F4F4"/>
          </a:solidFill>
          <a:ln w="12700">
            <a:solidFill>
              <a:srgbClr val="DB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074920"/>
            <a:ext cx="1805939" cy="292608"/>
          </a:xfrm>
          <a:prstGeom prst="rect">
            <a:avLst/>
          </a:prstGeom>
          <a:noFill/>
        </p:spPr>
        <p:txBody>
          <a:bodyPr wrap="square" lIns="0" rIns="0" tIns="0" bIns="0" anchor="t">
            <a:spAutoFit/>
          </a:bodyPr>
          <a:lstStyle/>
          <a:p>
            <a:pPr algn="l"/>
            <a:r>
              <a:rPr sz="1700" b="1" i="0">
                <a:solidFill>
                  <a:srgbClr val="C00000"/>
                </a:solidFill>
                <a:latin typeface="Calibri"/>
              </a:rPr>
              <a:t>100</a:t>
            </a:r>
            <a:r>
              <a:rPr sz="1000" b="0" i="0">
                <a:solidFill>
                  <a:srgbClr val="1F1F1F"/>
                </a:solidFill>
                <a:latin typeface="Calibri"/>
              </a:rPr>
              <a:t>  automated tests pass</a:t>
            </a:r>
          </a:p>
        </p:txBody>
      </p:sp>
      <p:sp>
        <p:nvSpPr>
          <p:cNvPr id="30" name="TextBox 29"/>
          <p:cNvSpPr txBox="1"/>
          <p:nvPr/>
        </p:nvSpPr>
        <p:spPr>
          <a:xfrm>
            <a:off x="658368" y="5376672"/>
            <a:ext cx="1805939" cy="237744"/>
          </a:xfrm>
          <a:prstGeom prst="rect">
            <a:avLst/>
          </a:prstGeom>
          <a:noFill/>
        </p:spPr>
        <p:txBody>
          <a:bodyPr wrap="square" lIns="0" rIns="0" tIns="0" bIns="0" anchor="t">
            <a:spAutoFit/>
          </a:bodyPr>
          <a:lstStyle/>
          <a:p>
            <a:pPr algn="l"/>
            <a:r>
              <a:rPr sz="900" b="0" i="0">
                <a:solidFill>
                  <a:srgbClr val="7A7A7A"/>
                </a:solidFill>
                <a:latin typeface="Calibri"/>
              </a:rPr>
              <a:t>44 on the API, 56 in a real browser</a:t>
            </a:r>
          </a:p>
        </p:txBody>
      </p:sp>
      <p:sp>
        <p:nvSpPr>
          <p:cNvPr id="31" name="TextBox 30"/>
          <p:cNvSpPr txBox="1"/>
          <p:nvPr/>
        </p:nvSpPr>
        <p:spPr>
          <a:xfrm>
            <a:off x="2738628" y="5074920"/>
            <a:ext cx="1805939" cy="292608"/>
          </a:xfrm>
          <a:prstGeom prst="rect">
            <a:avLst/>
          </a:prstGeom>
          <a:noFill/>
        </p:spPr>
        <p:txBody>
          <a:bodyPr wrap="square" lIns="0" rIns="0" tIns="0" bIns="0" anchor="t">
            <a:spAutoFit/>
          </a:bodyPr>
          <a:lstStyle/>
          <a:p>
            <a:pPr algn="l"/>
            <a:r>
              <a:rPr sz="1700" b="1" i="0">
                <a:solidFill>
                  <a:srgbClr val="C00000"/>
                </a:solidFill>
                <a:latin typeface="Calibri"/>
              </a:rPr>
              <a:t>3</a:t>
            </a:r>
            <a:r>
              <a:rPr sz="1000" b="0" i="0">
                <a:solidFill>
                  <a:srgbClr val="1F1F1F"/>
                </a:solidFill>
                <a:latin typeface="Calibri"/>
              </a:rPr>
              <a:t>  roles, one database</a:t>
            </a:r>
          </a:p>
        </p:txBody>
      </p:sp>
      <p:sp>
        <p:nvSpPr>
          <p:cNvPr id="32" name="TextBox 31"/>
          <p:cNvSpPr txBox="1"/>
          <p:nvPr/>
        </p:nvSpPr>
        <p:spPr>
          <a:xfrm>
            <a:off x="2738628" y="5376672"/>
            <a:ext cx="1805939" cy="237744"/>
          </a:xfrm>
          <a:prstGeom prst="rect">
            <a:avLst/>
          </a:prstGeom>
          <a:noFill/>
        </p:spPr>
        <p:txBody>
          <a:bodyPr wrap="square" lIns="0" rIns="0" tIns="0" bIns="0" anchor="t">
            <a:spAutoFit/>
          </a:bodyPr>
          <a:lstStyle/>
          <a:p>
            <a:pPr algn="l"/>
            <a:r>
              <a:rPr sz="900" b="0" i="0">
                <a:solidFill>
                  <a:srgbClr val="7A7A7A"/>
                </a:solidFill>
                <a:latin typeface="Calibri"/>
              </a:rPr>
              <a:t>donor, recipient and admin</a:t>
            </a:r>
          </a:p>
        </p:txBody>
      </p:sp>
      <p:sp>
        <p:nvSpPr>
          <p:cNvPr id="33" name="TextBox 32"/>
          <p:cNvSpPr txBox="1"/>
          <p:nvPr/>
        </p:nvSpPr>
        <p:spPr>
          <a:xfrm>
            <a:off x="4818888" y="5074920"/>
            <a:ext cx="1805939" cy="292608"/>
          </a:xfrm>
          <a:prstGeom prst="rect">
            <a:avLst/>
          </a:prstGeom>
          <a:noFill/>
        </p:spPr>
        <p:txBody>
          <a:bodyPr wrap="square" lIns="0" rIns="0" tIns="0" bIns="0" anchor="t">
            <a:spAutoFit/>
          </a:bodyPr>
          <a:lstStyle/>
          <a:p>
            <a:pPr algn="l"/>
            <a:r>
              <a:rPr sz="1700" b="1" i="0">
                <a:solidFill>
                  <a:srgbClr val="C00000"/>
                </a:solidFill>
                <a:latin typeface="Calibri"/>
              </a:rPr>
              <a:t>91%</a:t>
            </a:r>
            <a:r>
              <a:rPr sz="1000" b="0" i="0">
                <a:solidFill>
                  <a:srgbClr val="1F1F1F"/>
                </a:solidFill>
                <a:latin typeface="Calibri"/>
              </a:rPr>
              <a:t>  of finished listings</a:t>
            </a:r>
          </a:p>
        </p:txBody>
      </p:sp>
      <p:sp>
        <p:nvSpPr>
          <p:cNvPr id="34" name="TextBox 33"/>
          <p:cNvSpPr txBox="1"/>
          <p:nvPr/>
        </p:nvSpPr>
        <p:spPr>
          <a:xfrm>
            <a:off x="4818888" y="5376672"/>
            <a:ext cx="1805939" cy="237744"/>
          </a:xfrm>
          <a:prstGeom prst="rect">
            <a:avLst/>
          </a:prstGeom>
          <a:noFill/>
        </p:spPr>
        <p:txBody>
          <a:bodyPr wrap="square" lIns="0" rIns="0" tIns="0" bIns="0" anchor="t">
            <a:spAutoFit/>
          </a:bodyPr>
          <a:lstStyle/>
          <a:p>
            <a:pPr algn="l"/>
            <a:r>
              <a:rPr sz="900" b="0" i="0">
                <a:solidFill>
                  <a:srgbClr val="7A7A7A"/>
                </a:solidFill>
                <a:latin typeface="Calibri"/>
              </a:rPr>
              <a:t>were collected, not wasted</a:t>
            </a:r>
          </a:p>
        </p:txBody>
      </p:sp>
      <p:sp>
        <p:nvSpPr>
          <p:cNvPr id="35" name="TextBox 34"/>
          <p:cNvSpPr txBox="1"/>
          <p:nvPr/>
        </p:nvSpPr>
        <p:spPr>
          <a:xfrm>
            <a:off x="6899147" y="5074920"/>
            <a:ext cx="1805939" cy="292608"/>
          </a:xfrm>
          <a:prstGeom prst="rect">
            <a:avLst/>
          </a:prstGeom>
          <a:noFill/>
        </p:spPr>
        <p:txBody>
          <a:bodyPr wrap="square" lIns="0" rIns="0" tIns="0" bIns="0" anchor="t">
            <a:spAutoFit/>
          </a:bodyPr>
          <a:lstStyle/>
          <a:p>
            <a:pPr algn="l"/>
            <a:r>
              <a:rPr sz="1700" b="1" i="0">
                <a:solidFill>
                  <a:srgbClr val="C00000"/>
                </a:solidFill>
                <a:latin typeface="Calibri"/>
              </a:rPr>
              <a:t>~5,300</a:t>
            </a:r>
            <a:r>
              <a:rPr sz="1000" b="0" i="0">
                <a:solidFill>
                  <a:srgbClr val="1F1F1F"/>
                </a:solidFill>
                <a:latin typeface="Calibri"/>
              </a:rPr>
              <a:t>  lines of code</a:t>
            </a:r>
          </a:p>
        </p:txBody>
      </p:sp>
      <p:sp>
        <p:nvSpPr>
          <p:cNvPr id="36" name="TextBox 35"/>
          <p:cNvSpPr txBox="1"/>
          <p:nvPr/>
        </p:nvSpPr>
        <p:spPr>
          <a:xfrm>
            <a:off x="6899147" y="5376672"/>
            <a:ext cx="1805939" cy="237744"/>
          </a:xfrm>
          <a:prstGeom prst="rect">
            <a:avLst/>
          </a:prstGeom>
          <a:noFill/>
        </p:spPr>
        <p:txBody>
          <a:bodyPr wrap="square" lIns="0" rIns="0" tIns="0" bIns="0" anchor="t">
            <a:spAutoFit/>
          </a:bodyPr>
          <a:lstStyle/>
          <a:p>
            <a:pPr algn="l"/>
            <a:r>
              <a:rPr sz="900" b="0" i="0">
                <a:solidFill>
                  <a:srgbClr val="7A7A7A"/>
                </a:solidFill>
                <a:latin typeface="Calibri"/>
              </a:rPr>
              <a:t>2,940 front end, 2,385 back end</a:t>
            </a:r>
          </a:p>
        </p:txBody>
      </p:sp>
    </p:spTree>
    <p:extLst>
      <p:ext uri="{BB962C8B-B14F-4D97-AF65-F5344CB8AC3E}">
        <p14:creationId xmlns:p14="http://schemas.microsoft.com/office/powerpoint/2010/main" val="2562833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3670</TotalTime>
  <Words>2</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Marcellus</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Mathematics-I</dc:title>
  <dc:creator>Lenovo</dc:creator>
  <cp:lastModifiedBy>Rohan Surana</cp:lastModifiedBy>
  <cp:revision>201</cp:revision>
  <dcterms:created xsi:type="dcterms:W3CDTF">2006-08-16T00:00:00Z</dcterms:created>
  <dcterms:modified xsi:type="dcterms:W3CDTF">2026-09-29T08:51:57Z</dcterms:modified>
</cp:coreProperties>
</file>