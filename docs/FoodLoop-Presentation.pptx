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60" r:id="rId2"/>
    <p:sldId id="261" r:id="rId8"/>
    <p:sldId id="262" r:id="rId9"/>
    <p:sldId id="263" r:id="rId10"/>
    <p:sldId id="264" r:id="rId1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58" d="100"/>
          <a:sy n="58" d="100"/>
        </p:scale>
        <p:origin x="1520"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12B5401-FB5E-4027-9C67-BD971DDE06A3}" type="datetimeFigureOut">
              <a:rPr lang="en-US" smtClean="0"/>
              <a:t>9/29/2026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03C7C11-B9CE-4EB9-BD73-BAAE86E750D6}" type="slidenum">
              <a:rPr lang="en-US" smtClean="0"/>
              <a:t>‹#›</a:t>
            </a:fld>
            <a:endParaRPr lang="en-US"/>
          </a:p>
        </p:txBody>
      </p:sp>
    </p:spTree>
    <p:extLst>
      <p:ext uri="{BB962C8B-B14F-4D97-AF65-F5344CB8AC3E}">
        <p14:creationId xmlns:p14="http://schemas.microsoft.com/office/powerpoint/2010/main" val="40545724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is FoodLoop, a surplus food matching platform for Mumbai. Every night restaurants, canteens and banquet halls finish service with food that is still good, while shelters a few kilometres away are short of meals. The problem is not generosity, it is the time in between. FoodLoop lets a kitchen post its surplus with a pickup deadline, scores every verified shelter and offers the food to the best match first. The shelter collects it with its own staff, so there is no delivery rider. We built it on the MERN stack: MongoDB, Express and Node, with plain HTML, CSS and JavaScript on the front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typical evening without FoodLoop. Nobody is unwilling to help; the food simply cannot find the right people in time, and by 11:40 it goes in the bin. So we set four objectives. One: offer food only to shelters that can reach it before the deadline. Two: send one ranked offer at a time instead of messaging everyone, because when everyone is messaged nobody is sure who is coming. Three: the shelter collects it with its own staff and shows a handover code. Four: every decision must be explainable, so we show the score factor by factor and measure the impact on a dashboard.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three human actors. The donor kitchen, the recipient shelter and a FoodLoop admin. Both donors and recipients register and log in, and logging in includes authenticating with a JSON Web Token. When a donor posts food, the system filters the eligible shelters, which includes scoring and ranking them, which in turn includes calculating distance and drive time. Those are include relationships, they always happen. If a recipient passes, or does not reply within ten minutes, re-scoring and offering to the next shelter extends that flow. The admin exists because somebody has to check that an NGO is genuine before food is sent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architecture. The browser pages are plain HTML, CSS and JavaScript with no framework; api.js keeps the login token and calls the API with fetch. The Express server exposes six route groups, each protected by a JWT check and a role guard, so a donor cannot call a recipient route. MongoDB stores three collections through Mongoose: organisations, listings and offers. On the right is the matching engine. First we filter: a shelter that does not take that food type, has no room left today, is outside its own travel radius or cannot drive there before the deadline is dropped. The rest are scored out of 100. Time counts most at 35 percent because cooked food does not wait. The best shelter is asked first and has ten minutes to reply; if it passes, we re-score the remaining shelters with the time that is left and ask the next best.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pages, all sharing one MongoDB database. On the donor dashboard you post food and the ranked shelters appear straight away, with a live countdown and, once a shelter accepts, a box to type their handover code. On the recipient dashboard the shelter sees how long it has to reply, the score broken down factor by factor, and after collecting, a printable slip. The impact dashboard is built entirely from MongoDB aggregation pipelines: meals saved per day, the food type split, and the kitchens and shelters that did the most. We tested the whole system with 100 automated checks, 44 on the API and 56 driving the pages in a real browser, and they all pass. Next we would deploy it and add SMS alerts so shelters do not have to keep the page 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130425"/>
            <a:ext cx="7772400" cy="1470025"/>
          </a:xfrm>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762000"/>
            <a:ext cx="8229600" cy="655638"/>
          </a:xfrm>
        </p:spPr>
        <p:txBody>
          <a:bodyPr/>
          <a:lstStyle>
            <a:lvl1pPr>
              <a:defRPr sz="4400">
                <a:solidFill>
                  <a:srgbClr val="FF0000"/>
                </a:solidFill>
              </a:defRPr>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dirty="0"/>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4406900"/>
            <a:ext cx="7772400" cy="1362075"/>
          </a:xfrm>
        </p:spPr>
        <p:txBody>
          <a:bodyPr anchor="t">
            <a:normAutofit/>
          </a:bodyPr>
          <a:lstStyle>
            <a:lvl1pPr algn="l">
              <a:defRPr sz="4000" b="1" cap="all"/>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6" name="Footer Placeholder 5"/>
          <p:cNvSpPr>
            <a:spLocks noGrp="1"/>
          </p:cNvSpPr>
          <p:nvPr>
            <p:ph type="ftr" sz="quarter" idx="11"/>
          </p:nvPr>
        </p:nvSpPr>
        <p:spPr/>
        <p:txBody>
          <a:bodyPr/>
          <a:lstStyle/>
          <a:p>
            <a:r>
              <a:rPr lang="en-US"/>
              <a:t>AM-I   Module 3</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8" name="Footer Placeholder 7"/>
          <p:cNvSpPr>
            <a:spLocks noGrp="1"/>
          </p:cNvSpPr>
          <p:nvPr>
            <p:ph type="ftr" sz="quarter" idx="11"/>
          </p:nvPr>
        </p:nvSpPr>
        <p:spPr/>
        <p:txBody>
          <a:bodyPr/>
          <a:lstStyle/>
          <a:p>
            <a:r>
              <a:rPr lang="en-US"/>
              <a:t>AM-I   Module 3</a:t>
            </a:r>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Date Placeholder 2"/>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4" name="Footer Placeholder 3"/>
          <p:cNvSpPr>
            <a:spLocks noGrp="1"/>
          </p:cNvSpPr>
          <p:nvPr>
            <p:ph type="ftr" sz="quarter" idx="11"/>
          </p:nvPr>
        </p:nvSpPr>
        <p:spPr/>
        <p:txBody>
          <a:bodyPr/>
          <a:lstStyle/>
          <a:p>
            <a:r>
              <a:rPr lang="en-US"/>
              <a:t>AM-I   Module 3</a:t>
            </a:r>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3" name="Footer Placeholder 2"/>
          <p:cNvSpPr>
            <a:spLocks noGrp="1"/>
          </p:cNvSpPr>
          <p:nvPr>
            <p:ph type="ftr" sz="quarter" idx="11"/>
          </p:nvPr>
        </p:nvSpPr>
        <p:spPr/>
        <p:txBody>
          <a:bodyPr/>
          <a:lstStyle/>
          <a:p>
            <a:r>
              <a:rPr lang="en-US"/>
              <a:t>AM-I   Module 3</a:t>
            </a:r>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6" name="Footer Placeholder 5"/>
          <p:cNvSpPr>
            <a:spLocks noGrp="1"/>
          </p:cNvSpPr>
          <p:nvPr>
            <p:ph type="ftr" sz="quarter" idx="11"/>
          </p:nvPr>
        </p:nvSpPr>
        <p:spPr/>
        <p:txBody>
          <a:bodyPr/>
          <a:lstStyle/>
          <a:p>
            <a:r>
              <a:rPr lang="en-US"/>
              <a:t>AM-I   Module 3</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6" name="Footer Placeholder 5"/>
          <p:cNvSpPr>
            <a:spLocks noGrp="1"/>
          </p:cNvSpPr>
          <p:nvPr>
            <p:ph type="ftr" sz="quarter" idx="11"/>
          </p:nvPr>
        </p:nvSpPr>
        <p:spPr/>
        <p:txBody>
          <a:bodyPr/>
          <a:lstStyle/>
          <a:p>
            <a:r>
              <a:rPr lang="en-US"/>
              <a:t>AM-I   Module 3</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274638"/>
            <a:ext cx="2057400" cy="5851525"/>
          </a:xfrm>
        </p:spPr>
        <p:txBody>
          <a:bodyPr vert="eaVert"/>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Dr. Rachana Desai</a:t>
            </a: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AM-I   Module 3</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pic>
        <p:nvPicPr>
          <p:cNvPr id="9" name="Picture 8">
            <a:extLst>
              <a:ext uri="{FF2B5EF4-FFF2-40B4-BE49-F238E27FC236}">
                <a16:creationId xmlns:a16="http://schemas.microsoft.com/office/drawing/2014/main" id="{1547C2F5-D0C4-4329-8DC2-48B66EE4F515}"/>
              </a:ext>
            </a:extLst>
          </p:cNvPr>
          <p:cNvPicPr>
            <a:picLocks noChangeAspect="1"/>
          </p:cNvPicPr>
          <p:nvPr userDrawn="1"/>
        </p:nvPicPr>
        <p:blipFill>
          <a:blip r:embed="rId13"/>
          <a:stretch>
            <a:fillRect/>
          </a:stretch>
        </p:blipFill>
        <p:spPr>
          <a:xfrm rot="5400000">
            <a:off x="4198458" y="1933318"/>
            <a:ext cx="702416" cy="9188666"/>
          </a:xfrm>
          <a:prstGeom prst="rect">
            <a:avLst/>
          </a:prstGeom>
        </p:spPr>
      </p:pic>
      <p:pic>
        <p:nvPicPr>
          <p:cNvPr id="10" name="Picture 9">
            <a:extLst>
              <a:ext uri="{FF2B5EF4-FFF2-40B4-BE49-F238E27FC236}">
                <a16:creationId xmlns:a16="http://schemas.microsoft.com/office/drawing/2014/main" id="{B15A553C-6E56-4E14-9B40-3D70033DB61F}"/>
              </a:ext>
            </a:extLst>
          </p:cNvPr>
          <p:cNvPicPr>
            <a:picLocks noChangeAspect="1"/>
          </p:cNvPicPr>
          <p:nvPr userDrawn="1"/>
        </p:nvPicPr>
        <p:blipFill>
          <a:blip r:embed="rId14"/>
          <a:stretch>
            <a:fillRect/>
          </a:stretch>
        </p:blipFill>
        <p:spPr>
          <a:xfrm rot="5400000">
            <a:off x="5533989" y="2568564"/>
            <a:ext cx="207492" cy="7008270"/>
          </a:xfrm>
          <a:prstGeom prst="rect">
            <a:avLst/>
          </a:prstGeom>
        </p:spPr>
      </p:pic>
      <p:sp>
        <p:nvSpPr>
          <p:cNvPr id="2" name="Title Placeholder 1"/>
          <p:cNvSpPr>
            <a:spLocks noGrp="1"/>
          </p:cNvSpPr>
          <p:nvPr>
            <p:ph type="title"/>
          </p:nvPr>
        </p:nvSpPr>
        <p:spPr>
          <a:xfrm>
            <a:off x="457200" y="721920"/>
            <a:ext cx="8229600" cy="695718"/>
          </a:xfrm>
          <a:prstGeom prst="rect">
            <a:avLst/>
          </a:prstGeom>
        </p:spPr>
        <p:txBody>
          <a:bodyPr vert="horz" lIns="91440" tIns="45720" rIns="91440" bIns="45720" rtlCol="0" anchor="ctr">
            <a:normAutofit/>
          </a:bodyPr>
          <a:lstStyle/>
          <a:p>
            <a:r>
              <a:rPr lang="en-US" sz="3200" dirty="0">
                <a:solidFill>
                  <a:srgbClr val="C00000"/>
                </a:solidFill>
                <a:latin typeface="Marcellus" panose="020E0602050203020307" pitchFamily="34" charset="0"/>
              </a:rPr>
              <a:t>Title in Marcellus Font Size 32 in Red</a:t>
            </a:r>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rgbClr val="C00000"/>
          </a:solidFill>
          <a:latin typeface="+mj-lt"/>
          <a:ea typeface="+mj-ea"/>
          <a:cs typeface="+mj-cs"/>
        </a:defRPr>
      </a:lvl1pPr>
    </p:titleStyle>
    <p:bodyStyle>
      <a:lvl1pPr marL="342900" indent="-342900" algn="l" defTabSz="914400" rtl="0" eaLnBrk="1" latinLnBrk="0" hangingPunct="1">
        <a:spcBef>
          <a:spcPct val="20000"/>
        </a:spcBef>
        <a:buFont typeface="Wingdings" pitchFamily="2" charset="2"/>
        <a:buChar char="v"/>
        <a:defRPr sz="2800" kern="1200">
          <a:solidFill>
            <a:schemeClr val="tx1"/>
          </a:solidFill>
          <a:latin typeface="+mn-lt"/>
          <a:ea typeface="+mn-ea"/>
          <a:cs typeface="+mn-cs"/>
        </a:defRPr>
      </a:lvl1pPr>
      <a:lvl2pPr marL="742950" indent="-285750" algn="l" defTabSz="914400" rtl="0" eaLnBrk="1" latinLnBrk="0" hangingPunct="1">
        <a:spcBef>
          <a:spcPct val="20000"/>
        </a:spcBef>
        <a:buFont typeface="Wingdings" pitchFamily="2" charset="2"/>
        <a:buChar char="Ø"/>
        <a:defRPr sz="26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6.jp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7.jp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377440" y="109728"/>
            <a:ext cx="621792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600" b="1">
                <a:solidFill>
                  <a:srgbClr val="C00000"/>
                </a:solidFill>
                <a:latin typeface="Calibri"/>
              </a:rPr>
              <a:t>FoodLoop</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 name="Picture 19" descr="packing.jpg"/>
          <p:cNvPicPr>
            <a:picLocks noChangeAspect="1"/>
          </p:cNvPicPr>
          <p:nvPr/>
        </p:nvPicPr>
        <p:blipFill>
          <a:blip r:embed="rId5"/>
          <a:stretch>
            <a:fillRect/>
          </a:stretch>
        </p:blipFill>
        <p:spPr>
          <a:xfrm>
            <a:off x="5057908" y="914400"/>
            <a:ext cx="3720331" cy="4617720"/>
          </a:xfrm>
          <a:prstGeom prst="rect">
            <a:avLst/>
          </a:prstGeom>
        </p:spPr>
      </p:pic>
      <p:sp>
        <p:nvSpPr>
          <p:cNvPr id="21" name="TextBox 20"/>
          <p:cNvSpPr txBox="1"/>
          <p:nvPr/>
        </p:nvSpPr>
        <p:spPr>
          <a:xfrm>
            <a:off x="457200" y="1051560"/>
            <a:ext cx="4937760" cy="228600"/>
          </a:xfrm>
          <a:prstGeom prst="rect">
            <a:avLst/>
          </a:prstGeom>
          <a:noFill/>
        </p:spPr>
        <p:txBody>
          <a:bodyPr wrap="square" lIns="0" rIns="0" tIns="0" bIns="0" anchor="t">
            <a:spAutoFit/>
          </a:bodyPr>
          <a:lstStyle/>
          <a:p>
            <a:pPr algn="l"/>
            <a:r>
              <a:rPr sz="1000" b="1" i="0">
                <a:solidFill>
                  <a:srgbClr val="B7202E"/>
                </a:solidFill>
                <a:latin typeface="Calibri"/>
              </a:rPr>
              <a:t>FULL STACK DEVELOPMENT LAB · MINI PROJECT · TY B.TECH</a:t>
            </a:r>
          </a:p>
        </p:txBody>
      </p:sp>
      <p:sp>
        <p:nvSpPr>
          <p:cNvPr id="22" name="TextBox 21"/>
          <p:cNvSpPr txBox="1"/>
          <p:nvPr/>
        </p:nvSpPr>
        <p:spPr>
          <a:xfrm>
            <a:off x="457200" y="1371600"/>
            <a:ext cx="4754880" cy="1554480"/>
          </a:xfrm>
          <a:prstGeom prst="rect">
            <a:avLst/>
          </a:prstGeom>
          <a:noFill/>
        </p:spPr>
        <p:txBody>
          <a:bodyPr wrap="square" lIns="0" rIns="0" tIns="0" bIns="0" anchor="t">
            <a:spAutoFit/>
          </a:bodyPr>
          <a:lstStyle/>
          <a:p>
            <a:pPr algn="l"/>
            <a:r>
              <a:rPr sz="2800" b="1" i="0">
                <a:solidFill>
                  <a:srgbClr val="1F1F1F"/>
                </a:solidFill>
                <a:latin typeface="Calibri"/>
              </a:rPr>
              <a:t>Surplus food, matched </a:t>
            </a:r>
            <a:r>
              <a:rPr sz="2800" b="1" i="1">
                <a:solidFill>
                  <a:srgbClr val="C00000"/>
                </a:solidFill>
                <a:latin typeface="Calibri"/>
              </a:rPr>
              <a:t>before the clock runs out.</a:t>
            </a:r>
          </a:p>
        </p:txBody>
      </p:sp>
      <p:sp>
        <p:nvSpPr>
          <p:cNvPr id="23" name="TextBox 22"/>
          <p:cNvSpPr txBox="1"/>
          <p:nvPr/>
        </p:nvSpPr>
        <p:spPr>
          <a:xfrm>
            <a:off x="457200" y="3017520"/>
            <a:ext cx="4572000" cy="1097280"/>
          </a:xfrm>
          <a:prstGeom prst="rect">
            <a:avLst/>
          </a:prstGeom>
          <a:noFill/>
        </p:spPr>
        <p:txBody>
          <a:bodyPr wrap="square" lIns="0" rIns="0" tIns="0" bIns="0" anchor="t">
            <a:spAutoFit/>
          </a:bodyPr>
          <a:lstStyle/>
          <a:p>
            <a:pPr algn="l"/>
            <a:r>
              <a:rPr sz="1250" b="0" i="0">
                <a:solidFill>
                  <a:srgbClr val="4A4A4A"/>
                </a:solidFill>
                <a:latin typeface="Calibri"/>
              </a:rPr>
              <a:t>Mumbai's kitchens throw away good food at closing time while shelters a few kilometres away go short. FoodLoop scores every nearby shelter, offers the food to the best one first, and the shelter collects it itself using a handover code.</a:t>
            </a:r>
          </a:p>
        </p:txBody>
      </p:sp>
      <p:sp>
        <p:nvSpPr>
          <p:cNvPr id="24" name="Rectangle 23"/>
          <p:cNvSpPr/>
          <p:nvPr/>
        </p:nvSpPr>
        <p:spPr>
          <a:xfrm>
            <a:off x="457200" y="4224528"/>
            <a:ext cx="457200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70832"/>
            <a:ext cx="5486400" cy="228600"/>
          </a:xfrm>
          <a:prstGeom prst="rect">
            <a:avLst/>
          </a:prstGeom>
          <a:noFill/>
        </p:spPr>
        <p:txBody>
          <a:bodyPr wrap="square" lIns="0" rIns="0" tIns="0" bIns="0" anchor="t">
            <a:spAutoFit/>
          </a:bodyPr>
          <a:lstStyle/>
          <a:p>
            <a:pPr algn="l"/>
            <a:r>
              <a:rPr sz="1000" b="1" i="0">
                <a:solidFill>
                  <a:srgbClr val="7A7A7A"/>
                </a:solidFill>
                <a:latin typeface="Calibri"/>
              </a:rPr>
              <a:t>PRESENTED BY</a:t>
            </a:r>
          </a:p>
        </p:txBody>
      </p:sp>
      <p:sp>
        <p:nvSpPr>
          <p:cNvPr id="26" name="TextBox 25"/>
          <p:cNvSpPr txBox="1"/>
          <p:nvPr/>
        </p:nvSpPr>
        <p:spPr>
          <a:xfrm>
            <a:off x="457200" y="4626864"/>
            <a:ext cx="2194560" cy="640080"/>
          </a:xfrm>
          <a:prstGeom prst="rect">
            <a:avLst/>
          </a:prstGeom>
          <a:noFill/>
        </p:spPr>
        <p:txBody>
          <a:bodyPr wrap="square" lIns="0" rIns="0" tIns="0" bIns="0" anchor="t">
            <a:spAutoFit/>
          </a:bodyPr>
          <a:lstStyle/>
          <a:p>
            <a:pPr algn="l"/>
            <a:r>
              <a:rPr sz="1500" b="1" i="0">
                <a:solidFill>
                  <a:srgbClr val="1F1F1F"/>
                </a:solidFill>
                <a:latin typeface="Calibri"/>
              </a:rPr>
              <a:t>Rohan Surana</a:t>
            </a:r>
          </a:p>
          <a:p>
            <a:pPr algn="l"/>
            <a:r>
              <a:rPr sz="1150" b="0" i="0">
                <a:solidFill>
                  <a:srgbClr val="7A7A7A"/>
                </a:solidFill>
                <a:latin typeface="Calibri"/>
              </a:rPr>
              <a:t>16015024073</a:t>
            </a:r>
          </a:p>
        </p:txBody>
      </p:sp>
      <p:sp>
        <p:nvSpPr>
          <p:cNvPr id="27" name="TextBox 26"/>
          <p:cNvSpPr txBox="1"/>
          <p:nvPr/>
        </p:nvSpPr>
        <p:spPr>
          <a:xfrm>
            <a:off x="2743200" y="4626864"/>
            <a:ext cx="2194560" cy="640080"/>
          </a:xfrm>
          <a:prstGeom prst="rect">
            <a:avLst/>
          </a:prstGeom>
          <a:noFill/>
        </p:spPr>
        <p:txBody>
          <a:bodyPr wrap="square" lIns="0" rIns="0" tIns="0" bIns="0" anchor="t">
            <a:spAutoFit/>
          </a:bodyPr>
          <a:lstStyle/>
          <a:p>
            <a:pPr algn="l"/>
            <a:r>
              <a:rPr sz="1500" b="1" i="0">
                <a:solidFill>
                  <a:srgbClr val="1F1F1F"/>
                </a:solidFill>
                <a:latin typeface="Calibri"/>
              </a:rPr>
              <a:t>Ayman Shaikh</a:t>
            </a:r>
          </a:p>
          <a:p>
            <a:pPr algn="l"/>
            <a:r>
              <a:rPr sz="1150" b="0" i="0">
                <a:solidFill>
                  <a:srgbClr val="7A7A7A"/>
                </a:solidFill>
                <a:latin typeface="Calibri"/>
              </a:rPr>
              <a:t>16015024070</a:t>
            </a:r>
          </a:p>
        </p:txBody>
      </p:sp>
      <p:sp>
        <p:nvSpPr>
          <p:cNvPr id="28" name="TextBox 27"/>
          <p:cNvSpPr txBox="1"/>
          <p:nvPr/>
        </p:nvSpPr>
        <p:spPr>
          <a:xfrm>
            <a:off x="457200" y="5394960"/>
            <a:ext cx="1508760" cy="548640"/>
          </a:xfrm>
          <a:prstGeom prst="rect">
            <a:avLst/>
          </a:prstGeom>
          <a:noFill/>
        </p:spPr>
        <p:txBody>
          <a:bodyPr wrap="square" lIns="0" rIns="0" tIns="0" bIns="0" anchor="t">
            <a:spAutoFit/>
          </a:bodyPr>
          <a:lstStyle/>
          <a:p>
            <a:pPr algn="l"/>
            <a:r>
              <a:rPr sz="1700" b="1" i="0">
                <a:solidFill>
                  <a:srgbClr val="C00000"/>
                </a:solidFill>
                <a:latin typeface="Calibri"/>
              </a:rPr>
              <a:t>MERN</a:t>
            </a:r>
          </a:p>
          <a:p>
            <a:pPr algn="l"/>
            <a:r>
              <a:rPr sz="950" b="0" i="0">
                <a:solidFill>
                  <a:srgbClr val="7A7A7A"/>
                </a:solidFill>
                <a:latin typeface="Calibri"/>
              </a:rPr>
              <a:t>stack (no React)</a:t>
            </a:r>
          </a:p>
        </p:txBody>
      </p:sp>
      <p:sp>
        <p:nvSpPr>
          <p:cNvPr id="29" name="TextBox 28"/>
          <p:cNvSpPr txBox="1"/>
          <p:nvPr/>
        </p:nvSpPr>
        <p:spPr>
          <a:xfrm>
            <a:off x="2011680" y="5394960"/>
            <a:ext cx="1508760" cy="548640"/>
          </a:xfrm>
          <a:prstGeom prst="rect">
            <a:avLst/>
          </a:prstGeom>
          <a:noFill/>
        </p:spPr>
        <p:txBody>
          <a:bodyPr wrap="square" lIns="0" rIns="0" tIns="0" bIns="0" anchor="t">
            <a:spAutoFit/>
          </a:bodyPr>
          <a:lstStyle/>
          <a:p>
            <a:pPr algn="l"/>
            <a:r>
              <a:rPr sz="1700" b="1" i="0">
                <a:solidFill>
                  <a:srgbClr val="C00000"/>
                </a:solidFill>
                <a:latin typeface="Calibri"/>
              </a:rPr>
              <a:t>3</a:t>
            </a:r>
          </a:p>
          <a:p>
            <a:pPr algn="l"/>
            <a:r>
              <a:rPr sz="950" b="0" i="0">
                <a:solidFill>
                  <a:srgbClr val="7A7A7A"/>
                </a:solidFill>
                <a:latin typeface="Calibri"/>
              </a:rPr>
              <a:t>user roles</a:t>
            </a:r>
          </a:p>
        </p:txBody>
      </p:sp>
      <p:sp>
        <p:nvSpPr>
          <p:cNvPr id="30" name="TextBox 29"/>
          <p:cNvSpPr txBox="1"/>
          <p:nvPr/>
        </p:nvSpPr>
        <p:spPr>
          <a:xfrm>
            <a:off x="3566160" y="5394960"/>
            <a:ext cx="1508760" cy="548640"/>
          </a:xfrm>
          <a:prstGeom prst="rect">
            <a:avLst/>
          </a:prstGeom>
          <a:noFill/>
        </p:spPr>
        <p:txBody>
          <a:bodyPr wrap="square" lIns="0" rIns="0" tIns="0" bIns="0" anchor="t">
            <a:spAutoFit/>
          </a:bodyPr>
          <a:lstStyle/>
          <a:p>
            <a:pPr algn="l"/>
            <a:r>
              <a:rPr sz="1700" b="1" i="0">
                <a:solidFill>
                  <a:srgbClr val="C00000"/>
                </a:solidFill>
                <a:latin typeface="Calibri"/>
              </a:rPr>
              <a:t>5</a:t>
            </a:r>
          </a:p>
          <a:p>
            <a:pPr algn="l"/>
            <a:r>
              <a:rPr sz="950" b="0" i="0">
                <a:solidFill>
                  <a:srgbClr val="7A7A7A"/>
                </a:solidFill>
                <a:latin typeface="Calibri"/>
              </a:rPr>
              <a:t>factor match score</a:t>
            </a:r>
          </a:p>
        </p:txBody>
      </p:sp>
    </p:spTree>
    <p:extLst>
      <p:ext uri="{BB962C8B-B14F-4D97-AF65-F5344CB8AC3E}">
        <p14:creationId xmlns:p14="http://schemas.microsoft.com/office/powerpoint/2010/main" val="25628335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377440" y="109728"/>
            <a:ext cx="621792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600" b="1">
                <a:solidFill>
                  <a:srgbClr val="C00000"/>
                </a:solidFill>
                <a:latin typeface="Calibri"/>
              </a:rPr>
              <a:t>Problem &amp; Objectives</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p:cNvSpPr txBox="1"/>
          <p:nvPr/>
        </p:nvSpPr>
        <p:spPr>
          <a:xfrm>
            <a:off x="457200" y="868680"/>
            <a:ext cx="4389120" cy="822960"/>
          </a:xfrm>
          <a:prstGeom prst="rect">
            <a:avLst/>
          </a:prstGeom>
          <a:noFill/>
        </p:spPr>
        <p:txBody>
          <a:bodyPr wrap="square" lIns="0" rIns="0" tIns="0" bIns="0" anchor="t">
            <a:spAutoFit/>
          </a:bodyPr>
          <a:lstStyle/>
          <a:p>
            <a:pPr algn="l"/>
            <a:r>
              <a:rPr sz="1800" b="1" i="0">
                <a:solidFill>
                  <a:srgbClr val="1F1F1F"/>
                </a:solidFill>
                <a:latin typeface="Calibri"/>
              </a:rPr>
              <a:t>It was never a shortage of generosity.</a:t>
            </a:r>
          </a:p>
          <a:p>
            <a:pPr algn="l"/>
            <a:r>
              <a:rPr sz="1800" b="1" i="1">
                <a:solidFill>
                  <a:srgbClr val="C00000"/>
                </a:solidFill>
                <a:latin typeface="Calibri"/>
              </a:rPr>
              <a:t>It was timing.</a:t>
            </a:r>
          </a:p>
        </p:txBody>
      </p:sp>
      <p:cxnSp>
        <p:nvCxnSpPr>
          <p:cNvPr id="21" name="Connector 20"/>
          <p:cNvCxnSpPr/>
          <p:nvPr/>
        </p:nvCxnSpPr>
        <p:spPr>
          <a:xfrm>
            <a:off x="548640" y="1920240"/>
            <a:ext cx="0" cy="2706624"/>
          </a:xfrm>
          <a:prstGeom prst="line">
            <a:avLst/>
          </a:prstGeom>
          <a:ln w="1905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5488" y="1856231"/>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1828800"/>
            <a:ext cx="777240" cy="274320"/>
          </a:xfrm>
          <a:prstGeom prst="rect">
            <a:avLst/>
          </a:prstGeom>
          <a:noFill/>
        </p:spPr>
        <p:txBody>
          <a:bodyPr wrap="square" lIns="0" rIns="0" tIns="0" bIns="0" anchor="t">
            <a:spAutoFit/>
          </a:bodyPr>
          <a:lstStyle/>
          <a:p>
            <a:pPr algn="l"/>
            <a:r>
              <a:rPr sz="1150" b="1" i="0">
                <a:solidFill>
                  <a:srgbClr val="1F1F1F"/>
                </a:solidFill>
                <a:latin typeface="Calibri"/>
              </a:rPr>
              <a:t>9:40 pm</a:t>
            </a:r>
          </a:p>
        </p:txBody>
      </p:sp>
      <p:sp>
        <p:nvSpPr>
          <p:cNvPr id="24" name="TextBox 23"/>
          <p:cNvSpPr txBox="1"/>
          <p:nvPr/>
        </p:nvSpPr>
        <p:spPr>
          <a:xfrm>
            <a:off x="1600200" y="1828800"/>
            <a:ext cx="3200400" cy="548640"/>
          </a:xfrm>
          <a:prstGeom prst="rect">
            <a:avLst/>
          </a:prstGeom>
          <a:noFill/>
        </p:spPr>
        <p:txBody>
          <a:bodyPr wrap="square" lIns="0" rIns="0" tIns="0" bIns="0" anchor="t">
            <a:spAutoFit/>
          </a:bodyPr>
          <a:lstStyle/>
          <a:p>
            <a:pPr algn="l"/>
            <a:r>
              <a:rPr sz="1150" b="0" i="0">
                <a:solidFill>
                  <a:srgbClr val="4A4A4A"/>
                </a:solidFill>
                <a:latin typeface="Calibri"/>
              </a:rPr>
              <a:t>A wedding ends at an Andheri banquet hall. Sixty thalis untouched.</a:t>
            </a:r>
          </a:p>
        </p:txBody>
      </p:sp>
      <p:sp>
        <p:nvSpPr>
          <p:cNvPr id="25" name="Oval 24"/>
          <p:cNvSpPr/>
          <p:nvPr/>
        </p:nvSpPr>
        <p:spPr>
          <a:xfrm>
            <a:off x="475488" y="2532888"/>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505456"/>
            <a:ext cx="777240" cy="274320"/>
          </a:xfrm>
          <a:prstGeom prst="rect">
            <a:avLst/>
          </a:prstGeom>
          <a:noFill/>
        </p:spPr>
        <p:txBody>
          <a:bodyPr wrap="square" lIns="0" rIns="0" tIns="0" bIns="0" anchor="t">
            <a:spAutoFit/>
          </a:bodyPr>
          <a:lstStyle/>
          <a:p>
            <a:pPr algn="l"/>
            <a:r>
              <a:rPr sz="1150" b="1" i="0">
                <a:solidFill>
                  <a:srgbClr val="1F1F1F"/>
                </a:solidFill>
                <a:latin typeface="Calibri"/>
              </a:rPr>
              <a:t>9:55 pm</a:t>
            </a:r>
          </a:p>
        </p:txBody>
      </p:sp>
      <p:sp>
        <p:nvSpPr>
          <p:cNvPr id="27" name="TextBox 26"/>
          <p:cNvSpPr txBox="1"/>
          <p:nvPr/>
        </p:nvSpPr>
        <p:spPr>
          <a:xfrm>
            <a:off x="1600200" y="2505456"/>
            <a:ext cx="3200400" cy="548640"/>
          </a:xfrm>
          <a:prstGeom prst="rect">
            <a:avLst/>
          </a:prstGeom>
          <a:noFill/>
        </p:spPr>
        <p:txBody>
          <a:bodyPr wrap="square" lIns="0" rIns="0" tIns="0" bIns="0" anchor="t">
            <a:spAutoFit/>
          </a:bodyPr>
          <a:lstStyle/>
          <a:p>
            <a:pPr algn="l"/>
            <a:r>
              <a:rPr sz="1150" b="0" i="0">
                <a:solidFill>
                  <a:srgbClr val="4A4A4A"/>
                </a:solidFill>
                <a:latin typeface="Calibri"/>
              </a:rPr>
              <a:t>The manager calls two NGOs he knows. One is closed, one doesn't pick up.</a:t>
            </a:r>
          </a:p>
        </p:txBody>
      </p:sp>
      <p:sp>
        <p:nvSpPr>
          <p:cNvPr id="28" name="Oval 27"/>
          <p:cNvSpPr/>
          <p:nvPr/>
        </p:nvSpPr>
        <p:spPr>
          <a:xfrm>
            <a:off x="475488" y="3209544"/>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3182112"/>
            <a:ext cx="777240" cy="274320"/>
          </a:xfrm>
          <a:prstGeom prst="rect">
            <a:avLst/>
          </a:prstGeom>
          <a:noFill/>
        </p:spPr>
        <p:txBody>
          <a:bodyPr wrap="square" lIns="0" rIns="0" tIns="0" bIns="0" anchor="t">
            <a:spAutoFit/>
          </a:bodyPr>
          <a:lstStyle/>
          <a:p>
            <a:pPr algn="l"/>
            <a:r>
              <a:rPr sz="1150" b="1" i="0">
                <a:solidFill>
                  <a:srgbClr val="1F1F1F"/>
                </a:solidFill>
                <a:latin typeface="Calibri"/>
              </a:rPr>
              <a:t>10:30 pm</a:t>
            </a:r>
          </a:p>
        </p:txBody>
      </p:sp>
      <p:sp>
        <p:nvSpPr>
          <p:cNvPr id="30" name="TextBox 29"/>
          <p:cNvSpPr txBox="1"/>
          <p:nvPr/>
        </p:nvSpPr>
        <p:spPr>
          <a:xfrm>
            <a:off x="1600200" y="3182112"/>
            <a:ext cx="3200400" cy="548640"/>
          </a:xfrm>
          <a:prstGeom prst="rect">
            <a:avLst/>
          </a:prstGeom>
          <a:noFill/>
        </p:spPr>
        <p:txBody>
          <a:bodyPr wrap="square" lIns="0" rIns="0" tIns="0" bIns="0" anchor="t">
            <a:spAutoFit/>
          </a:bodyPr>
          <a:lstStyle/>
          <a:p>
            <a:pPr algn="l"/>
            <a:r>
              <a:rPr sz="1150" b="0" i="0">
                <a:solidFill>
                  <a:srgbClr val="4A4A4A"/>
                </a:solidFill>
                <a:latin typeface="Calibri"/>
              </a:rPr>
              <a:t>A volunteer group replies on WhatsApp. Their van is in Thane.</a:t>
            </a:r>
          </a:p>
        </p:txBody>
      </p:sp>
      <p:sp>
        <p:nvSpPr>
          <p:cNvPr id="31" name="Oval 30"/>
          <p:cNvSpPr/>
          <p:nvPr/>
        </p:nvSpPr>
        <p:spPr>
          <a:xfrm>
            <a:off x="475488" y="3886200"/>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3858768"/>
            <a:ext cx="777240" cy="274320"/>
          </a:xfrm>
          <a:prstGeom prst="rect">
            <a:avLst/>
          </a:prstGeom>
          <a:noFill/>
        </p:spPr>
        <p:txBody>
          <a:bodyPr wrap="square" lIns="0" rIns="0" tIns="0" bIns="0" anchor="t">
            <a:spAutoFit/>
          </a:bodyPr>
          <a:lstStyle/>
          <a:p>
            <a:pPr algn="l"/>
            <a:r>
              <a:rPr sz="1150" b="1" i="0">
                <a:solidFill>
                  <a:srgbClr val="1F1F1F"/>
                </a:solidFill>
                <a:latin typeface="Calibri"/>
              </a:rPr>
              <a:t>11:15 pm</a:t>
            </a:r>
          </a:p>
        </p:txBody>
      </p:sp>
      <p:sp>
        <p:nvSpPr>
          <p:cNvPr id="33" name="TextBox 32"/>
          <p:cNvSpPr txBox="1"/>
          <p:nvPr/>
        </p:nvSpPr>
        <p:spPr>
          <a:xfrm>
            <a:off x="1600200" y="3858768"/>
            <a:ext cx="3200400" cy="548640"/>
          </a:xfrm>
          <a:prstGeom prst="rect">
            <a:avLst/>
          </a:prstGeom>
          <a:noFill/>
        </p:spPr>
        <p:txBody>
          <a:bodyPr wrap="square" lIns="0" rIns="0" tIns="0" bIns="0" anchor="t">
            <a:spAutoFit/>
          </a:bodyPr>
          <a:lstStyle/>
          <a:p>
            <a:pPr algn="l"/>
            <a:r>
              <a:rPr sz="1150" b="0" i="0">
                <a:solidFill>
                  <a:srgbClr val="4A4A4A"/>
                </a:solidFill>
                <a:latin typeface="Calibri"/>
              </a:rPr>
              <a:t>The kitchen has to close. The trays are still sitting out.</a:t>
            </a:r>
          </a:p>
        </p:txBody>
      </p:sp>
      <p:sp>
        <p:nvSpPr>
          <p:cNvPr id="34" name="Oval 33"/>
          <p:cNvSpPr/>
          <p:nvPr/>
        </p:nvSpPr>
        <p:spPr>
          <a:xfrm>
            <a:off x="475488" y="4562856"/>
            <a:ext cx="146304" cy="146304"/>
          </a:xfrm>
          <a:prstGeom prst="ellipse">
            <a:avLst/>
          </a:prstGeom>
          <a:solidFill>
            <a:srgbClr val="C00000"/>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4535424"/>
            <a:ext cx="777240" cy="274320"/>
          </a:xfrm>
          <a:prstGeom prst="rect">
            <a:avLst/>
          </a:prstGeom>
          <a:noFill/>
        </p:spPr>
        <p:txBody>
          <a:bodyPr wrap="square" lIns="0" rIns="0" tIns="0" bIns="0" anchor="t">
            <a:spAutoFit/>
          </a:bodyPr>
          <a:lstStyle/>
          <a:p>
            <a:pPr algn="l"/>
            <a:r>
              <a:rPr sz="1150" b="1" i="0">
                <a:solidFill>
                  <a:srgbClr val="C00000"/>
                </a:solidFill>
                <a:latin typeface="Calibri"/>
              </a:rPr>
              <a:t>11:40 pm</a:t>
            </a:r>
          </a:p>
        </p:txBody>
      </p:sp>
      <p:sp>
        <p:nvSpPr>
          <p:cNvPr id="36" name="TextBox 35"/>
          <p:cNvSpPr txBox="1"/>
          <p:nvPr/>
        </p:nvSpPr>
        <p:spPr>
          <a:xfrm>
            <a:off x="1600200" y="4535424"/>
            <a:ext cx="3200400" cy="548640"/>
          </a:xfrm>
          <a:prstGeom prst="rect">
            <a:avLst/>
          </a:prstGeom>
          <a:noFill/>
        </p:spPr>
        <p:txBody>
          <a:bodyPr wrap="square" lIns="0" rIns="0" tIns="0" bIns="0" anchor="t">
            <a:spAutoFit/>
          </a:bodyPr>
          <a:lstStyle/>
          <a:p>
            <a:pPr algn="l"/>
            <a:r>
              <a:rPr sz="1150" b="1" i="0">
                <a:solidFill>
                  <a:srgbClr val="C00000"/>
                </a:solidFill>
                <a:latin typeface="Calibri"/>
              </a:rPr>
              <a:t>Before locking up, the staff throw the food away.</a:t>
            </a:r>
          </a:p>
        </p:txBody>
      </p:sp>
      <p:sp>
        <p:nvSpPr>
          <p:cNvPr id="37" name="TextBox 36"/>
          <p:cNvSpPr txBox="1"/>
          <p:nvPr/>
        </p:nvSpPr>
        <p:spPr>
          <a:xfrm>
            <a:off x="777240" y="5257800"/>
            <a:ext cx="3840480" cy="274320"/>
          </a:xfrm>
          <a:prstGeom prst="rect">
            <a:avLst/>
          </a:prstGeom>
          <a:noFill/>
        </p:spPr>
        <p:txBody>
          <a:bodyPr wrap="square" lIns="0" rIns="0" tIns="0" bIns="0" anchor="t">
            <a:spAutoFit/>
          </a:bodyPr>
          <a:lstStyle/>
          <a:p>
            <a:pPr algn="l"/>
            <a:r>
              <a:rPr sz="1050" b="0" i="1">
                <a:solidFill>
                  <a:srgbClr val="7A7A7A"/>
                </a:solidFill>
                <a:latin typeface="Calibri"/>
              </a:rPr>
              <a:t>An illustrative Saturday, without FoodLoop.</a:t>
            </a:r>
          </a:p>
        </p:txBody>
      </p:sp>
      <p:pic>
        <p:nvPicPr>
          <p:cNvPr id="38" name="Picture 37" descr="hero.jpg"/>
          <p:cNvPicPr>
            <a:picLocks noChangeAspect="1"/>
          </p:cNvPicPr>
          <p:nvPr/>
        </p:nvPicPr>
        <p:blipFill>
          <a:blip r:embed="rId5"/>
          <a:stretch>
            <a:fillRect/>
          </a:stretch>
        </p:blipFill>
        <p:spPr>
          <a:xfrm>
            <a:off x="4983480" y="914400"/>
            <a:ext cx="3017520" cy="1346686"/>
          </a:xfrm>
          <a:prstGeom prst="rect">
            <a:avLst/>
          </a:prstGeom>
        </p:spPr>
      </p:pic>
      <p:sp>
        <p:nvSpPr>
          <p:cNvPr id="39" name="TextBox 38"/>
          <p:cNvSpPr txBox="1"/>
          <p:nvPr/>
        </p:nvSpPr>
        <p:spPr>
          <a:xfrm>
            <a:off x="4983480" y="2304288"/>
            <a:ext cx="3749039" cy="228600"/>
          </a:xfrm>
          <a:prstGeom prst="rect">
            <a:avLst/>
          </a:prstGeom>
          <a:noFill/>
        </p:spPr>
        <p:txBody>
          <a:bodyPr wrap="square" lIns="0" rIns="0" tIns="0" bIns="0" anchor="t">
            <a:spAutoFit/>
          </a:bodyPr>
          <a:lstStyle/>
          <a:p>
            <a:pPr algn="l"/>
            <a:r>
              <a:rPr sz="1000" b="0" i="0">
                <a:solidFill>
                  <a:srgbClr val="7A7A7A"/>
                </a:solidFill>
                <a:latin typeface="Calibri"/>
              </a:rPr>
              <a:t>Closing time: good food, nowhere to send it.</a:t>
            </a:r>
          </a:p>
        </p:txBody>
      </p:sp>
      <p:sp>
        <p:nvSpPr>
          <p:cNvPr id="40" name="TextBox 39"/>
          <p:cNvSpPr txBox="1"/>
          <p:nvPr/>
        </p:nvSpPr>
        <p:spPr>
          <a:xfrm>
            <a:off x="4983480" y="2633472"/>
            <a:ext cx="3749039" cy="365760"/>
          </a:xfrm>
          <a:prstGeom prst="rect">
            <a:avLst/>
          </a:prstGeom>
          <a:noFill/>
        </p:spPr>
        <p:txBody>
          <a:bodyPr wrap="square" lIns="0" rIns="0" tIns="0" bIns="0" anchor="t">
            <a:spAutoFit/>
          </a:bodyPr>
          <a:lstStyle/>
          <a:p>
            <a:pPr algn="l"/>
            <a:r>
              <a:rPr sz="1700" b="1" i="0">
                <a:solidFill>
                  <a:srgbClr val="C00000"/>
                </a:solidFill>
                <a:latin typeface="Calibri"/>
              </a:rPr>
              <a:t>Objectives</a:t>
            </a:r>
          </a:p>
        </p:txBody>
      </p:sp>
      <p:sp>
        <p:nvSpPr>
          <p:cNvPr id="41" name="Oval 40"/>
          <p:cNvSpPr/>
          <p:nvPr/>
        </p:nvSpPr>
        <p:spPr>
          <a:xfrm>
            <a:off x="4983480" y="3063240"/>
            <a:ext cx="292608" cy="29260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83480" y="3063240"/>
            <a:ext cx="292608" cy="292608"/>
          </a:xfrm>
          <a:prstGeom prst="rect">
            <a:avLst/>
          </a:prstGeom>
          <a:noFill/>
        </p:spPr>
        <p:txBody>
          <a:bodyPr wrap="square" lIns="0" rIns="0" tIns="0" bIns="0" anchor="ctr">
            <a:spAutoFit/>
          </a:bodyPr>
          <a:lstStyle/>
          <a:p>
            <a:pPr algn="ctr"/>
            <a:r>
              <a:rPr sz="1200" b="1" i="0">
                <a:solidFill>
                  <a:srgbClr val="FFFFFF"/>
                </a:solidFill>
                <a:latin typeface="Calibri"/>
              </a:rPr>
              <a:t>1</a:t>
            </a:r>
          </a:p>
        </p:txBody>
      </p:sp>
      <p:sp>
        <p:nvSpPr>
          <p:cNvPr id="43" name="TextBox 42"/>
          <p:cNvSpPr txBox="1"/>
          <p:nvPr/>
        </p:nvSpPr>
        <p:spPr>
          <a:xfrm>
            <a:off x="5404104" y="3026664"/>
            <a:ext cx="3383280" cy="640080"/>
          </a:xfrm>
          <a:prstGeom prst="rect">
            <a:avLst/>
          </a:prstGeom>
          <a:noFill/>
        </p:spPr>
        <p:txBody>
          <a:bodyPr wrap="square" lIns="0" rIns="0" tIns="0" bIns="0" anchor="t">
            <a:spAutoFit/>
          </a:bodyPr>
          <a:lstStyle/>
          <a:p>
            <a:pPr algn="l"/>
            <a:r>
              <a:rPr sz="1150" b="1" i="0">
                <a:solidFill>
                  <a:srgbClr val="1F1F1F"/>
                </a:solidFill>
                <a:latin typeface="Calibri"/>
              </a:rPr>
              <a:t>Match food before its deadline</a:t>
            </a:r>
          </a:p>
          <a:p>
            <a:pPr algn="l"/>
            <a:r>
              <a:rPr sz="1000" b="0" i="0">
                <a:solidFill>
                  <a:srgbClr val="4A4A4A"/>
                </a:solidFill>
                <a:latin typeface="Calibri"/>
              </a:rPr>
              <a:t>Only offer it to shelters that can actually collect it in time.</a:t>
            </a:r>
          </a:p>
        </p:txBody>
      </p:sp>
      <p:sp>
        <p:nvSpPr>
          <p:cNvPr id="44" name="Oval 43"/>
          <p:cNvSpPr/>
          <p:nvPr/>
        </p:nvSpPr>
        <p:spPr>
          <a:xfrm>
            <a:off x="4983480" y="3730752"/>
            <a:ext cx="292608" cy="29260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983480" y="3730752"/>
            <a:ext cx="292608" cy="292608"/>
          </a:xfrm>
          <a:prstGeom prst="rect">
            <a:avLst/>
          </a:prstGeom>
          <a:noFill/>
        </p:spPr>
        <p:txBody>
          <a:bodyPr wrap="square" lIns="0" rIns="0" tIns="0" bIns="0" anchor="ctr">
            <a:spAutoFit/>
          </a:bodyPr>
          <a:lstStyle/>
          <a:p>
            <a:pPr algn="ctr"/>
            <a:r>
              <a:rPr sz="1200" b="1" i="0">
                <a:solidFill>
                  <a:srgbClr val="FFFFFF"/>
                </a:solidFill>
                <a:latin typeface="Calibri"/>
              </a:rPr>
              <a:t>2</a:t>
            </a:r>
          </a:p>
        </p:txBody>
      </p:sp>
      <p:sp>
        <p:nvSpPr>
          <p:cNvPr id="46" name="TextBox 45"/>
          <p:cNvSpPr txBox="1"/>
          <p:nvPr/>
        </p:nvSpPr>
        <p:spPr>
          <a:xfrm>
            <a:off x="5404104" y="3694176"/>
            <a:ext cx="3383280" cy="640080"/>
          </a:xfrm>
          <a:prstGeom prst="rect">
            <a:avLst/>
          </a:prstGeom>
          <a:noFill/>
        </p:spPr>
        <p:txBody>
          <a:bodyPr wrap="square" lIns="0" rIns="0" tIns="0" bIns="0" anchor="t">
            <a:spAutoFit/>
          </a:bodyPr>
          <a:lstStyle/>
          <a:p>
            <a:pPr algn="l"/>
            <a:r>
              <a:rPr sz="1150" b="1" i="0">
                <a:solidFill>
                  <a:srgbClr val="1F1F1F"/>
                </a:solidFill>
                <a:latin typeface="Calibri"/>
              </a:rPr>
              <a:t>One ranked offer, not a broadcast</a:t>
            </a:r>
          </a:p>
          <a:p>
            <a:pPr algn="l"/>
            <a:r>
              <a:rPr sz="1000" b="0" i="0">
                <a:solidFill>
                  <a:srgbClr val="4A4A4A"/>
                </a:solidFill>
                <a:latin typeface="Calibri"/>
              </a:rPr>
              <a:t>Score every verified shelter; ask the best fit first, then cascade.</a:t>
            </a:r>
          </a:p>
        </p:txBody>
      </p:sp>
      <p:sp>
        <p:nvSpPr>
          <p:cNvPr id="47" name="Oval 46"/>
          <p:cNvSpPr/>
          <p:nvPr/>
        </p:nvSpPr>
        <p:spPr>
          <a:xfrm>
            <a:off x="4983480" y="4398264"/>
            <a:ext cx="292608" cy="29260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983480" y="4398264"/>
            <a:ext cx="292608" cy="292608"/>
          </a:xfrm>
          <a:prstGeom prst="rect">
            <a:avLst/>
          </a:prstGeom>
          <a:noFill/>
        </p:spPr>
        <p:txBody>
          <a:bodyPr wrap="square" lIns="0" rIns="0" tIns="0" bIns="0" anchor="ctr">
            <a:spAutoFit/>
          </a:bodyPr>
          <a:lstStyle/>
          <a:p>
            <a:pPr algn="ctr"/>
            <a:r>
              <a:rPr sz="1200" b="1" i="0">
                <a:solidFill>
                  <a:srgbClr val="FFFFFF"/>
                </a:solidFill>
                <a:latin typeface="Calibri"/>
              </a:rPr>
              <a:t>3</a:t>
            </a:r>
          </a:p>
        </p:txBody>
      </p:sp>
      <p:sp>
        <p:nvSpPr>
          <p:cNvPr id="49" name="TextBox 48"/>
          <p:cNvSpPr txBox="1"/>
          <p:nvPr/>
        </p:nvSpPr>
        <p:spPr>
          <a:xfrm>
            <a:off x="5404104" y="4361688"/>
            <a:ext cx="3383280" cy="640080"/>
          </a:xfrm>
          <a:prstGeom prst="rect">
            <a:avLst/>
          </a:prstGeom>
          <a:noFill/>
        </p:spPr>
        <p:txBody>
          <a:bodyPr wrap="square" lIns="0" rIns="0" tIns="0" bIns="0" anchor="t">
            <a:spAutoFit/>
          </a:bodyPr>
          <a:lstStyle/>
          <a:p>
            <a:pPr algn="l"/>
            <a:r>
              <a:rPr sz="1150" b="1" i="0">
                <a:solidFill>
                  <a:srgbClr val="1F1F1F"/>
                </a:solidFill>
                <a:latin typeface="Calibri"/>
              </a:rPr>
              <a:t>Recipients collect it themselves</a:t>
            </a:r>
          </a:p>
          <a:p>
            <a:pPr algn="l"/>
            <a:r>
              <a:rPr sz="1000" b="0" i="0">
                <a:solidFill>
                  <a:srgbClr val="4A4A4A"/>
                </a:solidFill>
                <a:latin typeface="Calibri"/>
              </a:rPr>
              <a:t>No riders. A 4-digit handover code confirms the right people came.</a:t>
            </a:r>
          </a:p>
        </p:txBody>
      </p:sp>
      <p:sp>
        <p:nvSpPr>
          <p:cNvPr id="50" name="Oval 49"/>
          <p:cNvSpPr/>
          <p:nvPr/>
        </p:nvSpPr>
        <p:spPr>
          <a:xfrm>
            <a:off x="4983480" y="5065776"/>
            <a:ext cx="292608" cy="29260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3480" y="5065776"/>
            <a:ext cx="292608" cy="292608"/>
          </a:xfrm>
          <a:prstGeom prst="rect">
            <a:avLst/>
          </a:prstGeom>
          <a:noFill/>
        </p:spPr>
        <p:txBody>
          <a:bodyPr wrap="square" lIns="0" rIns="0" tIns="0" bIns="0" anchor="ctr">
            <a:spAutoFit/>
          </a:bodyPr>
          <a:lstStyle/>
          <a:p>
            <a:pPr algn="ctr"/>
            <a:r>
              <a:rPr sz="1200" b="1" i="0">
                <a:solidFill>
                  <a:srgbClr val="FFFFFF"/>
                </a:solidFill>
                <a:latin typeface="Calibri"/>
              </a:rPr>
              <a:t>4</a:t>
            </a:r>
          </a:p>
        </p:txBody>
      </p:sp>
      <p:sp>
        <p:nvSpPr>
          <p:cNvPr id="52" name="TextBox 51"/>
          <p:cNvSpPr txBox="1"/>
          <p:nvPr/>
        </p:nvSpPr>
        <p:spPr>
          <a:xfrm>
            <a:off x="5404104" y="5029200"/>
            <a:ext cx="3383280" cy="640080"/>
          </a:xfrm>
          <a:prstGeom prst="rect">
            <a:avLst/>
          </a:prstGeom>
          <a:noFill/>
        </p:spPr>
        <p:txBody>
          <a:bodyPr wrap="square" lIns="0" rIns="0" tIns="0" bIns="0" anchor="t">
            <a:spAutoFit/>
          </a:bodyPr>
          <a:lstStyle/>
          <a:p>
            <a:pPr algn="l"/>
            <a:r>
              <a:rPr sz="1150" b="1" i="0">
                <a:solidFill>
                  <a:srgbClr val="1F1F1F"/>
                </a:solidFill>
                <a:latin typeface="Calibri"/>
              </a:rPr>
              <a:t>Make every decision explainable</a:t>
            </a:r>
          </a:p>
          <a:p>
            <a:pPr algn="l"/>
            <a:r>
              <a:rPr sz="1000" b="0" i="0">
                <a:solidFill>
                  <a:srgbClr val="4A4A4A"/>
                </a:solidFill>
                <a:latin typeface="Calibri"/>
              </a:rPr>
              <a:t>Show the score factor by factor, and measure the impact.</a:t>
            </a:r>
          </a:p>
        </p:txBody>
      </p:sp>
    </p:spTree>
    <p:extLst>
      <p:ext uri="{BB962C8B-B14F-4D97-AF65-F5344CB8AC3E}">
        <p14:creationId xmlns:p14="http://schemas.microsoft.com/office/powerpoint/2010/main" val="2562833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377440" y="109728"/>
            <a:ext cx="621792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600" b="1">
                <a:solidFill>
                  <a:srgbClr val="C00000"/>
                </a:solidFill>
                <a:latin typeface="Calibri"/>
              </a:rPr>
              <a:t>Use-Case Diagram</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 name="Picture 19" descr="usecase_full.png"/>
          <p:cNvPicPr>
            <a:picLocks noChangeAspect="1"/>
          </p:cNvPicPr>
          <p:nvPr/>
        </p:nvPicPr>
        <p:blipFill>
          <a:blip r:embed="rId5"/>
          <a:stretch>
            <a:fillRect/>
          </a:stretch>
        </p:blipFill>
        <p:spPr>
          <a:xfrm>
            <a:off x="274320" y="868680"/>
            <a:ext cx="6790444" cy="4892040"/>
          </a:xfrm>
          <a:prstGeom prst="rect">
            <a:avLst/>
          </a:prstGeom>
        </p:spPr>
      </p:pic>
      <p:sp>
        <p:nvSpPr>
          <p:cNvPr id="21" name="TextBox 20"/>
          <p:cNvSpPr txBox="1"/>
          <p:nvPr/>
        </p:nvSpPr>
        <p:spPr>
          <a:xfrm>
            <a:off x="7059168" y="960120"/>
            <a:ext cx="1783080" cy="1143000"/>
          </a:xfrm>
          <a:prstGeom prst="rect">
            <a:avLst/>
          </a:prstGeom>
          <a:noFill/>
        </p:spPr>
        <p:txBody>
          <a:bodyPr wrap="square" lIns="0" rIns="0" tIns="0" bIns="0" anchor="t">
            <a:spAutoFit/>
          </a:bodyPr>
          <a:lstStyle/>
          <a:p>
            <a:pPr algn="l"/>
            <a:r>
              <a:rPr sz="1100" b="1" i="0">
                <a:solidFill>
                  <a:srgbClr val="C00000"/>
                </a:solidFill>
                <a:latin typeface="Calibri"/>
              </a:rPr>
              <a:t>Donor (kitchen)</a:t>
            </a:r>
          </a:p>
          <a:p>
            <a:pPr algn="l"/>
            <a:r>
              <a:rPr sz="900" b="0" i="0">
                <a:solidFill>
                  <a:srgbClr val="4A4A4A"/>
                </a:solidFill>
                <a:latin typeface="Calibri"/>
              </a:rPr>
              <a:t>Registers with an FSSAI licence, posts surplus food, sees the ranked shelters, confirms the pickup with the code and rates the shelter.</a:t>
            </a:r>
          </a:p>
        </p:txBody>
      </p:sp>
      <p:sp>
        <p:nvSpPr>
          <p:cNvPr id="22" name="TextBox 21"/>
          <p:cNvSpPr txBox="1"/>
          <p:nvPr/>
        </p:nvSpPr>
        <p:spPr>
          <a:xfrm>
            <a:off x="7059168" y="2176272"/>
            <a:ext cx="1783080" cy="1143000"/>
          </a:xfrm>
          <a:prstGeom prst="rect">
            <a:avLst/>
          </a:prstGeom>
          <a:noFill/>
        </p:spPr>
        <p:txBody>
          <a:bodyPr wrap="square" lIns="0" rIns="0" tIns="0" bIns="0" anchor="t">
            <a:spAutoFit/>
          </a:bodyPr>
          <a:lstStyle/>
          <a:p>
            <a:pPr algn="l"/>
            <a:r>
              <a:rPr sz="1100" b="1" i="0">
                <a:solidFill>
                  <a:srgbClr val="C00000"/>
                </a:solidFill>
                <a:latin typeface="Calibri"/>
              </a:rPr>
              <a:t>Recipient (NGO / shelter)</a:t>
            </a:r>
          </a:p>
          <a:p>
            <a:pPr algn="l"/>
            <a:r>
              <a:rPr sz="900" b="0" i="0">
                <a:solidFill>
                  <a:srgbClr val="4A4A4A"/>
                </a:solidFill>
                <a:latin typeface="Calibri"/>
              </a:rPr>
              <a:t>Registers with the food it accepts, meals per day and travel radius. Sees ranked offers with the score breakdown, accepts or passes, prints a pickup slip.</a:t>
            </a:r>
          </a:p>
        </p:txBody>
      </p:sp>
      <p:sp>
        <p:nvSpPr>
          <p:cNvPr id="23" name="TextBox 22"/>
          <p:cNvSpPr txBox="1"/>
          <p:nvPr/>
        </p:nvSpPr>
        <p:spPr>
          <a:xfrm>
            <a:off x="7059168" y="3392424"/>
            <a:ext cx="1783080" cy="1143000"/>
          </a:xfrm>
          <a:prstGeom prst="rect">
            <a:avLst/>
          </a:prstGeom>
          <a:noFill/>
        </p:spPr>
        <p:txBody>
          <a:bodyPr wrap="square" lIns="0" rIns="0" tIns="0" bIns="0" anchor="t">
            <a:spAutoFit/>
          </a:bodyPr>
          <a:lstStyle/>
          <a:p>
            <a:pPr algn="l"/>
            <a:r>
              <a:rPr sz="1100" b="1" i="0">
                <a:solidFill>
                  <a:srgbClr val="C00000"/>
                </a:solidFill>
                <a:latin typeface="Calibri"/>
              </a:rPr>
              <a:t>Admin</a:t>
            </a:r>
          </a:p>
          <a:p>
            <a:pPr algn="l"/>
            <a:r>
              <a:rPr sz="900" b="0" i="0">
                <a:solidFill>
                  <a:srgbClr val="4A4A4A"/>
                </a:solidFill>
                <a:latin typeface="Calibri"/>
              </a:rPr>
              <a:t>Checks every new shelter and verifies it, or turns it down with a reason. Unverified shelters never receive food.</a:t>
            </a:r>
          </a:p>
        </p:txBody>
      </p:sp>
      <p:sp>
        <p:nvSpPr>
          <p:cNvPr id="24" name="TextBox 23"/>
          <p:cNvSpPr txBox="1"/>
          <p:nvPr/>
        </p:nvSpPr>
        <p:spPr>
          <a:xfrm>
            <a:off x="7059168" y="4608576"/>
            <a:ext cx="1783080" cy="1143000"/>
          </a:xfrm>
          <a:prstGeom prst="rect">
            <a:avLst/>
          </a:prstGeom>
          <a:noFill/>
        </p:spPr>
        <p:txBody>
          <a:bodyPr wrap="square" lIns="0" rIns="0" tIns="0" bIns="0" anchor="t">
            <a:spAutoFit/>
          </a:bodyPr>
          <a:lstStyle/>
          <a:p>
            <a:pPr algn="l"/>
            <a:r>
              <a:rPr sz="1100" b="1" i="0">
                <a:solidFill>
                  <a:srgbClr val="C00000"/>
                </a:solidFill>
                <a:latin typeface="Calibri"/>
              </a:rPr>
              <a:t>System</a:t>
            </a:r>
          </a:p>
          <a:p>
            <a:pPr algn="l"/>
            <a:r>
              <a:rPr sz="900" b="0" i="0">
                <a:solidFill>
                  <a:srgbClr val="4A4A4A"/>
                </a:solidFill>
                <a:latin typeface="Calibri"/>
              </a:rPr>
              <a:t>Authenticates with JWT, filters and scores shelters, re-scores on a pass, expires offers and aggregates the impact statistics.</a:t>
            </a:r>
          </a:p>
        </p:txBody>
      </p:sp>
    </p:spTree>
    <p:extLst>
      <p:ext uri="{BB962C8B-B14F-4D97-AF65-F5344CB8AC3E}">
        <p14:creationId xmlns:p14="http://schemas.microsoft.com/office/powerpoint/2010/main" val="2562833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377440" y="109728"/>
            <a:ext cx="621792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600" b="1">
                <a:solidFill>
                  <a:srgbClr val="C00000"/>
                </a:solidFill>
                <a:latin typeface="Calibri"/>
              </a:rPr>
              <a:t>System Architecture &amp; Matching</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p:cNvSpPr txBox="1"/>
          <p:nvPr/>
        </p:nvSpPr>
        <p:spPr>
          <a:xfrm>
            <a:off x="457200" y="841248"/>
            <a:ext cx="4023360" cy="274320"/>
          </a:xfrm>
          <a:prstGeom prst="rect">
            <a:avLst/>
          </a:prstGeom>
          <a:noFill/>
        </p:spPr>
        <p:txBody>
          <a:bodyPr wrap="square" lIns="0" rIns="0" tIns="0" bIns="0" anchor="t">
            <a:spAutoFit/>
          </a:bodyPr>
          <a:lstStyle/>
          <a:p>
            <a:pPr algn="l"/>
            <a:r>
              <a:rPr sz="1500" b="1" i="0">
                <a:solidFill>
                  <a:srgbClr val="1F1F1F"/>
                </a:solidFill>
                <a:latin typeface="Calibri"/>
              </a:rPr>
              <a:t>Three-tier MERN architecture</a:t>
            </a:r>
          </a:p>
        </p:txBody>
      </p:sp>
      <p:sp>
        <p:nvSpPr>
          <p:cNvPr id="21" name="Rounded Rectangle 20"/>
          <p:cNvSpPr/>
          <p:nvPr/>
        </p:nvSpPr>
        <p:spPr>
          <a:xfrm>
            <a:off x="457200" y="1188720"/>
            <a:ext cx="4023360" cy="960120"/>
          </a:xfrm>
          <a:prstGeom prst="roundRect">
            <a:avLst>
              <a:gd name="adj" fmla="val 8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1289304"/>
            <a:ext cx="3749039" cy="228600"/>
          </a:xfrm>
          <a:prstGeom prst="rect">
            <a:avLst/>
          </a:prstGeom>
          <a:noFill/>
        </p:spPr>
        <p:txBody>
          <a:bodyPr wrap="square" lIns="0" rIns="0" tIns="0" bIns="0" anchor="t">
            <a:spAutoFit/>
          </a:bodyPr>
          <a:lstStyle/>
          <a:p>
            <a:pPr algn="l"/>
            <a:r>
              <a:rPr sz="1150" b="1" i="0">
                <a:solidFill>
                  <a:srgbClr val="B7202E"/>
                </a:solidFill>
                <a:latin typeface="Calibri"/>
              </a:rPr>
              <a:t>Browser · presentation</a:t>
            </a:r>
          </a:p>
        </p:txBody>
      </p:sp>
      <p:sp>
        <p:nvSpPr>
          <p:cNvPr id="23" name="TextBox 22"/>
          <p:cNvSpPr txBox="1"/>
          <p:nvPr/>
        </p:nvSpPr>
        <p:spPr>
          <a:xfrm>
            <a:off x="621792" y="1554480"/>
            <a:ext cx="3749039" cy="548640"/>
          </a:xfrm>
          <a:prstGeom prst="rect">
            <a:avLst/>
          </a:prstGeom>
          <a:noFill/>
        </p:spPr>
        <p:txBody>
          <a:bodyPr wrap="square" lIns="0" rIns="0" tIns="0" bIns="0" anchor="t">
            <a:spAutoFit/>
          </a:bodyPr>
          <a:lstStyle/>
          <a:p>
            <a:pPr algn="l"/>
            <a:r>
              <a:rPr sz="1000" b="0" i="0">
                <a:solidFill>
                  <a:srgbClr val="4A4A4A"/>
                </a:solidFill>
                <a:latin typeface="Calibri"/>
              </a:rPr>
              <a:t>10 pages of plain HTML, CSS and JavaScript
api.js holds the token and calls fetch()
Leaflet + OpenStreetMap for the map</a:t>
            </a:r>
          </a:p>
        </p:txBody>
      </p:sp>
      <p:sp>
        <p:nvSpPr>
          <p:cNvPr id="24" name="TextBox 23"/>
          <p:cNvSpPr txBox="1"/>
          <p:nvPr/>
        </p:nvSpPr>
        <p:spPr>
          <a:xfrm>
            <a:off x="457200" y="2130552"/>
            <a:ext cx="4023360" cy="228600"/>
          </a:xfrm>
          <a:prstGeom prst="rect">
            <a:avLst/>
          </a:prstGeom>
          <a:noFill/>
        </p:spPr>
        <p:txBody>
          <a:bodyPr wrap="square" lIns="0" rIns="0" tIns="0" bIns="0" anchor="t">
            <a:spAutoFit/>
          </a:bodyPr>
          <a:lstStyle/>
          <a:p>
            <a:pPr algn="ctr"/>
            <a:r>
              <a:rPr sz="900" b="1" i="0">
                <a:solidFill>
                  <a:srgbClr val="7A7A7A"/>
                </a:solidFill>
                <a:latin typeface="Calibri"/>
              </a:rPr>
              <a:t>▼  HTTP / JSON  ▼</a:t>
            </a:r>
          </a:p>
        </p:txBody>
      </p:sp>
      <p:sp>
        <p:nvSpPr>
          <p:cNvPr id="25" name="Rounded Rectangle 24"/>
          <p:cNvSpPr/>
          <p:nvPr/>
        </p:nvSpPr>
        <p:spPr>
          <a:xfrm>
            <a:off x="457200" y="2377440"/>
            <a:ext cx="4023360" cy="960120"/>
          </a:xfrm>
          <a:prstGeom prst="roundRect">
            <a:avLst>
              <a:gd name="adj" fmla="val 8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2478024"/>
            <a:ext cx="3749039" cy="228600"/>
          </a:xfrm>
          <a:prstGeom prst="rect">
            <a:avLst/>
          </a:prstGeom>
          <a:noFill/>
        </p:spPr>
        <p:txBody>
          <a:bodyPr wrap="square" lIns="0" rIns="0" tIns="0" bIns="0" anchor="t">
            <a:spAutoFit/>
          </a:bodyPr>
          <a:lstStyle/>
          <a:p>
            <a:pPr algn="l"/>
            <a:r>
              <a:rPr sz="1150" b="1" i="0">
                <a:solidFill>
                  <a:srgbClr val="B7202E"/>
                </a:solidFill>
                <a:latin typeface="Calibri"/>
              </a:rPr>
              <a:t>Node.js + Express · logic</a:t>
            </a:r>
          </a:p>
        </p:txBody>
      </p:sp>
      <p:sp>
        <p:nvSpPr>
          <p:cNvPr id="27" name="TextBox 26"/>
          <p:cNvSpPr txBox="1"/>
          <p:nvPr/>
        </p:nvSpPr>
        <p:spPr>
          <a:xfrm>
            <a:off x="621792" y="2743200"/>
            <a:ext cx="3749039" cy="548640"/>
          </a:xfrm>
          <a:prstGeom prst="rect">
            <a:avLst/>
          </a:prstGeom>
          <a:noFill/>
        </p:spPr>
        <p:txBody>
          <a:bodyPr wrap="square" lIns="0" rIns="0" tIns="0" bIns="0" anchor="t">
            <a:spAutoFit/>
          </a:bodyPr>
          <a:lstStyle/>
          <a:p>
            <a:pPr algn="l"/>
            <a:r>
              <a:rPr sz="1000" b="0" i="0">
                <a:solidFill>
                  <a:srgbClr val="4A4A4A"/>
                </a:solidFill>
                <a:latin typeface="Calibri"/>
              </a:rPr>
              <a:t>/auth  /listings  /offers  /organisations
/admin  /stats
JWT protect + donor / recipient / admin guard</a:t>
            </a:r>
          </a:p>
        </p:txBody>
      </p:sp>
      <p:sp>
        <p:nvSpPr>
          <p:cNvPr id="28" name="TextBox 27"/>
          <p:cNvSpPr txBox="1"/>
          <p:nvPr/>
        </p:nvSpPr>
        <p:spPr>
          <a:xfrm>
            <a:off x="457200" y="3319272"/>
            <a:ext cx="4023360" cy="228600"/>
          </a:xfrm>
          <a:prstGeom prst="rect">
            <a:avLst/>
          </a:prstGeom>
          <a:noFill/>
        </p:spPr>
        <p:txBody>
          <a:bodyPr wrap="square" lIns="0" rIns="0" tIns="0" bIns="0" anchor="t">
            <a:spAutoFit/>
          </a:bodyPr>
          <a:lstStyle/>
          <a:p>
            <a:pPr algn="ctr"/>
            <a:r>
              <a:rPr sz="900" b="1" i="0">
                <a:solidFill>
                  <a:srgbClr val="7A7A7A"/>
                </a:solidFill>
                <a:latin typeface="Calibri"/>
              </a:rPr>
              <a:t>▼  Mongoose  ▼</a:t>
            </a:r>
          </a:p>
        </p:txBody>
      </p:sp>
      <p:sp>
        <p:nvSpPr>
          <p:cNvPr id="29" name="Rounded Rectangle 28"/>
          <p:cNvSpPr/>
          <p:nvPr/>
        </p:nvSpPr>
        <p:spPr>
          <a:xfrm>
            <a:off x="457200" y="3566160"/>
            <a:ext cx="4023360" cy="960120"/>
          </a:xfrm>
          <a:prstGeom prst="roundRect">
            <a:avLst>
              <a:gd name="adj" fmla="val 8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3666744"/>
            <a:ext cx="3749039" cy="228600"/>
          </a:xfrm>
          <a:prstGeom prst="rect">
            <a:avLst/>
          </a:prstGeom>
          <a:noFill/>
        </p:spPr>
        <p:txBody>
          <a:bodyPr wrap="square" lIns="0" rIns="0" tIns="0" bIns="0" anchor="t">
            <a:spAutoFit/>
          </a:bodyPr>
          <a:lstStyle/>
          <a:p>
            <a:pPr algn="l"/>
            <a:r>
              <a:rPr sz="1150" b="1" i="0">
                <a:solidFill>
                  <a:srgbClr val="B7202E"/>
                </a:solidFill>
                <a:latin typeface="Calibri"/>
              </a:rPr>
              <a:t>MongoDB + Mongoose · data</a:t>
            </a:r>
          </a:p>
        </p:txBody>
      </p:sp>
      <p:sp>
        <p:nvSpPr>
          <p:cNvPr id="31" name="TextBox 30"/>
          <p:cNvSpPr txBox="1"/>
          <p:nvPr/>
        </p:nvSpPr>
        <p:spPr>
          <a:xfrm>
            <a:off x="621792" y="3931920"/>
            <a:ext cx="3749039" cy="548640"/>
          </a:xfrm>
          <a:prstGeom prst="rect">
            <a:avLst/>
          </a:prstGeom>
          <a:noFill/>
        </p:spPr>
        <p:txBody>
          <a:bodyPr wrap="square" lIns="0" rIns="0" tIns="0" bIns="0" anchor="t">
            <a:spAutoFit/>
          </a:bodyPr>
          <a:lstStyle/>
          <a:p>
            <a:pPr algn="l"/>
            <a:r>
              <a:rPr sz="1000" b="0" i="0">
                <a:solidFill>
                  <a:srgbClr val="4A4A4A"/>
                </a:solidFill>
                <a:latin typeface="Calibri"/>
              </a:rPr>
              <a:t>organisations  ·  listings  ·  offers
Schemas, validators and aggregation pipelines</a:t>
            </a:r>
          </a:p>
        </p:txBody>
      </p:sp>
      <p:sp>
        <p:nvSpPr>
          <p:cNvPr id="32" name="Rounded Rectangle 31"/>
          <p:cNvSpPr/>
          <p:nvPr/>
        </p:nvSpPr>
        <p:spPr>
          <a:xfrm>
            <a:off x="457200" y="4754880"/>
            <a:ext cx="4023360" cy="960120"/>
          </a:xfrm>
          <a:prstGeom prst="roundRect">
            <a:avLst>
              <a:gd name="adj" fmla="val 8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4846320"/>
            <a:ext cx="3749039" cy="228600"/>
          </a:xfrm>
          <a:prstGeom prst="rect">
            <a:avLst/>
          </a:prstGeom>
          <a:noFill/>
        </p:spPr>
        <p:txBody>
          <a:bodyPr wrap="square" lIns="0" rIns="0" tIns="0" bIns="0" anchor="t">
            <a:spAutoFit/>
          </a:bodyPr>
          <a:lstStyle/>
          <a:p>
            <a:pPr algn="l"/>
            <a:r>
              <a:rPr sz="1150" b="1" i="0">
                <a:solidFill>
                  <a:srgbClr val="B7202E"/>
                </a:solidFill>
                <a:latin typeface="Calibri"/>
              </a:rPr>
              <a:t>Security</a:t>
            </a:r>
          </a:p>
        </p:txBody>
      </p:sp>
      <p:sp>
        <p:nvSpPr>
          <p:cNvPr id="34" name="TextBox 33"/>
          <p:cNvSpPr txBox="1"/>
          <p:nvPr/>
        </p:nvSpPr>
        <p:spPr>
          <a:xfrm>
            <a:off x="621792" y="5102352"/>
            <a:ext cx="3749039" cy="548640"/>
          </a:xfrm>
          <a:prstGeom prst="rect">
            <a:avLst/>
          </a:prstGeom>
          <a:noFill/>
        </p:spPr>
        <p:txBody>
          <a:bodyPr wrap="square" lIns="0" rIns="0" tIns="0" bIns="0" anchor="t">
            <a:spAutoFit/>
          </a:bodyPr>
          <a:lstStyle/>
          <a:p>
            <a:pPr algn="l"/>
            <a:r>
              <a:rPr sz="1000" b="0" i="0">
                <a:solidFill>
                  <a:srgbClr val="4A4A4A"/>
                </a:solidFill>
                <a:latin typeface="Calibri"/>
              </a:rPr>
              <a:t>Passwords hashed with bcrypt · the server takes the owner from the token, never the request body · owner-only routes · .env kept out of Git</a:t>
            </a:r>
          </a:p>
        </p:txBody>
      </p:sp>
      <p:sp>
        <p:nvSpPr>
          <p:cNvPr id="35" name="TextBox 34"/>
          <p:cNvSpPr txBox="1"/>
          <p:nvPr/>
        </p:nvSpPr>
        <p:spPr>
          <a:xfrm>
            <a:off x="4754880" y="841248"/>
            <a:ext cx="4023360" cy="274320"/>
          </a:xfrm>
          <a:prstGeom prst="rect">
            <a:avLst/>
          </a:prstGeom>
          <a:noFill/>
        </p:spPr>
        <p:txBody>
          <a:bodyPr wrap="square" lIns="0" rIns="0" tIns="0" bIns="0" anchor="t">
            <a:spAutoFit/>
          </a:bodyPr>
          <a:lstStyle/>
          <a:p>
            <a:pPr algn="l"/>
            <a:r>
              <a:rPr sz="1500" b="1" i="0">
                <a:solidFill>
                  <a:srgbClr val="1F1F1F"/>
                </a:solidFill>
                <a:latin typeface="Calibri"/>
              </a:rPr>
              <a:t>How a listing is matched</a:t>
            </a:r>
          </a:p>
        </p:txBody>
      </p:sp>
      <p:sp>
        <p:nvSpPr>
          <p:cNvPr id="36" name="Rounded Rectangle 35"/>
          <p:cNvSpPr/>
          <p:nvPr/>
        </p:nvSpPr>
        <p:spPr>
          <a:xfrm>
            <a:off x="4754880" y="1170432"/>
            <a:ext cx="941832" cy="91440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80" y="1234440"/>
            <a:ext cx="941832" cy="256032"/>
          </a:xfrm>
          <a:prstGeom prst="rect">
            <a:avLst/>
          </a:prstGeom>
          <a:noFill/>
        </p:spPr>
        <p:txBody>
          <a:bodyPr wrap="square" lIns="0" rIns="0" tIns="0" bIns="0" anchor="t">
            <a:spAutoFit/>
          </a:bodyPr>
          <a:lstStyle/>
          <a:p>
            <a:pPr algn="ctr"/>
            <a:r>
              <a:rPr sz="1100" b="1" i="0">
                <a:solidFill>
                  <a:srgbClr val="C00000"/>
                </a:solidFill>
                <a:latin typeface="Calibri"/>
              </a:rPr>
              <a:t>1. Filter</a:t>
            </a:r>
          </a:p>
        </p:txBody>
      </p:sp>
      <p:sp>
        <p:nvSpPr>
          <p:cNvPr id="38" name="TextBox 37"/>
          <p:cNvSpPr txBox="1"/>
          <p:nvPr/>
        </p:nvSpPr>
        <p:spPr>
          <a:xfrm>
            <a:off x="4791456" y="1508760"/>
            <a:ext cx="868680" cy="548640"/>
          </a:xfrm>
          <a:prstGeom prst="rect">
            <a:avLst/>
          </a:prstGeom>
          <a:noFill/>
        </p:spPr>
        <p:txBody>
          <a:bodyPr wrap="square" lIns="0" rIns="0" tIns="0" bIns="0" anchor="t">
            <a:spAutoFit/>
          </a:bodyPr>
          <a:lstStyle/>
          <a:p>
            <a:pPr algn="ctr"/>
            <a:r>
              <a:rPr sz="850" b="0" i="0">
                <a:solidFill>
                  <a:srgbClr val="4A4A4A"/>
                </a:solidFill>
                <a:latin typeface="Calibri"/>
              </a:rPr>
              <a:t>wrong food, no room,
too far to reach</a:t>
            </a:r>
          </a:p>
        </p:txBody>
      </p:sp>
      <p:sp>
        <p:nvSpPr>
          <p:cNvPr id="39" name="TextBox 38"/>
          <p:cNvSpPr txBox="1"/>
          <p:nvPr/>
        </p:nvSpPr>
        <p:spPr>
          <a:xfrm>
            <a:off x="5669280" y="1517904"/>
            <a:ext cx="128016" cy="274320"/>
          </a:xfrm>
          <a:prstGeom prst="rect">
            <a:avLst/>
          </a:prstGeom>
          <a:noFill/>
        </p:spPr>
        <p:txBody>
          <a:bodyPr wrap="square" lIns="0" rIns="0" tIns="0" bIns="0" anchor="t">
            <a:spAutoFit/>
          </a:bodyPr>
          <a:lstStyle/>
          <a:p>
            <a:pPr algn="ctr"/>
            <a:r>
              <a:rPr sz="1400" b="1" i="0">
                <a:solidFill>
                  <a:srgbClr val="7A7A7A"/>
                </a:solidFill>
                <a:latin typeface="Calibri"/>
              </a:rPr>
              <a:t>›</a:t>
            </a:r>
          </a:p>
        </p:txBody>
      </p:sp>
      <p:sp>
        <p:nvSpPr>
          <p:cNvPr id="40" name="Rounded Rectangle 39"/>
          <p:cNvSpPr/>
          <p:nvPr/>
        </p:nvSpPr>
        <p:spPr>
          <a:xfrm>
            <a:off x="5779008" y="1170432"/>
            <a:ext cx="941832" cy="91440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79008" y="1234440"/>
            <a:ext cx="941832" cy="256032"/>
          </a:xfrm>
          <a:prstGeom prst="rect">
            <a:avLst/>
          </a:prstGeom>
          <a:noFill/>
        </p:spPr>
        <p:txBody>
          <a:bodyPr wrap="square" lIns="0" rIns="0" tIns="0" bIns="0" anchor="t">
            <a:spAutoFit/>
          </a:bodyPr>
          <a:lstStyle/>
          <a:p>
            <a:pPr algn="ctr"/>
            <a:r>
              <a:rPr sz="1100" b="1" i="0">
                <a:solidFill>
                  <a:srgbClr val="C00000"/>
                </a:solidFill>
                <a:latin typeface="Calibri"/>
              </a:rPr>
              <a:t>2. Score</a:t>
            </a:r>
          </a:p>
        </p:txBody>
      </p:sp>
      <p:sp>
        <p:nvSpPr>
          <p:cNvPr id="42" name="TextBox 41"/>
          <p:cNvSpPr txBox="1"/>
          <p:nvPr/>
        </p:nvSpPr>
        <p:spPr>
          <a:xfrm>
            <a:off x="5815584" y="1508760"/>
            <a:ext cx="868680" cy="548640"/>
          </a:xfrm>
          <a:prstGeom prst="rect">
            <a:avLst/>
          </a:prstGeom>
          <a:noFill/>
        </p:spPr>
        <p:txBody>
          <a:bodyPr wrap="square" lIns="0" rIns="0" tIns="0" bIns="0" anchor="t">
            <a:spAutoFit/>
          </a:bodyPr>
          <a:lstStyle/>
          <a:p>
            <a:pPr algn="ctr"/>
            <a:r>
              <a:rPr sz="850" b="0" i="0">
                <a:solidFill>
                  <a:srgbClr val="4A4A4A"/>
                </a:solidFill>
                <a:latin typeface="Calibri"/>
              </a:rPr>
              <a:t>5 weighted factors,
out of 100</a:t>
            </a:r>
          </a:p>
        </p:txBody>
      </p:sp>
      <p:sp>
        <p:nvSpPr>
          <p:cNvPr id="43" name="TextBox 42"/>
          <p:cNvSpPr txBox="1"/>
          <p:nvPr/>
        </p:nvSpPr>
        <p:spPr>
          <a:xfrm>
            <a:off x="6693408" y="1517904"/>
            <a:ext cx="128016" cy="274320"/>
          </a:xfrm>
          <a:prstGeom prst="rect">
            <a:avLst/>
          </a:prstGeom>
          <a:noFill/>
        </p:spPr>
        <p:txBody>
          <a:bodyPr wrap="square" lIns="0" rIns="0" tIns="0" bIns="0" anchor="t">
            <a:spAutoFit/>
          </a:bodyPr>
          <a:lstStyle/>
          <a:p>
            <a:pPr algn="ctr"/>
            <a:r>
              <a:rPr sz="1400" b="1" i="0">
                <a:solidFill>
                  <a:srgbClr val="7A7A7A"/>
                </a:solidFill>
                <a:latin typeface="Calibri"/>
              </a:rPr>
              <a:t>›</a:t>
            </a:r>
          </a:p>
        </p:txBody>
      </p:sp>
      <p:sp>
        <p:nvSpPr>
          <p:cNvPr id="44" name="Rounded Rectangle 43"/>
          <p:cNvSpPr/>
          <p:nvPr/>
        </p:nvSpPr>
        <p:spPr>
          <a:xfrm>
            <a:off x="6803136" y="1170432"/>
            <a:ext cx="941832" cy="91440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03136" y="1234440"/>
            <a:ext cx="941832" cy="256032"/>
          </a:xfrm>
          <a:prstGeom prst="rect">
            <a:avLst/>
          </a:prstGeom>
          <a:noFill/>
        </p:spPr>
        <p:txBody>
          <a:bodyPr wrap="square" lIns="0" rIns="0" tIns="0" bIns="0" anchor="t">
            <a:spAutoFit/>
          </a:bodyPr>
          <a:lstStyle/>
          <a:p>
            <a:pPr algn="ctr"/>
            <a:r>
              <a:rPr sz="1100" b="1" i="0">
                <a:solidFill>
                  <a:srgbClr val="C00000"/>
                </a:solidFill>
                <a:latin typeface="Calibri"/>
              </a:rPr>
              <a:t>3. Offer</a:t>
            </a:r>
          </a:p>
        </p:txBody>
      </p:sp>
      <p:sp>
        <p:nvSpPr>
          <p:cNvPr id="46" name="TextBox 45"/>
          <p:cNvSpPr txBox="1"/>
          <p:nvPr/>
        </p:nvSpPr>
        <p:spPr>
          <a:xfrm>
            <a:off x="6839712" y="1508760"/>
            <a:ext cx="868680" cy="548640"/>
          </a:xfrm>
          <a:prstGeom prst="rect">
            <a:avLst/>
          </a:prstGeom>
          <a:noFill/>
        </p:spPr>
        <p:txBody>
          <a:bodyPr wrap="square" lIns="0" rIns="0" tIns="0" bIns="0" anchor="t">
            <a:spAutoFit/>
          </a:bodyPr>
          <a:lstStyle/>
          <a:p>
            <a:pPr algn="ctr"/>
            <a:r>
              <a:rPr sz="850" b="0" i="0">
                <a:solidFill>
                  <a:srgbClr val="4A4A4A"/>
                </a:solidFill>
                <a:latin typeface="Calibri"/>
              </a:rPr>
              <a:t>best shelter first,
10 min to reply</a:t>
            </a:r>
          </a:p>
        </p:txBody>
      </p:sp>
      <p:sp>
        <p:nvSpPr>
          <p:cNvPr id="47" name="TextBox 46"/>
          <p:cNvSpPr txBox="1"/>
          <p:nvPr/>
        </p:nvSpPr>
        <p:spPr>
          <a:xfrm>
            <a:off x="7717536" y="1517904"/>
            <a:ext cx="128016" cy="274320"/>
          </a:xfrm>
          <a:prstGeom prst="rect">
            <a:avLst/>
          </a:prstGeom>
          <a:noFill/>
        </p:spPr>
        <p:txBody>
          <a:bodyPr wrap="square" lIns="0" rIns="0" tIns="0" bIns="0" anchor="t">
            <a:spAutoFit/>
          </a:bodyPr>
          <a:lstStyle/>
          <a:p>
            <a:pPr algn="ctr"/>
            <a:r>
              <a:rPr sz="1400" b="1" i="0">
                <a:solidFill>
                  <a:srgbClr val="7A7A7A"/>
                </a:solidFill>
                <a:latin typeface="Calibri"/>
              </a:rPr>
              <a:t>›</a:t>
            </a:r>
          </a:p>
        </p:txBody>
      </p:sp>
      <p:sp>
        <p:nvSpPr>
          <p:cNvPr id="48" name="Rounded Rectangle 47"/>
          <p:cNvSpPr/>
          <p:nvPr/>
        </p:nvSpPr>
        <p:spPr>
          <a:xfrm>
            <a:off x="7827264" y="1170432"/>
            <a:ext cx="941832" cy="91440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27264" y="1234440"/>
            <a:ext cx="941832" cy="256032"/>
          </a:xfrm>
          <a:prstGeom prst="rect">
            <a:avLst/>
          </a:prstGeom>
          <a:noFill/>
        </p:spPr>
        <p:txBody>
          <a:bodyPr wrap="square" lIns="0" rIns="0" tIns="0" bIns="0" anchor="t">
            <a:spAutoFit/>
          </a:bodyPr>
          <a:lstStyle/>
          <a:p>
            <a:pPr algn="ctr"/>
            <a:r>
              <a:rPr sz="1100" b="1" i="0">
                <a:solidFill>
                  <a:srgbClr val="C00000"/>
                </a:solidFill>
                <a:latin typeface="Calibri"/>
              </a:rPr>
              <a:t>4. Cascade</a:t>
            </a:r>
          </a:p>
        </p:txBody>
      </p:sp>
      <p:sp>
        <p:nvSpPr>
          <p:cNvPr id="50" name="TextBox 49"/>
          <p:cNvSpPr txBox="1"/>
          <p:nvPr/>
        </p:nvSpPr>
        <p:spPr>
          <a:xfrm>
            <a:off x="7863840" y="1508760"/>
            <a:ext cx="868680" cy="548640"/>
          </a:xfrm>
          <a:prstGeom prst="rect">
            <a:avLst/>
          </a:prstGeom>
          <a:noFill/>
        </p:spPr>
        <p:txBody>
          <a:bodyPr wrap="square" lIns="0" rIns="0" tIns="0" bIns="0" anchor="t">
            <a:spAutoFit/>
          </a:bodyPr>
          <a:lstStyle/>
          <a:p>
            <a:pPr algn="ctr"/>
            <a:r>
              <a:rPr sz="850" b="0" i="0">
                <a:solidFill>
                  <a:srgbClr val="4A4A4A"/>
                </a:solidFill>
                <a:latin typeface="Calibri"/>
              </a:rPr>
              <a:t>pass or no reply:
re-score, ask next</a:t>
            </a:r>
          </a:p>
        </p:txBody>
      </p:sp>
      <p:sp>
        <p:nvSpPr>
          <p:cNvPr id="51" name="TextBox 50"/>
          <p:cNvSpPr txBox="1"/>
          <p:nvPr/>
        </p:nvSpPr>
        <p:spPr>
          <a:xfrm>
            <a:off x="4754880" y="2249424"/>
            <a:ext cx="4023360" cy="256032"/>
          </a:xfrm>
          <a:prstGeom prst="rect">
            <a:avLst/>
          </a:prstGeom>
          <a:noFill/>
        </p:spPr>
        <p:txBody>
          <a:bodyPr wrap="square" lIns="0" rIns="0" tIns="0" bIns="0" anchor="t">
            <a:spAutoFit/>
          </a:bodyPr>
          <a:lstStyle/>
          <a:p>
            <a:pPr algn="l"/>
            <a:r>
              <a:rPr sz="1200" b="1" i="0">
                <a:solidFill>
                  <a:srgbClr val="1F1F1F"/>
                </a:solidFill>
                <a:latin typeface="Calibri"/>
              </a:rPr>
              <a:t>Score weights</a:t>
            </a:r>
          </a:p>
        </p:txBody>
      </p:sp>
      <p:sp>
        <p:nvSpPr>
          <p:cNvPr id="52" name="TextBox 51"/>
          <p:cNvSpPr txBox="1"/>
          <p:nvPr/>
        </p:nvSpPr>
        <p:spPr>
          <a:xfrm>
            <a:off x="4754880" y="2542032"/>
            <a:ext cx="1463040" cy="228600"/>
          </a:xfrm>
          <a:prstGeom prst="rect">
            <a:avLst/>
          </a:prstGeom>
          <a:noFill/>
        </p:spPr>
        <p:txBody>
          <a:bodyPr wrap="square" lIns="0" rIns="0" tIns="0" bIns="0" anchor="t">
            <a:spAutoFit/>
          </a:bodyPr>
          <a:lstStyle/>
          <a:p>
            <a:pPr algn="l"/>
            <a:r>
              <a:rPr sz="1050" b="0" i="0">
                <a:solidFill>
                  <a:srgbClr val="1F1F1F"/>
                </a:solidFill>
                <a:latin typeface="Calibri"/>
              </a:rPr>
              <a:t>Time feasibility</a:t>
            </a:r>
          </a:p>
        </p:txBody>
      </p:sp>
      <p:sp>
        <p:nvSpPr>
          <p:cNvPr id="53" name="Rounded Rectangle 52"/>
          <p:cNvSpPr/>
          <p:nvPr/>
        </p:nvSpPr>
        <p:spPr>
          <a:xfrm>
            <a:off x="6217920" y="2606039"/>
            <a:ext cx="2011680" cy="100584"/>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217920" y="2606039"/>
            <a:ext cx="2011680" cy="100584"/>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75320" y="2542032"/>
            <a:ext cx="502920" cy="228600"/>
          </a:xfrm>
          <a:prstGeom prst="rect">
            <a:avLst/>
          </a:prstGeom>
          <a:noFill/>
        </p:spPr>
        <p:txBody>
          <a:bodyPr wrap="square" lIns="0" rIns="0" tIns="0" bIns="0" anchor="t">
            <a:spAutoFit/>
          </a:bodyPr>
          <a:lstStyle/>
          <a:p>
            <a:pPr algn="r"/>
            <a:r>
              <a:rPr sz="1050" b="1" i="0">
                <a:solidFill>
                  <a:srgbClr val="1F1F1F"/>
                </a:solidFill>
                <a:latin typeface="Calibri"/>
              </a:rPr>
              <a:t>35%</a:t>
            </a:r>
          </a:p>
        </p:txBody>
      </p:sp>
      <p:sp>
        <p:nvSpPr>
          <p:cNvPr id="56" name="TextBox 55"/>
          <p:cNvSpPr txBox="1"/>
          <p:nvPr/>
        </p:nvSpPr>
        <p:spPr>
          <a:xfrm>
            <a:off x="4754880" y="2807208"/>
            <a:ext cx="1463040" cy="228600"/>
          </a:xfrm>
          <a:prstGeom prst="rect">
            <a:avLst/>
          </a:prstGeom>
          <a:noFill/>
        </p:spPr>
        <p:txBody>
          <a:bodyPr wrap="square" lIns="0" rIns="0" tIns="0" bIns="0" anchor="t">
            <a:spAutoFit/>
          </a:bodyPr>
          <a:lstStyle/>
          <a:p>
            <a:pPr algn="l"/>
            <a:r>
              <a:rPr sz="1050" b="0" i="0">
                <a:solidFill>
                  <a:srgbClr val="1F1F1F"/>
                </a:solidFill>
                <a:latin typeface="Calibri"/>
              </a:rPr>
              <a:t>Proximity</a:t>
            </a:r>
          </a:p>
        </p:txBody>
      </p:sp>
      <p:sp>
        <p:nvSpPr>
          <p:cNvPr id="57" name="Rounded Rectangle 56"/>
          <p:cNvSpPr/>
          <p:nvPr/>
        </p:nvSpPr>
        <p:spPr>
          <a:xfrm>
            <a:off x="6217920" y="2871215"/>
            <a:ext cx="2011680" cy="100584"/>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217920" y="2871215"/>
            <a:ext cx="1436914" cy="100584"/>
          </a:xfrm>
          <a:prstGeom prst="roundRect">
            <a:avLst>
              <a:gd name="adj" fmla="val 50000"/>
            </a:avLst>
          </a:prstGeom>
          <a:solidFill>
            <a:srgbClr val="B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20" y="2807208"/>
            <a:ext cx="502920" cy="228600"/>
          </a:xfrm>
          <a:prstGeom prst="rect">
            <a:avLst/>
          </a:prstGeom>
          <a:noFill/>
        </p:spPr>
        <p:txBody>
          <a:bodyPr wrap="square" lIns="0" rIns="0" tIns="0" bIns="0" anchor="t">
            <a:spAutoFit/>
          </a:bodyPr>
          <a:lstStyle/>
          <a:p>
            <a:pPr algn="r"/>
            <a:r>
              <a:rPr sz="1050" b="1" i="0">
                <a:solidFill>
                  <a:srgbClr val="1F1F1F"/>
                </a:solidFill>
                <a:latin typeface="Calibri"/>
              </a:rPr>
              <a:t>25%</a:t>
            </a:r>
          </a:p>
        </p:txBody>
      </p:sp>
      <p:sp>
        <p:nvSpPr>
          <p:cNvPr id="60" name="TextBox 59"/>
          <p:cNvSpPr txBox="1"/>
          <p:nvPr/>
        </p:nvSpPr>
        <p:spPr>
          <a:xfrm>
            <a:off x="4754880" y="3072384"/>
            <a:ext cx="1463040" cy="228600"/>
          </a:xfrm>
          <a:prstGeom prst="rect">
            <a:avLst/>
          </a:prstGeom>
          <a:noFill/>
        </p:spPr>
        <p:txBody>
          <a:bodyPr wrap="square" lIns="0" rIns="0" tIns="0" bIns="0" anchor="t">
            <a:spAutoFit/>
          </a:bodyPr>
          <a:lstStyle/>
          <a:p>
            <a:pPr algn="l"/>
            <a:r>
              <a:rPr sz="1050" b="0" i="0">
                <a:solidFill>
                  <a:srgbClr val="1F1F1F"/>
                </a:solidFill>
                <a:latin typeface="Calibri"/>
              </a:rPr>
              <a:t>Capacity fit</a:t>
            </a:r>
          </a:p>
        </p:txBody>
      </p:sp>
      <p:sp>
        <p:nvSpPr>
          <p:cNvPr id="61" name="Rounded Rectangle 60"/>
          <p:cNvSpPr/>
          <p:nvPr/>
        </p:nvSpPr>
        <p:spPr>
          <a:xfrm>
            <a:off x="6217920" y="3136391"/>
            <a:ext cx="2011680" cy="100584"/>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6217920" y="3136391"/>
            <a:ext cx="1149531" cy="100584"/>
          </a:xfrm>
          <a:prstGeom prst="roundRect">
            <a:avLst>
              <a:gd name="adj" fmla="val 50000"/>
            </a:avLst>
          </a:prstGeom>
          <a:solidFill>
            <a:srgbClr val="B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75320" y="3072384"/>
            <a:ext cx="502920" cy="228600"/>
          </a:xfrm>
          <a:prstGeom prst="rect">
            <a:avLst/>
          </a:prstGeom>
          <a:noFill/>
        </p:spPr>
        <p:txBody>
          <a:bodyPr wrap="square" lIns="0" rIns="0" tIns="0" bIns="0" anchor="t">
            <a:spAutoFit/>
          </a:bodyPr>
          <a:lstStyle/>
          <a:p>
            <a:pPr algn="r"/>
            <a:r>
              <a:rPr sz="1050" b="1" i="0">
                <a:solidFill>
                  <a:srgbClr val="1F1F1F"/>
                </a:solidFill>
                <a:latin typeface="Calibri"/>
              </a:rPr>
              <a:t>20%</a:t>
            </a:r>
          </a:p>
        </p:txBody>
      </p:sp>
      <p:sp>
        <p:nvSpPr>
          <p:cNvPr id="64" name="TextBox 63"/>
          <p:cNvSpPr txBox="1"/>
          <p:nvPr/>
        </p:nvSpPr>
        <p:spPr>
          <a:xfrm>
            <a:off x="4754880" y="3337559"/>
            <a:ext cx="1463040" cy="228600"/>
          </a:xfrm>
          <a:prstGeom prst="rect">
            <a:avLst/>
          </a:prstGeom>
          <a:noFill/>
        </p:spPr>
        <p:txBody>
          <a:bodyPr wrap="square" lIns="0" rIns="0" tIns="0" bIns="0" anchor="t">
            <a:spAutoFit/>
          </a:bodyPr>
          <a:lstStyle/>
          <a:p>
            <a:pPr algn="l"/>
            <a:r>
              <a:rPr sz="1050" b="0" i="0">
                <a:solidFill>
                  <a:srgbClr val="1F1F1F"/>
                </a:solidFill>
                <a:latin typeface="Calibri"/>
              </a:rPr>
              <a:t>Food type</a:t>
            </a:r>
          </a:p>
        </p:txBody>
      </p:sp>
      <p:sp>
        <p:nvSpPr>
          <p:cNvPr id="65" name="Rounded Rectangle 64"/>
          <p:cNvSpPr/>
          <p:nvPr/>
        </p:nvSpPr>
        <p:spPr>
          <a:xfrm>
            <a:off x="6217920" y="3401567"/>
            <a:ext cx="2011680" cy="100584"/>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6217920" y="3401567"/>
            <a:ext cx="574765" cy="100584"/>
          </a:xfrm>
          <a:prstGeom prst="roundRect">
            <a:avLst>
              <a:gd name="adj" fmla="val 50000"/>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275320" y="3337559"/>
            <a:ext cx="502920" cy="228600"/>
          </a:xfrm>
          <a:prstGeom prst="rect">
            <a:avLst/>
          </a:prstGeom>
          <a:noFill/>
        </p:spPr>
        <p:txBody>
          <a:bodyPr wrap="square" lIns="0" rIns="0" tIns="0" bIns="0" anchor="t">
            <a:spAutoFit/>
          </a:bodyPr>
          <a:lstStyle/>
          <a:p>
            <a:pPr algn="r"/>
            <a:r>
              <a:rPr sz="1050" b="1" i="0">
                <a:solidFill>
                  <a:srgbClr val="1F1F1F"/>
                </a:solidFill>
                <a:latin typeface="Calibri"/>
              </a:rPr>
              <a:t>10%</a:t>
            </a:r>
          </a:p>
        </p:txBody>
      </p:sp>
      <p:sp>
        <p:nvSpPr>
          <p:cNvPr id="68" name="TextBox 67"/>
          <p:cNvSpPr txBox="1"/>
          <p:nvPr/>
        </p:nvSpPr>
        <p:spPr>
          <a:xfrm>
            <a:off x="4754880" y="3602735"/>
            <a:ext cx="1463040" cy="228600"/>
          </a:xfrm>
          <a:prstGeom prst="rect">
            <a:avLst/>
          </a:prstGeom>
          <a:noFill/>
        </p:spPr>
        <p:txBody>
          <a:bodyPr wrap="square" lIns="0" rIns="0" tIns="0" bIns="0" anchor="t">
            <a:spAutoFit/>
          </a:bodyPr>
          <a:lstStyle/>
          <a:p>
            <a:pPr algn="l"/>
            <a:r>
              <a:rPr sz="1050" b="0" i="0">
                <a:solidFill>
                  <a:srgbClr val="1F1F1F"/>
                </a:solidFill>
                <a:latin typeface="Calibri"/>
              </a:rPr>
              <a:t>Reliability</a:t>
            </a:r>
          </a:p>
        </p:txBody>
      </p:sp>
      <p:sp>
        <p:nvSpPr>
          <p:cNvPr id="69" name="Rounded Rectangle 68"/>
          <p:cNvSpPr/>
          <p:nvPr/>
        </p:nvSpPr>
        <p:spPr>
          <a:xfrm>
            <a:off x="6217920" y="3666744"/>
            <a:ext cx="2011680" cy="100584"/>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217920" y="3666744"/>
            <a:ext cx="574765" cy="100584"/>
          </a:xfrm>
          <a:prstGeom prst="roundRect">
            <a:avLst>
              <a:gd name="adj" fmla="val 50000"/>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275320" y="3602735"/>
            <a:ext cx="502920" cy="228600"/>
          </a:xfrm>
          <a:prstGeom prst="rect">
            <a:avLst/>
          </a:prstGeom>
          <a:noFill/>
        </p:spPr>
        <p:txBody>
          <a:bodyPr wrap="square" lIns="0" rIns="0" tIns="0" bIns="0" anchor="t">
            <a:spAutoFit/>
          </a:bodyPr>
          <a:lstStyle/>
          <a:p>
            <a:pPr algn="r"/>
            <a:r>
              <a:rPr sz="1050" b="1" i="0">
                <a:solidFill>
                  <a:srgbClr val="1F1F1F"/>
                </a:solidFill>
                <a:latin typeface="Calibri"/>
              </a:rPr>
              <a:t>10%</a:t>
            </a:r>
          </a:p>
        </p:txBody>
      </p:sp>
      <p:sp>
        <p:nvSpPr>
          <p:cNvPr id="72" name="Rounded Rectangle 71"/>
          <p:cNvSpPr/>
          <p:nvPr/>
        </p:nvSpPr>
        <p:spPr>
          <a:xfrm>
            <a:off x="4754880" y="3950208"/>
            <a:ext cx="4023360" cy="1764792"/>
          </a:xfrm>
          <a:prstGeom prst="roundRect">
            <a:avLst>
              <a:gd name="adj" fmla="val 8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937760" y="4059936"/>
            <a:ext cx="3657600" cy="256032"/>
          </a:xfrm>
          <a:prstGeom prst="rect">
            <a:avLst/>
          </a:prstGeom>
          <a:noFill/>
        </p:spPr>
        <p:txBody>
          <a:bodyPr wrap="square" lIns="0" rIns="0" tIns="0" bIns="0" anchor="t">
            <a:spAutoFit/>
          </a:bodyPr>
          <a:lstStyle/>
          <a:p>
            <a:pPr algn="l"/>
            <a:r>
              <a:rPr sz="1100" b="1" i="0">
                <a:solidFill>
                  <a:srgbClr val="1F1F1F"/>
                </a:solidFill>
                <a:latin typeface="Calibri"/>
              </a:rPr>
              <a:t>Worked example · 40 veg meals, 3 hours</a:t>
            </a:r>
          </a:p>
        </p:txBody>
      </p:sp>
      <p:sp>
        <p:nvSpPr>
          <p:cNvPr id="74" name="TextBox 73"/>
          <p:cNvSpPr txBox="1"/>
          <p:nvPr/>
        </p:nvSpPr>
        <p:spPr>
          <a:xfrm>
            <a:off x="4937760" y="4352544"/>
            <a:ext cx="2743200" cy="868680"/>
          </a:xfrm>
          <a:prstGeom prst="rect">
            <a:avLst/>
          </a:prstGeom>
          <a:noFill/>
        </p:spPr>
        <p:txBody>
          <a:bodyPr wrap="square" lIns="0" rIns="0" tIns="0" bIns="0" anchor="t">
            <a:spAutoFit/>
          </a:bodyPr>
          <a:lstStyle/>
          <a:p>
            <a:pPr algn="l">
              <a:spcAft>
                <a:spcPts val="300"/>
              </a:spcAft>
            </a:pPr>
            <a:r>
              <a:rPr sz="1050" b="0" i="0">
                <a:solidFill>
                  <a:srgbClr val="4A4A4A"/>
                </a:solidFill>
                <a:latin typeface="Calibri"/>
              </a:rPr>
              <a:t>0.35×0.83 + 0.25×0.28 + 0.20×0.50</a:t>
            </a:r>
          </a:p>
          <a:p>
            <a:pPr algn="l">
              <a:spcAft>
                <a:spcPts val="300"/>
              </a:spcAft>
            </a:pPr>
            <a:r>
              <a:rPr sz="1050" b="0" i="0">
                <a:solidFill>
                  <a:srgbClr val="4A4A4A"/>
                </a:solidFill>
                <a:latin typeface="Calibri"/>
              </a:rPr>
              <a:t>+ 0.10×1.00 + 0.10×0.90</a:t>
            </a:r>
          </a:p>
          <a:p>
            <a:pPr algn="l">
              <a:spcAft>
                <a:spcPts val="300"/>
              </a:spcAft>
            </a:pPr>
            <a:r>
              <a:rPr sz="1000" b="0" i="1">
                <a:solidFill>
                  <a:srgbClr val="7A7A7A"/>
                </a:solidFill>
                <a:latin typeface="Calibri"/>
              </a:rPr>
              <a:t>Sneh Sadan, Dadar · 10.1 km · 30 min</a:t>
            </a:r>
          </a:p>
        </p:txBody>
      </p:sp>
      <p:sp>
        <p:nvSpPr>
          <p:cNvPr id="75" name="TextBox 74"/>
          <p:cNvSpPr txBox="1"/>
          <p:nvPr/>
        </p:nvSpPr>
        <p:spPr>
          <a:xfrm>
            <a:off x="7589520" y="4315968"/>
            <a:ext cx="1005840" cy="640080"/>
          </a:xfrm>
          <a:prstGeom prst="rect">
            <a:avLst/>
          </a:prstGeom>
          <a:noFill/>
        </p:spPr>
        <p:txBody>
          <a:bodyPr wrap="square" lIns="0" rIns="0" tIns="0" bIns="0" anchor="t">
            <a:spAutoFit/>
          </a:bodyPr>
          <a:lstStyle/>
          <a:p>
            <a:pPr algn="r"/>
            <a:r>
              <a:rPr sz="3400" b="1" i="0">
                <a:solidFill>
                  <a:srgbClr val="C00000"/>
                </a:solidFill>
                <a:latin typeface="Calibri"/>
              </a:rPr>
              <a:t>65</a:t>
            </a:r>
          </a:p>
        </p:txBody>
      </p:sp>
      <p:sp>
        <p:nvSpPr>
          <p:cNvPr id="76" name="TextBox 75"/>
          <p:cNvSpPr txBox="1"/>
          <p:nvPr/>
        </p:nvSpPr>
        <p:spPr>
          <a:xfrm>
            <a:off x="7589520" y="4901184"/>
            <a:ext cx="1005840" cy="256032"/>
          </a:xfrm>
          <a:prstGeom prst="rect">
            <a:avLst/>
          </a:prstGeom>
          <a:noFill/>
        </p:spPr>
        <p:txBody>
          <a:bodyPr wrap="square" lIns="0" rIns="0" tIns="0" bIns="0" anchor="t">
            <a:spAutoFit/>
          </a:bodyPr>
          <a:lstStyle/>
          <a:p>
            <a:pPr algn="r"/>
            <a:r>
              <a:rPr sz="1050" b="0" i="0">
                <a:solidFill>
                  <a:srgbClr val="7A7A7A"/>
                </a:solidFill>
                <a:latin typeface="Calibri"/>
              </a:rPr>
              <a:t>/ 100</a:t>
            </a:r>
          </a:p>
        </p:txBody>
      </p:sp>
      <p:sp>
        <p:nvSpPr>
          <p:cNvPr id="77" name="TextBox 76"/>
          <p:cNvSpPr txBox="1"/>
          <p:nvPr/>
        </p:nvSpPr>
        <p:spPr>
          <a:xfrm>
            <a:off x="4937760" y="5285232"/>
            <a:ext cx="3657600" cy="365760"/>
          </a:xfrm>
          <a:prstGeom prst="rect">
            <a:avLst/>
          </a:prstGeom>
          <a:noFill/>
        </p:spPr>
        <p:txBody>
          <a:bodyPr wrap="square" lIns="0" rIns="0" tIns="0" bIns="0" anchor="t">
            <a:spAutoFit/>
          </a:bodyPr>
          <a:lstStyle/>
          <a:p>
            <a:pPr algn="l"/>
            <a:r>
              <a:rPr sz="950" b="0" i="0">
                <a:solidFill>
                  <a:srgbClr val="4A4A4A"/>
                </a:solidFill>
                <a:latin typeface="Calibri"/>
              </a:rPr>
              <a:t>Prakash Old Age Home scores 0: it is veg-only with room for 25, so the filter removes it before scoring.</a:t>
            </a:r>
          </a:p>
        </p:txBody>
      </p:sp>
    </p:spTree>
    <p:extLst>
      <p:ext uri="{BB962C8B-B14F-4D97-AF65-F5344CB8AC3E}">
        <p14:creationId xmlns:p14="http://schemas.microsoft.com/office/powerpoint/2010/main" val="25628335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377440" y="109728"/>
            <a:ext cx="621792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600" b="1">
                <a:solidFill>
                  <a:srgbClr val="C00000"/>
                </a:solidFill>
                <a:latin typeface="Calibri"/>
              </a:rPr>
              <a:t>Implementation &amp; Results</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p:cNvSpPr txBox="1"/>
          <p:nvPr/>
        </p:nvSpPr>
        <p:spPr>
          <a:xfrm>
            <a:off x="457200" y="822960"/>
            <a:ext cx="8321040" cy="365760"/>
          </a:xfrm>
          <a:prstGeom prst="rect">
            <a:avLst/>
          </a:prstGeom>
          <a:noFill/>
        </p:spPr>
        <p:txBody>
          <a:bodyPr wrap="square" lIns="0" rIns="0" tIns="0" bIns="0" anchor="t">
            <a:spAutoFit/>
          </a:bodyPr>
          <a:lstStyle/>
          <a:p>
            <a:pPr algn="l"/>
            <a:r>
              <a:rPr sz="1900" b="1" i="0">
                <a:solidFill>
                  <a:srgbClr val="1F1F1F"/>
                </a:solidFill>
                <a:latin typeface="Calibri"/>
              </a:rPr>
              <a:t>Ten working pages, </a:t>
            </a:r>
            <a:r>
              <a:rPr sz="1900" b="1" i="1">
                <a:solidFill>
                  <a:srgbClr val="C00000"/>
                </a:solidFill>
                <a:latin typeface="Calibri"/>
              </a:rPr>
              <a:t>one pickup from post to plate.</a:t>
            </a:r>
          </a:p>
        </p:txBody>
      </p:sp>
      <p:sp>
        <p:nvSpPr>
          <p:cNvPr id="21" name="TextBox 20"/>
          <p:cNvSpPr txBox="1"/>
          <p:nvPr/>
        </p:nvSpPr>
        <p:spPr>
          <a:xfrm>
            <a:off x="457200" y="1207008"/>
            <a:ext cx="8321040" cy="292608"/>
          </a:xfrm>
          <a:prstGeom prst="rect">
            <a:avLst/>
          </a:prstGeom>
          <a:noFill/>
        </p:spPr>
        <p:txBody>
          <a:bodyPr wrap="square" lIns="0" rIns="0" tIns="0" bIns="0" anchor="t">
            <a:spAutoFit/>
          </a:bodyPr>
          <a:lstStyle/>
          <a:p>
            <a:pPr algn="l"/>
            <a:r>
              <a:rPr sz="1100" b="0" i="0">
                <a:solidFill>
                  <a:srgbClr val="4A4A4A"/>
                </a:solidFill>
                <a:latin typeface="Calibri"/>
              </a:rPr>
              <a:t>Donors, recipients and an admin share one live MongoDB database. Food posted on the donor page appears on the shelter's dashboard within seconds, and every status change is stored.</a:t>
            </a:r>
          </a:p>
        </p:txBody>
      </p:sp>
      <p:pic>
        <p:nvPicPr>
          <p:cNvPr id="22" name="Picture 21" descr="fs-donor.jpg"/>
          <p:cNvPicPr>
            <a:picLocks noChangeAspect="1"/>
          </p:cNvPicPr>
          <p:nvPr/>
        </p:nvPicPr>
        <p:blipFill>
          <a:blip r:embed="rId5"/>
          <a:stretch>
            <a:fillRect/>
          </a:stretch>
        </p:blipFill>
        <p:spPr>
          <a:xfrm>
            <a:off x="457200" y="1627632"/>
            <a:ext cx="2682240" cy="1847765"/>
          </a:xfrm>
          <a:prstGeom prst="rect">
            <a:avLst/>
          </a:prstGeom>
          <a:ln w="9525">
            <a:solidFill>
              <a:srgbClr val="D9D9D9"/>
            </a:solidFill>
          </a:ln>
        </p:spPr>
      </p:pic>
      <p:sp>
        <p:nvSpPr>
          <p:cNvPr id="23" name="TextBox 22"/>
          <p:cNvSpPr txBox="1"/>
          <p:nvPr/>
        </p:nvSpPr>
        <p:spPr>
          <a:xfrm>
            <a:off x="457200" y="3548549"/>
            <a:ext cx="2682240" cy="548640"/>
          </a:xfrm>
          <a:prstGeom prst="rect">
            <a:avLst/>
          </a:prstGeom>
          <a:noFill/>
        </p:spPr>
        <p:txBody>
          <a:bodyPr wrap="square" lIns="0" rIns="0" tIns="0" bIns="0" anchor="t">
            <a:spAutoFit/>
          </a:bodyPr>
          <a:lstStyle/>
          <a:p>
            <a:pPr algn="l"/>
            <a:r>
              <a:rPr sz="1150" b="1" i="0">
                <a:solidFill>
                  <a:srgbClr val="1F1F1F"/>
                </a:solidFill>
                <a:latin typeface="Calibri"/>
              </a:rPr>
              <a:t>Donor dashboard</a:t>
            </a:r>
          </a:p>
          <a:p>
            <a:pPr algn="l"/>
            <a:r>
              <a:rPr sz="900" b="0" i="0">
                <a:solidFill>
                  <a:srgbClr val="4A4A4A"/>
                </a:solidFill>
                <a:latin typeface="Calibri"/>
              </a:rPr>
              <a:t>Ranked shelters, live countdown, handover code</a:t>
            </a:r>
          </a:p>
        </p:txBody>
      </p:sp>
      <p:pic>
        <p:nvPicPr>
          <p:cNvPr id="24" name="Picture 23" descr="fs-recipient.jpg"/>
          <p:cNvPicPr>
            <a:picLocks noChangeAspect="1"/>
          </p:cNvPicPr>
          <p:nvPr/>
        </p:nvPicPr>
        <p:blipFill>
          <a:blip r:embed="rId6"/>
          <a:stretch>
            <a:fillRect/>
          </a:stretch>
        </p:blipFill>
        <p:spPr>
          <a:xfrm>
            <a:off x="3276599" y="1627632"/>
            <a:ext cx="2682240" cy="1847765"/>
          </a:xfrm>
          <a:prstGeom prst="rect">
            <a:avLst/>
          </a:prstGeom>
          <a:ln w="9525">
            <a:solidFill>
              <a:srgbClr val="D9D9D9"/>
            </a:solidFill>
          </a:ln>
        </p:spPr>
      </p:pic>
      <p:sp>
        <p:nvSpPr>
          <p:cNvPr id="25" name="TextBox 24"/>
          <p:cNvSpPr txBox="1"/>
          <p:nvPr/>
        </p:nvSpPr>
        <p:spPr>
          <a:xfrm>
            <a:off x="3276599" y="3548549"/>
            <a:ext cx="2682240" cy="548640"/>
          </a:xfrm>
          <a:prstGeom prst="rect">
            <a:avLst/>
          </a:prstGeom>
          <a:noFill/>
        </p:spPr>
        <p:txBody>
          <a:bodyPr wrap="square" lIns="0" rIns="0" tIns="0" bIns="0" anchor="t">
            <a:spAutoFit/>
          </a:bodyPr>
          <a:lstStyle/>
          <a:p>
            <a:pPr algn="l"/>
            <a:r>
              <a:rPr sz="1150" b="1" i="0">
                <a:solidFill>
                  <a:srgbClr val="1F1F1F"/>
                </a:solidFill>
                <a:latin typeface="Calibri"/>
              </a:rPr>
              <a:t>Recipient dashboard</a:t>
            </a:r>
          </a:p>
          <a:p>
            <a:pPr algn="l"/>
            <a:r>
              <a:rPr sz="900" b="0" i="0">
                <a:solidFill>
                  <a:srgbClr val="4A4A4A"/>
                </a:solidFill>
                <a:latin typeface="Calibri"/>
              </a:rPr>
              <a:t>Reply window, score breakdown, accept or pass</a:t>
            </a:r>
          </a:p>
        </p:txBody>
      </p:sp>
      <p:pic>
        <p:nvPicPr>
          <p:cNvPr id="26" name="Picture 25" descr="fs-impact.jpg"/>
          <p:cNvPicPr>
            <a:picLocks noChangeAspect="1"/>
          </p:cNvPicPr>
          <p:nvPr/>
        </p:nvPicPr>
        <p:blipFill>
          <a:blip r:embed="rId7"/>
          <a:stretch>
            <a:fillRect/>
          </a:stretch>
        </p:blipFill>
        <p:spPr>
          <a:xfrm>
            <a:off x="6095999" y="1627632"/>
            <a:ext cx="2682240" cy="1847765"/>
          </a:xfrm>
          <a:prstGeom prst="rect">
            <a:avLst/>
          </a:prstGeom>
          <a:ln w="9525">
            <a:solidFill>
              <a:srgbClr val="D9D9D9"/>
            </a:solidFill>
          </a:ln>
        </p:spPr>
      </p:pic>
      <p:sp>
        <p:nvSpPr>
          <p:cNvPr id="27" name="TextBox 26"/>
          <p:cNvSpPr txBox="1"/>
          <p:nvPr/>
        </p:nvSpPr>
        <p:spPr>
          <a:xfrm>
            <a:off x="6095999" y="3548549"/>
            <a:ext cx="2682240" cy="548640"/>
          </a:xfrm>
          <a:prstGeom prst="rect">
            <a:avLst/>
          </a:prstGeom>
          <a:noFill/>
        </p:spPr>
        <p:txBody>
          <a:bodyPr wrap="square" lIns="0" rIns="0" tIns="0" bIns="0" anchor="t">
            <a:spAutoFit/>
          </a:bodyPr>
          <a:lstStyle/>
          <a:p>
            <a:pPr algn="l"/>
            <a:r>
              <a:rPr sz="1150" b="1" i="0">
                <a:solidFill>
                  <a:srgbClr val="1F1F1F"/>
                </a:solidFill>
                <a:latin typeface="Calibri"/>
              </a:rPr>
              <a:t>Impact dashboard</a:t>
            </a:r>
          </a:p>
          <a:p>
            <a:pPr algn="l"/>
            <a:r>
              <a:rPr sz="900" b="0" i="0">
                <a:solidFill>
                  <a:srgbClr val="4A4A4A"/>
                </a:solidFill>
                <a:latin typeface="Calibri"/>
              </a:rPr>
              <a:t>MongoDB aggregation: meals, food types, top givers</a:t>
            </a:r>
          </a:p>
        </p:txBody>
      </p:sp>
      <p:sp>
        <p:nvSpPr>
          <p:cNvPr id="28" name="TextBox 27"/>
          <p:cNvSpPr txBox="1"/>
          <p:nvPr/>
        </p:nvSpPr>
        <p:spPr>
          <a:xfrm>
            <a:off x="457200" y="4315968"/>
            <a:ext cx="5486400" cy="228600"/>
          </a:xfrm>
          <a:prstGeom prst="rect">
            <a:avLst/>
          </a:prstGeom>
          <a:noFill/>
        </p:spPr>
        <p:txBody>
          <a:bodyPr wrap="square" lIns="0" rIns="0" tIns="0" bIns="0" anchor="t">
            <a:spAutoFit/>
          </a:bodyPr>
          <a:lstStyle/>
          <a:p>
            <a:pPr algn="l"/>
            <a:r>
              <a:rPr sz="1000" b="1" i="0">
                <a:solidFill>
                  <a:srgbClr val="C00000"/>
                </a:solidFill>
                <a:latin typeface="Calibri"/>
              </a:rPr>
              <a:t>WHAT WORKS TODAY</a:t>
            </a:r>
          </a:p>
        </p:txBody>
      </p:sp>
      <p:sp>
        <p:nvSpPr>
          <p:cNvPr id="29" name="Rounded Rectangle 28"/>
          <p:cNvSpPr/>
          <p:nvPr/>
        </p:nvSpPr>
        <p:spPr>
          <a:xfrm>
            <a:off x="457200" y="4535424"/>
            <a:ext cx="2320747"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535424"/>
            <a:ext cx="2320747" cy="274320"/>
          </a:xfrm>
          <a:prstGeom prst="rect">
            <a:avLst/>
          </a:prstGeom>
          <a:noFill/>
        </p:spPr>
        <p:txBody>
          <a:bodyPr wrap="square" lIns="0" rIns="0" tIns="0" bIns="0" anchor="ctr">
            <a:spAutoFit/>
          </a:bodyPr>
          <a:lstStyle/>
          <a:p>
            <a:pPr algn="ctr"/>
            <a:r>
              <a:rPr sz="900" b="0" i="0">
                <a:solidFill>
                  <a:srgbClr val="1F1F1F"/>
                </a:solidFill>
                <a:latin typeface="Calibri"/>
              </a:rPr>
              <a:t>Separate donor / recipient sign-up</a:t>
            </a:r>
          </a:p>
        </p:txBody>
      </p:sp>
      <p:sp>
        <p:nvSpPr>
          <p:cNvPr id="31" name="Rounded Rectangle 30"/>
          <p:cNvSpPr/>
          <p:nvPr/>
        </p:nvSpPr>
        <p:spPr>
          <a:xfrm>
            <a:off x="2851099" y="4535424"/>
            <a:ext cx="1524304"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51099" y="4535424"/>
            <a:ext cx="1524304" cy="274320"/>
          </a:xfrm>
          <a:prstGeom prst="rect">
            <a:avLst/>
          </a:prstGeom>
          <a:noFill/>
        </p:spPr>
        <p:txBody>
          <a:bodyPr wrap="square" lIns="0" rIns="0" tIns="0" bIns="0" anchor="ctr">
            <a:spAutoFit/>
          </a:bodyPr>
          <a:lstStyle/>
          <a:p>
            <a:pPr algn="ctr"/>
            <a:r>
              <a:rPr sz="900" b="0" i="0">
                <a:solidFill>
                  <a:srgbClr val="1F1F1F"/>
                </a:solidFill>
                <a:latin typeface="Calibri"/>
              </a:rPr>
              <a:t>JWT login for 3 roles</a:t>
            </a:r>
          </a:p>
        </p:txBody>
      </p:sp>
      <p:sp>
        <p:nvSpPr>
          <p:cNvPr id="33" name="Rounded Rectangle 32"/>
          <p:cNvSpPr/>
          <p:nvPr/>
        </p:nvSpPr>
        <p:spPr>
          <a:xfrm>
            <a:off x="4448556" y="4535424"/>
            <a:ext cx="1769364"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48556" y="4535424"/>
            <a:ext cx="1769364" cy="274320"/>
          </a:xfrm>
          <a:prstGeom prst="rect">
            <a:avLst/>
          </a:prstGeom>
          <a:noFill/>
        </p:spPr>
        <p:txBody>
          <a:bodyPr wrap="square" lIns="0" rIns="0" tIns="0" bIns="0" anchor="ctr">
            <a:spAutoFit/>
          </a:bodyPr>
          <a:lstStyle/>
          <a:p>
            <a:pPr algn="ctr"/>
            <a:r>
              <a:rPr sz="900" b="0" i="0">
                <a:solidFill>
                  <a:srgbClr val="1F1F1F"/>
                </a:solidFill>
                <a:latin typeface="Calibri"/>
              </a:rPr>
              <a:t>Ranked matching + cascade</a:t>
            </a:r>
          </a:p>
        </p:txBody>
      </p:sp>
      <p:sp>
        <p:nvSpPr>
          <p:cNvPr id="35" name="Rounded Rectangle 34"/>
          <p:cNvSpPr/>
          <p:nvPr/>
        </p:nvSpPr>
        <p:spPr>
          <a:xfrm>
            <a:off x="6291072" y="4535424"/>
            <a:ext cx="1891893"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4535424"/>
            <a:ext cx="1891893" cy="274320"/>
          </a:xfrm>
          <a:prstGeom prst="rect">
            <a:avLst/>
          </a:prstGeom>
          <a:noFill/>
        </p:spPr>
        <p:txBody>
          <a:bodyPr wrap="square" lIns="0" rIns="0" tIns="0" bIns="0" anchor="ctr">
            <a:spAutoFit/>
          </a:bodyPr>
          <a:lstStyle/>
          <a:p>
            <a:pPr algn="ctr"/>
            <a:r>
              <a:rPr sz="900" b="0" i="0">
                <a:solidFill>
                  <a:srgbClr val="1F1F1F"/>
                </a:solidFill>
                <a:latin typeface="Calibri"/>
              </a:rPr>
              <a:t>Handover code &amp; pickup slip</a:t>
            </a:r>
          </a:p>
        </p:txBody>
      </p:sp>
      <p:sp>
        <p:nvSpPr>
          <p:cNvPr id="37" name="Rounded Rectangle 36"/>
          <p:cNvSpPr/>
          <p:nvPr/>
        </p:nvSpPr>
        <p:spPr>
          <a:xfrm>
            <a:off x="457200" y="4882896"/>
            <a:ext cx="1340510"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4882896"/>
            <a:ext cx="1340510" cy="274320"/>
          </a:xfrm>
          <a:prstGeom prst="rect">
            <a:avLst/>
          </a:prstGeom>
          <a:noFill/>
        </p:spPr>
        <p:txBody>
          <a:bodyPr wrap="square" lIns="0" rIns="0" tIns="0" bIns="0" anchor="ctr">
            <a:spAutoFit/>
          </a:bodyPr>
          <a:lstStyle/>
          <a:p>
            <a:pPr algn="ctr"/>
            <a:r>
              <a:rPr sz="900" b="0" i="0">
                <a:solidFill>
                  <a:srgbClr val="1F1F1F"/>
                </a:solidFill>
                <a:latin typeface="Calibri"/>
              </a:rPr>
              <a:t>Admin verification</a:t>
            </a:r>
          </a:p>
        </p:txBody>
      </p:sp>
      <p:sp>
        <p:nvSpPr>
          <p:cNvPr id="39" name="Rounded Rectangle 38"/>
          <p:cNvSpPr/>
          <p:nvPr/>
        </p:nvSpPr>
        <p:spPr>
          <a:xfrm>
            <a:off x="1870862" y="4882896"/>
            <a:ext cx="1156716"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70862" y="4882896"/>
            <a:ext cx="1156716" cy="274320"/>
          </a:xfrm>
          <a:prstGeom prst="rect">
            <a:avLst/>
          </a:prstGeom>
          <a:noFill/>
        </p:spPr>
        <p:txBody>
          <a:bodyPr wrap="square" lIns="0" rIns="0" tIns="0" bIns="0" anchor="ctr">
            <a:spAutoFit/>
          </a:bodyPr>
          <a:lstStyle/>
          <a:p>
            <a:pPr algn="ctr"/>
            <a:r>
              <a:rPr sz="900" b="0" i="0">
                <a:solidFill>
                  <a:srgbClr val="1F1F1F"/>
                </a:solidFill>
                <a:latin typeface="Calibri"/>
              </a:rPr>
              <a:t>Two-way ratings</a:t>
            </a:r>
          </a:p>
        </p:txBody>
      </p:sp>
      <p:sp>
        <p:nvSpPr>
          <p:cNvPr id="41" name="Rounded Rectangle 40"/>
          <p:cNvSpPr/>
          <p:nvPr/>
        </p:nvSpPr>
        <p:spPr>
          <a:xfrm>
            <a:off x="3100730" y="4882896"/>
            <a:ext cx="1340510"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100730" y="4882896"/>
            <a:ext cx="1340510" cy="274320"/>
          </a:xfrm>
          <a:prstGeom prst="rect">
            <a:avLst/>
          </a:prstGeom>
          <a:noFill/>
        </p:spPr>
        <p:txBody>
          <a:bodyPr wrap="square" lIns="0" rIns="0" tIns="0" bIns="0" anchor="ctr">
            <a:spAutoFit/>
          </a:bodyPr>
          <a:lstStyle/>
          <a:p>
            <a:pPr algn="ctr"/>
            <a:r>
              <a:rPr sz="900" b="0" i="0">
                <a:solidFill>
                  <a:srgbClr val="1F1F1F"/>
                </a:solidFill>
                <a:latin typeface="Calibri"/>
              </a:rPr>
              <a:t>Surplus prediction</a:t>
            </a:r>
          </a:p>
        </p:txBody>
      </p:sp>
      <p:sp>
        <p:nvSpPr>
          <p:cNvPr id="43" name="Rounded Rectangle 42"/>
          <p:cNvSpPr/>
          <p:nvPr/>
        </p:nvSpPr>
        <p:spPr>
          <a:xfrm>
            <a:off x="4514392" y="4882896"/>
            <a:ext cx="1340510" cy="274320"/>
          </a:xfrm>
          <a:prstGeom prst="roundRect">
            <a:avLst>
              <a:gd name="adj" fmla="val 40000"/>
            </a:avLst>
          </a:prstGeom>
          <a:solidFill>
            <a:srgbClr val="ECF4EE"/>
          </a:solidFill>
          <a:ln w="12700">
            <a:solidFill>
              <a:srgbClr val="C8E3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14392" y="4882896"/>
            <a:ext cx="1340510" cy="274320"/>
          </a:xfrm>
          <a:prstGeom prst="rect">
            <a:avLst/>
          </a:prstGeom>
          <a:noFill/>
        </p:spPr>
        <p:txBody>
          <a:bodyPr wrap="square" lIns="0" rIns="0" tIns="0" bIns="0" anchor="ctr">
            <a:spAutoFit/>
          </a:bodyPr>
          <a:lstStyle/>
          <a:p>
            <a:pPr algn="ctr"/>
            <a:r>
              <a:rPr sz="900" b="0" i="0">
                <a:solidFill>
                  <a:srgbClr val="1F1F1F"/>
                </a:solidFill>
                <a:latin typeface="Calibri"/>
              </a:rPr>
              <a:t>Live impact charts</a:t>
            </a:r>
          </a:p>
        </p:txBody>
      </p:sp>
      <p:sp>
        <p:nvSpPr>
          <p:cNvPr id="45" name="Rounded Rectangle 44"/>
          <p:cNvSpPr/>
          <p:nvPr/>
        </p:nvSpPr>
        <p:spPr>
          <a:xfrm>
            <a:off x="457200" y="5285232"/>
            <a:ext cx="8321040" cy="438912"/>
          </a:xfrm>
          <a:prstGeom prst="roundRect">
            <a:avLst>
              <a:gd name="adj" fmla="val 8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5376672"/>
            <a:ext cx="2011680" cy="274320"/>
          </a:xfrm>
          <a:prstGeom prst="rect">
            <a:avLst/>
          </a:prstGeom>
          <a:noFill/>
        </p:spPr>
        <p:txBody>
          <a:bodyPr wrap="square" lIns="0" rIns="0" tIns="0" bIns="0" anchor="t">
            <a:spAutoFit/>
          </a:bodyPr>
          <a:lstStyle/>
          <a:p>
            <a:pPr algn="l"/>
            <a:r>
              <a:rPr sz="1300" b="1" i="0">
                <a:solidFill>
                  <a:srgbClr val="C00000"/>
                </a:solidFill>
                <a:latin typeface="Calibri"/>
              </a:rPr>
              <a:t>100  </a:t>
            </a:r>
            <a:r>
              <a:rPr sz="950" b="0" i="0">
                <a:solidFill>
                  <a:srgbClr val="4A4A4A"/>
                </a:solidFill>
                <a:latin typeface="Calibri"/>
              </a:rPr>
              <a:t>automated tests pass</a:t>
            </a:r>
          </a:p>
        </p:txBody>
      </p:sp>
      <p:sp>
        <p:nvSpPr>
          <p:cNvPr id="47" name="TextBox 46"/>
          <p:cNvSpPr txBox="1"/>
          <p:nvPr/>
        </p:nvSpPr>
        <p:spPr>
          <a:xfrm>
            <a:off x="2715768" y="5376672"/>
            <a:ext cx="2011680" cy="274320"/>
          </a:xfrm>
          <a:prstGeom prst="rect">
            <a:avLst/>
          </a:prstGeom>
          <a:noFill/>
        </p:spPr>
        <p:txBody>
          <a:bodyPr wrap="square" lIns="0" rIns="0" tIns="0" bIns="0" anchor="t">
            <a:spAutoFit/>
          </a:bodyPr>
          <a:lstStyle/>
          <a:p>
            <a:pPr algn="l"/>
            <a:r>
              <a:rPr sz="1300" b="1" i="0">
                <a:solidFill>
                  <a:srgbClr val="C00000"/>
                </a:solidFill>
                <a:latin typeface="Calibri"/>
              </a:rPr>
              <a:t>10  </a:t>
            </a:r>
            <a:r>
              <a:rPr sz="950" b="0" i="0">
                <a:solidFill>
                  <a:srgbClr val="4A4A4A"/>
                </a:solidFill>
                <a:latin typeface="Calibri"/>
              </a:rPr>
              <a:t>pages</a:t>
            </a:r>
          </a:p>
        </p:txBody>
      </p:sp>
      <p:sp>
        <p:nvSpPr>
          <p:cNvPr id="48" name="TextBox 47"/>
          <p:cNvSpPr txBox="1"/>
          <p:nvPr/>
        </p:nvSpPr>
        <p:spPr>
          <a:xfrm>
            <a:off x="4773168" y="5376672"/>
            <a:ext cx="2011680" cy="274320"/>
          </a:xfrm>
          <a:prstGeom prst="rect">
            <a:avLst/>
          </a:prstGeom>
          <a:noFill/>
        </p:spPr>
        <p:txBody>
          <a:bodyPr wrap="square" lIns="0" rIns="0" tIns="0" bIns="0" anchor="t">
            <a:spAutoFit/>
          </a:bodyPr>
          <a:lstStyle/>
          <a:p>
            <a:pPr algn="l"/>
            <a:r>
              <a:rPr sz="1300" b="1" i="0">
                <a:solidFill>
                  <a:srgbClr val="C00000"/>
                </a:solidFill>
                <a:latin typeface="Calibri"/>
              </a:rPr>
              <a:t>~1,300  </a:t>
            </a:r>
            <a:r>
              <a:rPr sz="950" b="0" i="0">
                <a:solidFill>
                  <a:srgbClr val="4A4A4A"/>
                </a:solidFill>
                <a:latin typeface="Calibri"/>
              </a:rPr>
              <a:t>meals in the demo database</a:t>
            </a:r>
          </a:p>
        </p:txBody>
      </p:sp>
      <p:sp>
        <p:nvSpPr>
          <p:cNvPr id="49" name="TextBox 48"/>
          <p:cNvSpPr txBox="1"/>
          <p:nvPr/>
        </p:nvSpPr>
        <p:spPr>
          <a:xfrm>
            <a:off x="6830568" y="5376672"/>
            <a:ext cx="2011680" cy="274320"/>
          </a:xfrm>
          <a:prstGeom prst="rect">
            <a:avLst/>
          </a:prstGeom>
          <a:noFill/>
        </p:spPr>
        <p:txBody>
          <a:bodyPr wrap="square" lIns="0" rIns="0" tIns="0" bIns="0" anchor="t">
            <a:spAutoFit/>
          </a:bodyPr>
          <a:lstStyle/>
          <a:p>
            <a:pPr algn="l"/>
            <a:r>
              <a:rPr sz="1300" b="1" i="0">
                <a:solidFill>
                  <a:srgbClr val="C00000"/>
                </a:solidFill>
                <a:latin typeface="Calibri"/>
              </a:rPr>
              <a:t>91%  </a:t>
            </a:r>
            <a:r>
              <a:rPr sz="950" b="0" i="0">
                <a:solidFill>
                  <a:srgbClr val="4A4A4A"/>
                </a:solidFill>
                <a:latin typeface="Calibri"/>
              </a:rPr>
              <a:t>collection rate</a:t>
            </a:r>
          </a:p>
        </p:txBody>
      </p:sp>
      <p:sp>
        <p:nvSpPr>
          <p:cNvPr id="50" name="TextBox 49"/>
          <p:cNvSpPr txBox="1"/>
          <p:nvPr/>
        </p:nvSpPr>
        <p:spPr>
          <a:xfrm>
            <a:off x="6309360" y="4315968"/>
            <a:ext cx="2468880" cy="228600"/>
          </a:xfrm>
          <a:prstGeom prst="rect">
            <a:avLst/>
          </a:prstGeom>
          <a:noFill/>
        </p:spPr>
        <p:txBody>
          <a:bodyPr wrap="square" lIns="0" rIns="0" tIns="0" bIns="0" anchor="t">
            <a:spAutoFit/>
          </a:bodyPr>
          <a:lstStyle/>
          <a:p>
            <a:pPr algn="r"/>
            <a:r>
              <a:rPr sz="1000" b="1" i="0">
                <a:solidFill>
                  <a:srgbClr val="C00000"/>
                </a:solidFill>
                <a:latin typeface="Calibri"/>
              </a:rPr>
              <a:t>Next: deploy + SMS alerts</a:t>
            </a:r>
          </a:p>
        </p:txBody>
      </p:sp>
    </p:spTree>
    <p:extLst>
      <p:ext uri="{BB962C8B-B14F-4D97-AF65-F5344CB8AC3E}">
        <p14:creationId xmlns:p14="http://schemas.microsoft.com/office/powerpoint/2010/main" val="25628335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3670</TotalTime>
  <Words>2</Words>
  <Application>Microsoft Office PowerPoint</Application>
  <PresentationFormat>On-screen Show (4:3)</PresentationFormat>
  <Paragraphs>2</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Marcellus</vt:lpstr>
      <vt:lpstr>Times New Roman</vt:lpstr>
      <vt:lpstr>Wingdings</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Applied Mathematics-I</dc:title>
  <dc:creator>Lenovo</dc:creator>
  <cp:lastModifiedBy>Rohan Surana</cp:lastModifiedBy>
  <cp:revision>201</cp:revision>
  <dcterms:created xsi:type="dcterms:W3CDTF">2006-08-16T00:00:00Z</dcterms:created>
  <dcterms:modified xsi:type="dcterms:W3CDTF">2026-09-29T08:51:57Z</dcterms:modified>
</cp:coreProperties>
</file>